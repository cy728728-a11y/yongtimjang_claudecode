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4" r:id="rId4"/>
    <p:sldId id="258" r:id="rId5"/>
    <p:sldId id="259" r:id="rId6"/>
    <p:sldId id="283" r:id="rId7"/>
    <p:sldId id="280" r:id="rId8"/>
    <p:sldId id="287" r:id="rId9"/>
    <p:sldId id="286" r:id="rId10"/>
    <p:sldId id="296" r:id="rId11"/>
    <p:sldId id="292" r:id="rId12"/>
    <p:sldId id="297" r:id="rId13"/>
    <p:sldId id="295" r:id="rId14"/>
    <p:sldId id="262" r:id="rId15"/>
    <p:sldId id="300" r:id="rId16"/>
    <p:sldId id="301" r:id="rId17"/>
    <p:sldId id="302" r:id="rId18"/>
    <p:sldId id="309" r:id="rId19"/>
    <p:sldId id="31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7C0C8-7DE3-48A2-B9A7-D2D06C6D6F39}" v="1" dt="2026-06-19T05:54:59.872"/>
    <p1510:client id="{7C0CA53F-1C45-4A99-856A-0CAF1B68022D}" v="1" dt="2026-06-19T12:52:1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14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알려드리는 필터 기준은 절대적인 기준은 아님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원리를 이해해야 하는데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해당 키워드로 현재 등록되어 있는 상품수가 작을수록</a:t>
            </a:r>
            <a:endParaRPr lang="en-US" altLang="ko-KR" dirty="0"/>
          </a:p>
          <a:p>
            <a:r>
              <a:rPr lang="ko-KR" altLang="en-US" dirty="0"/>
              <a:t>상위 노출에 유리하고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해외배송 비율이 높을수록 국내 상품이 적어지니까 해외 상품들과 경쟁할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 노출을 늘리고 싶으면 </a:t>
            </a:r>
            <a:r>
              <a:rPr lang="ko-KR" altLang="en-US" dirty="0" err="1"/>
              <a:t>검색량을</a:t>
            </a:r>
            <a:r>
              <a:rPr lang="ko-KR" altLang="en-US" dirty="0"/>
              <a:t> </a:t>
            </a:r>
            <a:r>
              <a:rPr lang="en-US" altLang="ko-KR" dirty="0"/>
              <a:t>100~200 </a:t>
            </a:r>
            <a:r>
              <a:rPr lang="ko-KR" altLang="en-US" dirty="0"/>
              <a:t>이상 등으로 올려보는 등으로</a:t>
            </a:r>
            <a:r>
              <a:rPr lang="en-US" altLang="ko-KR" dirty="0"/>
              <a:t> </a:t>
            </a:r>
            <a:r>
              <a:rPr lang="ko-KR" altLang="en-US" dirty="0"/>
              <a:t>조정하면서</a:t>
            </a:r>
            <a:endParaRPr lang="en-US" altLang="ko-KR" dirty="0"/>
          </a:p>
          <a:p>
            <a:r>
              <a:rPr lang="ko-KR" altLang="en-US" dirty="0"/>
              <a:t>좋은 상품을 찾아보면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네이버 가격비교에서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화장대겸컴퓨터책상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검색해보면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페이지 </a:t>
            </a:r>
            <a:r>
              <a:rPr lang="en-US" altLang="ko-KR" dirty="0"/>
              <a:t>40</a:t>
            </a:r>
            <a:r>
              <a:rPr lang="ko-KR" altLang="en-US" dirty="0"/>
              <a:t>개 중 </a:t>
            </a:r>
            <a:r>
              <a:rPr lang="en-US" altLang="ko-KR" dirty="0"/>
              <a:t>22</a:t>
            </a:r>
            <a:r>
              <a:rPr lang="ko-KR" altLang="en-US" dirty="0"/>
              <a:t>개가 해외 상품임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진짜 이 키워드와 동일한 상품을 </a:t>
            </a:r>
            <a:r>
              <a:rPr lang="ko-KR" altLang="en-US" dirty="0" err="1"/>
              <a:t>파는게</a:t>
            </a:r>
            <a:r>
              <a:rPr lang="ko-KR" altLang="en-US" dirty="0"/>
              <a:t> </a:t>
            </a:r>
            <a:r>
              <a:rPr lang="ko-KR" altLang="en-US" dirty="0" err="1"/>
              <a:t>중요한게</a:t>
            </a:r>
            <a:r>
              <a:rPr lang="ko-KR" altLang="en-US" dirty="0"/>
              <a:t> 아니고</a:t>
            </a:r>
            <a:endParaRPr lang="en-US" altLang="ko-KR" dirty="0"/>
          </a:p>
          <a:p>
            <a:r>
              <a:rPr lang="ko-KR" altLang="en-US" dirty="0"/>
              <a:t>키워드와 </a:t>
            </a:r>
            <a:r>
              <a:rPr lang="ko-KR" altLang="en-US" dirty="0" err="1"/>
              <a:t>쪼금</a:t>
            </a:r>
            <a:r>
              <a:rPr lang="ko-KR" altLang="en-US" dirty="0"/>
              <a:t> 다르더라도</a:t>
            </a:r>
            <a:r>
              <a:rPr lang="en-US" altLang="ko-KR" dirty="0"/>
              <a:t>, </a:t>
            </a:r>
            <a:r>
              <a:rPr lang="ko-KR" altLang="en-US" dirty="0"/>
              <a:t>이 키워드로 검색했을 때</a:t>
            </a:r>
            <a:r>
              <a:rPr lang="en-US" altLang="ko-KR" dirty="0"/>
              <a:t>, </a:t>
            </a:r>
            <a:r>
              <a:rPr lang="ko-KR" altLang="en-US" dirty="0"/>
              <a:t>내 상품이 뜨게 </a:t>
            </a:r>
            <a:r>
              <a:rPr lang="ko-KR" altLang="en-US" dirty="0" err="1"/>
              <a:t>하는게</a:t>
            </a:r>
            <a:r>
              <a:rPr lang="ko-KR" altLang="en-US" dirty="0"/>
              <a:t> 중요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53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알려드리는 필터 기준은 절대적인 기준은 아님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원리를 이해해야 하는데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해당 키워드로 현재 등록되어 있는 상품수가 작을수록</a:t>
            </a:r>
            <a:endParaRPr lang="en-US" altLang="ko-KR" dirty="0"/>
          </a:p>
          <a:p>
            <a:r>
              <a:rPr lang="ko-KR" altLang="en-US" dirty="0"/>
              <a:t>상위 노출에 유리하고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해외배송 비율이 높을수록 국내 상품이 적어지니까 해외 상품들과 경쟁할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 노출을 늘리고 싶으면 </a:t>
            </a:r>
            <a:r>
              <a:rPr lang="ko-KR" altLang="en-US" dirty="0" err="1"/>
              <a:t>검색량을</a:t>
            </a:r>
            <a:r>
              <a:rPr lang="ko-KR" altLang="en-US" dirty="0"/>
              <a:t> </a:t>
            </a:r>
            <a:r>
              <a:rPr lang="en-US" altLang="ko-KR" dirty="0"/>
              <a:t>100~200 </a:t>
            </a:r>
            <a:r>
              <a:rPr lang="ko-KR" altLang="en-US" dirty="0"/>
              <a:t>이상 등으로 올려보는 등으로</a:t>
            </a:r>
            <a:r>
              <a:rPr lang="en-US" altLang="ko-KR" dirty="0"/>
              <a:t> </a:t>
            </a:r>
            <a:r>
              <a:rPr lang="ko-KR" altLang="en-US" dirty="0"/>
              <a:t>조정하면서</a:t>
            </a:r>
            <a:endParaRPr lang="en-US" altLang="ko-KR" dirty="0"/>
          </a:p>
          <a:p>
            <a:r>
              <a:rPr lang="ko-KR" altLang="en-US" dirty="0"/>
              <a:t>좋은 상품을 찾아보면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네이버 가격비교에서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화장대겸컴퓨터책상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검색해보면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페이지 </a:t>
            </a:r>
            <a:r>
              <a:rPr lang="en-US" altLang="ko-KR" dirty="0"/>
              <a:t>40</a:t>
            </a:r>
            <a:r>
              <a:rPr lang="ko-KR" altLang="en-US" dirty="0"/>
              <a:t>개 중 </a:t>
            </a:r>
            <a:r>
              <a:rPr lang="en-US" altLang="ko-KR" dirty="0"/>
              <a:t>22</a:t>
            </a:r>
            <a:r>
              <a:rPr lang="ko-KR" altLang="en-US" dirty="0"/>
              <a:t>개가 해외 상품임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진짜 이 키워드와 동일한 상품을 </a:t>
            </a:r>
            <a:r>
              <a:rPr lang="ko-KR" altLang="en-US" dirty="0" err="1"/>
              <a:t>파는게</a:t>
            </a:r>
            <a:r>
              <a:rPr lang="ko-KR" altLang="en-US" dirty="0"/>
              <a:t> </a:t>
            </a:r>
            <a:r>
              <a:rPr lang="ko-KR" altLang="en-US" dirty="0" err="1"/>
              <a:t>중요한게</a:t>
            </a:r>
            <a:r>
              <a:rPr lang="ko-KR" altLang="en-US" dirty="0"/>
              <a:t> 아니고</a:t>
            </a:r>
            <a:endParaRPr lang="en-US" altLang="ko-KR" dirty="0"/>
          </a:p>
          <a:p>
            <a:r>
              <a:rPr lang="ko-KR" altLang="en-US" dirty="0"/>
              <a:t>키워드와 </a:t>
            </a:r>
            <a:r>
              <a:rPr lang="ko-KR" altLang="en-US" dirty="0" err="1"/>
              <a:t>쪼금</a:t>
            </a:r>
            <a:r>
              <a:rPr lang="ko-KR" altLang="en-US" dirty="0"/>
              <a:t> 다르더라도</a:t>
            </a:r>
            <a:r>
              <a:rPr lang="en-US" altLang="ko-KR" dirty="0"/>
              <a:t>, </a:t>
            </a:r>
            <a:r>
              <a:rPr lang="ko-KR" altLang="en-US" dirty="0"/>
              <a:t>이 키워드로 검색했을 때</a:t>
            </a:r>
            <a:r>
              <a:rPr lang="en-US" altLang="ko-KR" dirty="0"/>
              <a:t>, </a:t>
            </a:r>
            <a:r>
              <a:rPr lang="ko-KR" altLang="en-US" dirty="0"/>
              <a:t>내 상품이 뜨게 </a:t>
            </a:r>
            <a:r>
              <a:rPr lang="ko-KR" altLang="en-US" dirty="0" err="1"/>
              <a:t>하는게</a:t>
            </a:r>
            <a:r>
              <a:rPr lang="ko-KR" altLang="en-US" dirty="0"/>
              <a:t> 중요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69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68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937760" cy="4937760"/>
          </a:xfrm>
          <a:prstGeom prst="ellipse">
            <a:avLst/>
          </a:prstGeom>
          <a:solidFill>
            <a:srgbClr val="A33C4E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A33C4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· 2주차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노출에서 전환으로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팔리기 시작한 상품을 '효자상품'으로 키운다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주, 매출을 '한 번'에서 '꾸준히'로 바꿉니다.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한눈에 보기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5756" y="2148840"/>
            <a:ext cx="749808" cy="749808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95756" y="2148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3008376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복습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465576"/>
            <a:ext cx="175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점검 &amp;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확인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808" y="2404872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39796" y="2148840"/>
            <a:ext cx="749808" cy="749808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939796" y="2148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438400" y="3008376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상품 관리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38400" y="3465576"/>
            <a:ext cx="175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효자상품화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재정비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848" y="2404872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83836" y="2148840"/>
            <a:ext cx="749808" cy="749808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4783836" y="2148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282440" y="3008376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자동추적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82440" y="3465576"/>
            <a:ext cx="175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404872"/>
            <a:ext cx="237744" cy="23774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627876" y="2148840"/>
            <a:ext cx="749808" cy="749808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6627876" y="2148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6126480" y="3008376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썸네일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26480" y="3465576"/>
            <a:ext cx="175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방법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 ↑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928" y="2404872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471916" y="2148840"/>
            <a:ext cx="749808" cy="749808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8471916" y="2148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7970520" y="3008376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상세페이지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970520" y="3465576"/>
            <a:ext cx="175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 → 적용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심화</a:t>
            </a:r>
            <a:endParaRPr lang="en-US" sz="10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968" y="2404872"/>
            <a:ext cx="237744" cy="237744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0315956" y="2148840"/>
            <a:ext cx="749808" cy="749808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/>
          <p:nvPr/>
        </p:nvSpPr>
        <p:spPr>
          <a:xfrm>
            <a:off x="10315956" y="2148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100" dirty="0"/>
          </a:p>
        </p:txBody>
      </p:sp>
      <p:sp>
        <p:nvSpPr>
          <p:cNvPr id="30" name="Text 23"/>
          <p:cNvSpPr/>
          <p:nvPr/>
        </p:nvSpPr>
        <p:spPr>
          <a:xfrm>
            <a:off x="9814560" y="3008376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옵션 설계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814560" y="3465576"/>
            <a:ext cx="175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저가 유입 +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고마진 전환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5838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508760" y="5074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목표   </a:t>
            </a: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팔리기 시작한 상품을 효자상품으로 키우고, 전환율과 객단가를 함께 끌어올린다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학습목표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343400" cy="4572000"/>
          </a:xfrm>
          <a:prstGeom prst="roundRect">
            <a:avLst>
              <a:gd name="adj" fmla="val 2526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713232" cy="71323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7190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주를 마치면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상품을
</a:t>
            </a:r>
            <a:r>
              <a:rPr lang="en-US" sz="27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'효자상품'으로 키워
전환·객단가까지
</a:t>
            </a:r>
            <a:r>
              <a:rPr lang="en-US" sz="2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끌어올립니다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257800" y="1481328"/>
            <a:ext cx="402336" cy="402336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5852160" y="13898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핵심 성과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852160" y="22311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상품을 '효자상품'으로 키운다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852160" y="30175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셀링하니로 순위를 매일 자동 추적한다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852160" y="380390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클릭률 높은 썸네일을 빠르게 만든다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5852160" y="45902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전환되는</a:t>
            </a: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상세페이지로</a:t>
            </a: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판매를 일으킨다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5852160" y="53766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옵션 </a:t>
            </a:r>
            <a:r>
              <a:rPr lang="en-US" sz="160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설계로</a:t>
            </a: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유입과 마진율을</a:t>
            </a: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끌어올린다</a:t>
            </a:r>
            <a:endParaRPr lang="en-US" sz="1600" dirty="0"/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4C0B1723-2F85-C583-FCA3-94BD97304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1581912"/>
            <a:ext cx="201168" cy="201168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A47C115-5291-2B4C-8446-02224BAB0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350008"/>
            <a:ext cx="310896" cy="310896"/>
          </a:xfrm>
          <a:prstGeom prst="rect">
            <a:avLst/>
          </a:prstGeom>
        </p:spPr>
      </p:pic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943F98DD-0D6C-820E-FC0D-665C04130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3132112"/>
            <a:ext cx="310896" cy="310896"/>
          </a:xfrm>
          <a:prstGeom prst="rect">
            <a:avLst/>
          </a:prstGeom>
        </p:spPr>
      </p:pic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B8B4D8BB-F8B0-8575-0B00-A5241FBF5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3922776"/>
            <a:ext cx="310896" cy="310896"/>
          </a:xfrm>
          <a:prstGeom prst="rect">
            <a:avLst/>
          </a:prstGeom>
        </p:spPr>
      </p:pic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0F83960A-A9A8-5F33-8561-0624FD761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4713440"/>
            <a:ext cx="310896" cy="310896"/>
          </a:xfrm>
          <a:prstGeom prst="rect">
            <a:avLst/>
          </a:prstGeom>
        </p:spPr>
      </p:pic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D5DDBF73-4DAE-8D3E-95F8-0A44E5EF0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549554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복습 &amp; 점검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핵심을 점검하고, 내 등록 상품이 실제로 1페이지에 </a:t>
            </a:r>
            <a:r>
              <a:rPr lang="en-US" sz="15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노출되는지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핵심 리뷰 — 규정 / 소싱 / 상품명 /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텀카운트·중복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챌린지 점검 — 한 주간 실습 결과 공유 및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상품 1페이지 노출 여부 확인 — 대표키워드로 실제 검색해 노출 위치 점검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상품 중 키울 것을 골라 키워드를 재정비해 '효자상품'으로 만든다.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카테고리·유입 점검 — 대표키워드 검색으로 카테고리 확인 (네이버 데이터분석에서 유입 키워드 확인)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불사자로 키워드 재정비 — 쓸만한 키워드는 살리고,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반자동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상품명 빠르게 수정 후 PASS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상황별 처리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–  </a:t>
            </a: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1달 이내 + 인기도·상위노출 키워드 → 상품명 작업으로 키워드 관리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–  </a:t>
            </a: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1달 초과 → 삭제 후 재업로드 추천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–  </a:t>
            </a: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1달 초과 + 리뷰 有 → 다시 작업하되, 리뷰는 상세페이지에 재구성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5">
            <a:extLst>
              <a:ext uri="{FF2B5EF4-FFF2-40B4-BE49-F238E27FC236}">
                <a16:creationId xmlns:a16="http://schemas.microsoft.com/office/drawing/2014/main" id="{66C160B1-5A22-AE94-15CF-E027CFE2B140}"/>
              </a:ext>
            </a:extLst>
          </p:cNvPr>
          <p:cNvSpPr/>
          <p:nvPr/>
        </p:nvSpPr>
        <p:spPr>
          <a:xfrm>
            <a:off x="749300" y="1524000"/>
            <a:ext cx="10795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800"/>
              </a:spcAft>
              <a:buNone/>
            </a:pPr>
            <a:r>
              <a:rPr lang="ko-KR" altLang="en-US" sz="2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반자동/반대량으로 이미 업로드 되어 있는 내 상품을 살리고 싶은 경우,</a:t>
            </a:r>
          </a:p>
          <a:p>
            <a:pPr marL="500000" indent="-500000" algn="l">
              <a:lnSpc>
                <a:spcPct val="120000"/>
              </a:lnSpc>
              <a:spcAft>
                <a:spcPts val="1600"/>
              </a:spcAft>
              <a:buAutoNum type="arabicPeriod"/>
            </a:pPr>
            <a:r>
              <a:rPr lang="ko-KR" altLang="en-US" sz="2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되어 있는 내 상품의 카테고리 vs (내 상품의) 대표 키워드로 검색했을 때 노출되는 1페이지 카테고리와 동일한지 확인</a:t>
            </a:r>
          </a:p>
          <a:p>
            <a:pPr marL="500000" indent="-500000" algn="l">
              <a:lnSpc>
                <a:spcPct val="120000"/>
              </a:lnSpc>
              <a:spcAft>
                <a:spcPts val="1600"/>
              </a:spcAft>
              <a:buAutoNum type="arabicPeriod"/>
            </a:pPr>
            <a:r>
              <a:rPr lang="ko-KR" altLang="en-US" sz="2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동일하지 않으면 동일한 카테고리로 수정, 불사자 키워드 검색해서 황금 키워드 찾기</a:t>
            </a:r>
          </a:p>
          <a:p>
            <a:pPr marL="500000" indent="-500000" algn="l">
              <a:lnSpc>
                <a:spcPct val="120000"/>
              </a:lnSpc>
              <a:spcAft>
                <a:spcPts val="1600"/>
              </a:spcAft>
              <a:buAutoNum type="arabicPeriod"/>
            </a:pPr>
            <a:r>
              <a:rPr lang="ko-KR" altLang="en-US" sz="2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키워드 찾아서 유입 키워드 + 불사자 황금키워드 섞어서 상품명 만들기 (1주차 내용)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7233DA7A-B94F-6E6F-5241-AB7DFB2EB38D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F8D609F-7CED-D732-7CF6-B31A216F306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7DD98192-92C1-C8EE-C9E5-AD7C6E2F4C56}"/>
              </a:ext>
            </a:extLst>
          </p:cNvPr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상품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점검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250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233DA7A-B94F-6E6F-5241-AB7DFB2EB38D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F8D609F-7CED-D732-7CF6-B31A216F306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7DD98192-92C1-C8EE-C9E5-AD7C6E2F4C56}"/>
              </a:ext>
            </a:extLst>
          </p:cNvPr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상품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키워드 확인</a:t>
            </a:r>
            <a:endParaRPr lang="en-US" sz="30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FCDB2AC-7D4A-9941-3FF9-8D6005402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260600"/>
            <a:ext cx="2540000" cy="34417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5EE736E-52E0-A397-0011-DB2BBFF14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00" y="2159000"/>
            <a:ext cx="6350000" cy="13589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32561D4-C6B1-7D24-89E4-002C8615D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4419600"/>
            <a:ext cx="6350000" cy="1270000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F2A65890-A183-4429-9401-17C88257C5A4}"/>
              </a:ext>
            </a:extLst>
          </p:cNvPr>
          <p:cNvSpPr/>
          <p:nvPr/>
        </p:nvSpPr>
        <p:spPr>
          <a:xfrm>
            <a:off x="457200" y="1651000"/>
            <a:ext cx="457200" cy="457200"/>
          </a:xfrm>
          <a:prstGeom prst="ellipse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2B2233"/>
                </a:solidFill>
                <a:latin typeface="맑은 고딕"/>
                <a:ea typeface="맑은 고딕"/>
              </a:rPr>
              <a:t>1</a:t>
            </a:r>
            <a:endParaRPr lang="ko-KR" altLang="en-US" b="1">
              <a:solidFill>
                <a:srgbClr val="2B2233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78BD84-0099-47B0-98AD-39E18F7009B6}"/>
              </a:ext>
            </a:extLst>
          </p:cNvPr>
          <p:cNvSpPr txBox="1"/>
          <p:nvPr/>
        </p:nvSpPr>
        <p:spPr>
          <a:xfrm>
            <a:off x="1016000" y="1651000"/>
            <a:ext cx="3683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데이터분석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› 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판매분석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클릭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7422B1D-8A23-4B29-80DC-C7A3A981F1F8}"/>
              </a:ext>
            </a:extLst>
          </p:cNvPr>
          <p:cNvSpPr/>
          <p:nvPr/>
        </p:nvSpPr>
        <p:spPr>
          <a:xfrm>
            <a:off x="4572000" y="1625600"/>
            <a:ext cx="457200" cy="457200"/>
          </a:xfrm>
          <a:prstGeom prst="ellipse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2B2233"/>
                </a:solidFill>
                <a:latin typeface="맑은 고딕"/>
                <a:ea typeface="맑은 고딕"/>
              </a:rPr>
              <a:t>2</a:t>
            </a:r>
            <a:endParaRPr lang="ko-KR" altLang="en-US" b="1">
              <a:solidFill>
                <a:srgbClr val="2B2233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34BD30-7A32-40F6-BD0B-E9D16B2EF318}"/>
              </a:ext>
            </a:extLst>
          </p:cNvPr>
          <p:cNvSpPr txBox="1"/>
          <p:nvPr/>
        </p:nvSpPr>
        <p:spPr>
          <a:xfrm>
            <a:off x="5130800" y="1625600"/>
            <a:ext cx="6223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우측 상단 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상품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/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검색채널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탭 클릭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3B4CF10-56B1-4E81-8D51-A1A8F8C660B9}"/>
              </a:ext>
            </a:extLst>
          </p:cNvPr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2B2233"/>
                </a:solidFill>
                <a:latin typeface="맑은 고딕"/>
                <a:ea typeface="맑은 고딕"/>
              </a:rPr>
              <a:t>3</a:t>
            </a:r>
            <a:endParaRPr lang="ko-KR" altLang="en-US" b="1">
              <a:solidFill>
                <a:srgbClr val="2B2233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0E1B68-EF70-4C13-966E-7D11492D9A82}"/>
              </a:ext>
            </a:extLst>
          </p:cNvPr>
          <p:cNvSpPr txBox="1"/>
          <p:nvPr/>
        </p:nvSpPr>
        <p:spPr>
          <a:xfrm>
            <a:off x="5130800" y="3886200"/>
            <a:ext cx="6223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아래로 내려 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상품카테고리차원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› 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상품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클릭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425D542-2111-4075-A4F5-F3048CD59981}"/>
              </a:ext>
            </a:extLst>
          </p:cNvPr>
          <p:cNvSpPr/>
          <p:nvPr/>
        </p:nvSpPr>
        <p:spPr>
          <a:xfrm>
            <a:off x="457200" y="6096000"/>
            <a:ext cx="11277600" cy="609600"/>
          </a:xfrm>
          <a:prstGeom prst="roundRect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b="1">
                <a:solidFill>
                  <a:srgbClr val="2B2233"/>
                </a:solidFill>
                <a:latin typeface="맑은 고딕"/>
                <a:ea typeface="맑은 고딕"/>
              </a:rPr>
              <a:t>✔  일정 기간 내 판매된 상품 리스트와 유입 키워드를 한눈에 확인할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34494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 자동 순위추적 등록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중소형 키워드를 셀링하니에 등록해 매일 순위를 자동으로 추적한다.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방법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D18E60-BCA3-1908-A75C-8A300254DD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000"/>
          <a:stretch>
            <a:fillRect/>
          </a:stretch>
        </p:blipFill>
        <p:spPr>
          <a:xfrm>
            <a:off x="1397000" y="4089400"/>
            <a:ext cx="3568700" cy="2349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B292747-D92C-E626-C9A6-EBEE813A0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700" y="4089400"/>
            <a:ext cx="3263900" cy="23495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B0D3FC-8C00-4932-8872-EE0BCF31187A}"/>
              </a:ext>
            </a:extLst>
          </p:cNvPr>
          <p:cNvSpPr txBox="1"/>
          <p:nvPr/>
        </p:nvSpPr>
        <p:spPr>
          <a:xfrm>
            <a:off x="571500" y="3594100"/>
            <a:ext cx="53975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①  모니터링 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› 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실시간 모니터링 선택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053EF2-4EDC-4600-8153-36B9CF58EDEF}"/>
              </a:ext>
            </a:extLst>
          </p:cNvPr>
          <p:cNvSpPr txBox="1"/>
          <p:nvPr/>
        </p:nvSpPr>
        <p:spPr>
          <a:xfrm>
            <a:off x="6096000" y="3594100"/>
            <a:ext cx="5588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②  상품 등록 후 중소형 키워드 입력</a:t>
            </a:r>
          </a:p>
        </p:txBody>
      </p:sp>
    </p:spTree>
    <p:extLst>
      <p:ext uri="{BB962C8B-B14F-4D97-AF65-F5344CB8AC3E}">
        <p14:creationId xmlns:p14="http://schemas.microsoft.com/office/powerpoint/2010/main" val="1064711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 자동 순위추적 결과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셀링하니가 매일 오전 하루 한 번, 등록한 키워드의 순위를 자동으로 추적합니다.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C8842A-1940-1C63-A4A0-8616A8CE4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2692400"/>
            <a:ext cx="10795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3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AI 썸네일 변경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397000"/>
            <a:ext cx="4724400" cy="17780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473200"/>
            <a:ext cx="3556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기능은?
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프롬프트를 입력하면 제품 디테일은 그대로 둔 채 썸네일 이미지를 새로 만들어 줍니다.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E1AC0C7-B6F4-B92B-06B6-2751444EF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498600"/>
            <a:ext cx="5994400" cy="4927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75AA49-95DC-44DF-84BB-291158D6324F}"/>
              </a:ext>
            </a:extLst>
          </p:cNvPr>
          <p:cNvSpPr txBox="1"/>
          <p:nvPr/>
        </p:nvSpPr>
        <p:spPr>
          <a:xfrm>
            <a:off x="546100" y="3403600"/>
            <a:ext cx="4724400" cy="302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✔  어떤 상품이든 프롬프트만 바꿔 적용
✔  배경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모델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분위기만 자연스럽게 교체
✔  제품의 형태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색상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로고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디테일은 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100% 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251890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쓰는 썸네일 변경 프롬프트 10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244600"/>
            <a:ext cx="11087100" cy="10922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295400"/>
            <a:ext cx="9677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안전장치 — 모든 프롬프트 끝에 붙이세요
</a:t>
            </a:r>
            <a:r>
              <a:rPr lang="ko-KR" altLang="en-US" sz="14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제품의 형태·색상·로고·버튼·디테일은 절대 변경하지 말고 원본 그대로 유지해줘.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F4A67-1E9B-47E0-BB89-5FC565B5CA8D}"/>
              </a:ext>
            </a:extLst>
          </p:cNvPr>
          <p:cNvSpPr txBox="1"/>
          <p:nvPr/>
        </p:nvSpPr>
        <p:spPr>
          <a:xfrm>
            <a:off x="508000" y="2641600"/>
            <a:ext cx="5486400" cy="29801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제품을 한국인 모델이 자연스럽게 사용하는 사진으로 바꿔줘. 밝고 깔끔한 분위기로.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배경을 깨끗한 흰색으로 바꾸고, 제품에만 자연스러운 그림자를 넣어 또렷하게 보여줘.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제품을 깔끔한 한국 가정집 실내(거실·주방 등)에 자연스럽게 배치한 사진으로 바꿔줘.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배경을 제품과 어울리는 은은한 단색(파스텔 톤)으로 바꿔 감성적인 분위기로 연출해줘.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구도와 배경은 그대로 두고, 밝기·선명도·색감만 자연스럽게 개선해줘.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04A30-87A4-4462-9C23-B2BC04E51723}"/>
              </a:ext>
            </a:extLst>
          </p:cNvPr>
          <p:cNvSpPr txBox="1"/>
          <p:nvPr/>
        </p:nvSpPr>
        <p:spPr>
          <a:xfrm>
            <a:off x="6248400" y="2641600"/>
            <a:ext cx="5486400" cy="29801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속 외국어 텍스트와 워터마크를 깔끔하게 지우고 배경을 자연스럽게 채워줘.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제품이 실제로 사용되는 상황을 자연스럽게 보여주는 사진으로 바꿔줘.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제품의 질감과 디테일이 잘 보이도록 가까이서 찍은 클로즈업 컷으로 바꿔줘.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제품은 그대로 두고, 배경에 시즌 분위기(봄·여름·가을·겨울·크리스마스 등)를 더해줘.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스튜디오에서 촬영한 듯 고급스러운 조명과 배경으로 제품을 돋보이게 바꿔줘.</a:t>
            </a:r>
          </a:p>
        </p:txBody>
      </p:sp>
    </p:spTree>
    <p:extLst>
      <p:ext uri="{BB962C8B-B14F-4D97-AF65-F5344CB8AC3E}">
        <p14:creationId xmlns:p14="http://schemas.microsoft.com/office/powerpoint/2010/main" val="245493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 프롬프트로 썸네일 변경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270000"/>
            <a:ext cx="11087100" cy="10160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320800"/>
            <a:ext cx="967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기능은?
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ChatGPT에 원본 이미지와 다음 장의 프롬프트를 함께 입력하면, 제품은 그대로 둔 채 배경만 전문 스튜디오 느낌으로 바꿔 줍니다.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93B2E4-33CA-3F88-C32B-308B81D95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0" y="2489200"/>
            <a:ext cx="74422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67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2 프롬프트 · 챗GPT 썸네일 변경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270000"/>
            <a:ext cx="11087100" cy="10160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320800"/>
            <a:ext cx="967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쓰세요
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ChatGPT에 원본 상품 이미지를 올린 뒤, 아래 프롬프트를 그대로 붙여넣으세요. (배경 색상은 팔레트에서 자동으로 랜덤 선택됩니다)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DC9B7-D69E-4CEA-A036-8D89082F8D7C}"/>
              </a:ext>
            </a:extLst>
          </p:cNvPr>
          <p:cNvSpPr txBox="1"/>
          <p:nvPr/>
        </p:nvSpPr>
        <p:spPr>
          <a:xfrm>
            <a:off x="546100" y="2489200"/>
            <a:ext cx="11099800" cy="4165600"/>
          </a:xfrm>
          <a:prstGeom prst="rect">
            <a:avLst/>
          </a:prstGeom>
          <a:solidFill>
            <a:srgbClr val="23262F"/>
          </a:solidFill>
          <a:ln w="12700">
            <a:solidFill>
              <a:srgbClr val="6E6470"/>
            </a:solidFill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>
                <a:solidFill>
                  <a:srgbClr val="EAE8F0"/>
                </a:solidFill>
                <a:latin typeface="Consolas"/>
              </a:rPr>
              <a:t>High-end E-commerce Thumbnail: 1:1 Aspect Ratio, 1000x1000px. Replace background only. Product placed in a professional photography studio. The backdrop is a seamless, desaturated color randomly selected from the following palette (Milk Tea #FDF4E1, Powder Yellow #FFF8DC, Sand Beige #FFEBCD, Sweet Peach #FFE4E1, Apple Mango #FFEFD5, Biscuit #FFE4C4, Lemon Chiffon #FFFACD, Peach Puff #FFDAB9, Sky Blue #F0FFFF, Mist Green #E0FFFF, Mint White #F5FFFA, Cloud White #F8F8FF, Lavender Grey #E6E6FA, Green Tea #F0FFF0, Ice White #F8F8FF). Use soft cinematic lighting from top-left to create a realistic, long soft-edged drop shadow to the bottom-right for a 3D effect. The product occupies 85% of the frame, presented in a 45-degree quarter view for maximum visibility. Hyper-realistic studio photography style with sharp focus and natural depth of field. Keep the original product image intact. Do not add any text or logos on the image.</a:t>
            </a:r>
            <a:endParaRPr lang="ko-KR" altLang="en-US" sz="1600">
              <a:solidFill>
                <a:srgbClr val="EAE8F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02543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전환을 일으키는 상세페이지 제작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전환되는 상세페이지를 만들어 전 상품에 기본 적용하고, 유입 상품은 심화로 다듬는다.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제작 — GPTs로 제작 → 포토스케이프X로 이어붙이기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상품 기본 적용 — 위 방식으로 모든 상품 1차 교체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상세페이지용 이미지 만들기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STEP 1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용팀장 GPT로 상세 이미지를 만들고, 포토스케이프X를 설치합니다.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</a:t>
            </a:r>
          </a:p>
        </p:txBody>
      </p:sp>
      <p:sp>
        <p:nvSpPr>
          <p:cNvPr id="12" name="Text 8"/>
          <p:cNvSpPr/>
          <p:nvPr/>
        </p:nvSpPr>
        <p:spPr>
          <a:xfrm>
            <a:off x="571500" y="3454400"/>
            <a:ext cx="5207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용팀장 상세페이지 제작 GPT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상세페이지 이미지를 생성합니다.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2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바로가기 ▸ chatgpt.com/g/g-6a2e4847e920…-yongtimjang-sangsepeiji-jejag-gpt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800" dirty="0"/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포토스케이프X 설치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구글에 '포토스케이프X' 검색 → 무료 다운로드·설치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BC5D482-E03F-04E3-3B06-B4A050911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600" y="3810000"/>
            <a:ext cx="5588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86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포토스케이프X로 합쳐서 등록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STEP 2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한 장으로 합치고, 가로 폭 860으로 맞춰 상세페이지에 등록합니다.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합치기 → 사이즈 → 등록</a:t>
            </a:r>
          </a:p>
        </p:txBody>
      </p:sp>
      <p:sp>
        <p:nvSpPr>
          <p:cNvPr id="12" name="Text 8"/>
          <p:cNvSpPr/>
          <p:nvPr/>
        </p:nvSpPr>
        <p:spPr>
          <a:xfrm>
            <a:off x="571500" y="3454400"/>
            <a:ext cx="5207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이어붙이기로 합치기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'이어붙이기' 메뉴에서 만든 이미지를 순서대로 넣으면 한 장으로 합쳐집니다.</a:t>
            </a:r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가로 폭 860으로 맞추기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우측 패널에서 '가로 폭'을 860으로 수정 후 다운로드합니다.</a:t>
            </a:r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불사자 상세페이지에 등록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합친 이미지 한 장만 추가하면 상세페이지 완성!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5888B65-4E88-EC10-5CED-D90B5C897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0" y="2938620"/>
            <a:ext cx="5715000" cy="1346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5501A9D-8BC9-D8E6-3447-137EDA984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4502535"/>
            <a:ext cx="2413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60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객단가를 높이는 2단 옵션 설계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 옵션은 저가로 유입을 만들고, 2번 옵션으로 전환과 객단가를 끌어올린다.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대표상품(유입용) · 저마진 세팅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실제 노출되는 가격 → 저마진으로 세팅해 클릭·유입 극대화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클릭해 들어오면 나머지 옵션도 함께 노출</a:t>
            </a:r>
          </a:p>
          <a:p>
            <a:pPr marL="0" indent="0" algn="l">
              <a:lnSpc>
                <a:spcPct val="60000"/>
              </a:lnSpc>
              <a:buNone/>
            </a:pPr>
            <a:endParaRPr lang="ko-KR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옵션 · 고마진 세팅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마진 약 25% 수준으로 세팅 → 객단가·수익 확보</a:t>
            </a:r>
          </a:p>
          <a:p>
            <a:pPr marL="0" indent="0" algn="l">
              <a:lnSpc>
                <a:spcPct val="60000"/>
              </a:lnSpc>
              <a:buNone/>
            </a:pPr>
            <a:endParaRPr lang="ko-KR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결과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대표상품 판매 → 저마진이지만 인기도 점수 ↑ (노출 상승)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옵션 판매 → 고마진으로 수익 실현</a:t>
            </a:r>
          </a:p>
        </p:txBody>
      </p:sp>
    </p:spTree>
    <p:extLst>
      <p:ext uri="{BB962C8B-B14F-4D97-AF65-F5344CB8AC3E}">
        <p14:creationId xmlns:p14="http://schemas.microsoft.com/office/powerpoint/2010/main" val="863898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용감한용팀장 전용 마진 세팅 기능</a:t>
            </a:r>
          </a:p>
        </p:txBody>
      </p:sp>
      <p:sp>
        <p:nvSpPr>
          <p:cNvPr id="9" name="Shape 6"/>
          <p:cNvSpPr/>
          <p:nvPr/>
        </p:nvSpPr>
        <p:spPr>
          <a:xfrm>
            <a:off x="546100" y="381000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3924300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93800" y="3784600"/>
            <a:ext cx="889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2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개별상품 수정 → 마진 세팅 화면</a:t>
            </a:r>
          </a:p>
        </p:txBody>
      </p:sp>
      <p:sp>
        <p:nvSpPr>
          <p:cNvPr id="12" name="Text 8"/>
          <p:cNvSpPr/>
          <p:nvPr/>
        </p:nvSpPr>
        <p:spPr>
          <a:xfrm>
            <a:off x="571500" y="4419600"/>
            <a:ext cx="110490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lang="ko-KR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2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옵션별 마진을 직접 세팅 — </a:t>
            </a:r>
            <a:r>
              <a:rPr lang="ko-KR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오직 용감한용팀장 수강생만 쓸 수 있는 기능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lang="ko-KR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2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셀러는 이 전략의 존재 자체를 모른다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2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알아도 직접 적용하기 어렵다 → </a:t>
            </a:r>
            <a:r>
              <a:rPr lang="ko-KR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사람만 쓰는 지속 가능한 경쟁력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0AE4078-C03B-5F09-43C3-B21FD9ACB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168400"/>
            <a:ext cx="91440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28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8000" y="2387600"/>
            <a:ext cx="1117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4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내용은 여기까지!</a:t>
            </a:r>
          </a:p>
        </p:txBody>
      </p:sp>
      <p:sp>
        <p:nvSpPr>
          <p:cNvPr id="12" name="Text 8"/>
          <p:cNvSpPr/>
          <p:nvPr/>
        </p:nvSpPr>
        <p:spPr>
          <a:xfrm>
            <a:off x="508000" y="3911600"/>
            <a:ext cx="1117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sz="2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이제부터 실습 &amp; Q&amp;A 시간입니다</a:t>
            </a:r>
          </a:p>
        </p:txBody>
      </p:sp>
    </p:spTree>
    <p:extLst>
      <p:ext uri="{BB962C8B-B14F-4D97-AF65-F5344CB8AC3E}">
        <p14:creationId xmlns:p14="http://schemas.microsoft.com/office/powerpoint/2010/main" val="2245624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3D512D-FA4A-4A1A-B1AE-A45D6FFE9CD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c64c233-0c18-4aab-8789-7f6a2a06d1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1485</Words>
  <Application>Microsoft Office PowerPoint</Application>
  <PresentationFormat>와이드스크린</PresentationFormat>
  <Paragraphs>223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5</cp:revision>
  <dcterms:created xsi:type="dcterms:W3CDTF">2026-06-16T15:56:59Z</dcterms:created>
  <dcterms:modified xsi:type="dcterms:W3CDTF">2026-06-19T13:17:10Z</dcterms:modified>
</cp:coreProperties>
</file>