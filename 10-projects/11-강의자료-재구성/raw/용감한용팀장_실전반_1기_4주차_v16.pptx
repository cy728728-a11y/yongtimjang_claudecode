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4" r:id="rId25"/>
    <p:sldId id="279" r:id="rId26"/>
    <p:sldId id="280" r:id="rId27"/>
    <p:sldId id="305" r:id="rId28"/>
    <p:sldId id="281" r:id="rId29"/>
    <p:sldId id="282" r:id="rId30"/>
    <p:sldId id="284" r:id="rId31"/>
    <p:sldId id="285" r:id="rId32"/>
    <p:sldId id="283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AB880-86D9-4215-A1AE-06DC2BC783A5}" v="1" dt="2026-07-03T15:39:5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8DF79C0F-0B75-4C12-8AA2-E2DCB94864A2}"/>
    <pc:docChg chg="modSld">
      <pc:chgData name="용 최" userId="1589a7fea772e98f" providerId="LiveId" clId="{8DF79C0F-0B75-4C12-8AA2-E2DCB94864A2}" dt="2026-07-03T15:40:16.703" v="61" actId="20577"/>
      <pc:docMkLst>
        <pc:docMk/>
      </pc:docMkLst>
      <pc:sldChg chg="modSp mod">
        <pc:chgData name="용 최" userId="1589a7fea772e98f" providerId="LiveId" clId="{8DF79C0F-0B75-4C12-8AA2-E2DCB94864A2}" dt="2026-07-03T15:38:50.434" v="26" actId="1038"/>
        <pc:sldMkLst>
          <pc:docMk/>
          <pc:sldMk cId="0" sldId="284"/>
        </pc:sldMkLst>
        <pc:picChg chg="mod">
          <ac:chgData name="용 최" userId="1589a7fea772e98f" providerId="LiveId" clId="{8DF79C0F-0B75-4C12-8AA2-E2DCB94864A2}" dt="2026-07-03T15:38:50.434" v="26" actId="103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용 최" userId="1589a7fea772e98f" providerId="LiveId" clId="{8DF79C0F-0B75-4C12-8AA2-E2DCB94864A2}" dt="2026-07-03T15:40:16.703" v="61" actId="20577"/>
        <pc:sldMkLst>
          <pc:docMk/>
          <pc:sldMk cId="0" sldId="303"/>
        </pc:sldMkLst>
        <pc:spChg chg="mod">
          <ac:chgData name="용 최" userId="1589a7fea772e98f" providerId="LiveId" clId="{8DF79C0F-0B75-4C12-8AA2-E2DCB94864A2}" dt="2026-07-03T15:39:45.235" v="27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용 최" userId="1589a7fea772e98f" providerId="LiveId" clId="{8DF79C0F-0B75-4C12-8AA2-E2DCB94864A2}" dt="2026-07-03T15:39:59.620" v="52"/>
          <ac:spMkLst>
            <pc:docMk/>
            <pc:sldMk cId="0" sldId="303"/>
            <ac:spMk id="9" creationId="{00000000-0000-0000-0000-000000000000}"/>
          </ac:spMkLst>
        </pc:spChg>
        <pc:spChg chg="mod">
          <ac:chgData name="용 최" userId="1589a7fea772e98f" providerId="LiveId" clId="{8DF79C0F-0B75-4C12-8AA2-E2DCB94864A2}" dt="2026-07-03T15:40:16.703" v="61" actId="20577"/>
          <ac:spMkLst>
            <pc:docMk/>
            <pc:sldMk cId="0" sldId="30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9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hatgpt.com/c/6a47844f-0efc-83e8-ac31-29844418f3cb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tail.tmall.com/item.htm?id=45525650293&amp;skuId=6026045792412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hatgpt.com/share/6a47bd05-3024-83ee-a302-a5b6cb9ccd00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hatgpt.com/c/6a476f76-db38-83e8-b38b-16a8ddf23cf2" TargetMode="Externa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martstore.naver.com/braveyong/products/13650813092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martstore.naver.com/braveyong/products/13650813092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martstore.naver.com/braveyong/products/13650791367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A33C4E">
              <a:alpha val="20000"/>
            </a:srgbClr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2286000" cy="2286000"/>
          </a:xfrm>
          <a:prstGeom prst="ellipse">
            <a:avLst/>
          </a:prstGeom>
          <a:solidFill>
            <a:srgbClr val="A33C4E">
              <a:alpha val="15000"/>
            </a:srgbClr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실전반  ·  4주차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진단하고,</a:t>
            </a:r>
            <a:endParaRPr lang="en-US" sz="5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전환율을 높인다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상품을 읽고, 막힌 곳을 뚫는다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 한눈에 보기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20824" y="987552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020824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591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복습 &amp; 점검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현황 + 어려웠던 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71032" y="987552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71032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61688" y="1591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분석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1688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화면 완전 정복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21240" y="987552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921240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11896" y="1591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진단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11896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유입·페이지뷰·전환율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20824" y="2569464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020824" y="2569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3172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속성·태그 입력법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가격비교 속성 &amp; 마누태그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1032" y="2569464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71032" y="2569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61688" y="3172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61688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유입 채널 연결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21240" y="2569464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921240" y="2569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11896" y="3172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심화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11896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재구성 · 유입 링크/배너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20824" y="4151376"/>
            <a:ext cx="530352" cy="53035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020824" y="4151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11480" y="4754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및 실습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11480" y="51755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실습 + 피드백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598932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4360" y="5989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000" y="59893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목표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68880" y="598932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데이터를 읽고, 속성·태그로 전환율을 높이고, 브랜드커넥트로 유입 채널을 확장한다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 학습목표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4114800" cy="5715000"/>
          </a:xfrm>
          <a:prstGeom prst="roundRect">
            <a:avLst>
              <a:gd name="adj" fmla="val 22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63040" y="1188720"/>
            <a:ext cx="1097280" cy="109728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주를 마치면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데이터를
</a:t>
            </a: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
</a:t>
            </a: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병목을 찾아 해결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
전환율을 높입니다
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9601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핵심 성과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147218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개선할 상품을 직접 뽑아낸다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2258568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22219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유입·페이지뷰·전환율 흐름으로 병목을 찾는다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3008376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29718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가격비교 속성 전부 입력 + 마누태그로 유입 확보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3758184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37216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브랜드커넥트로 인플루언서 유입 채널을 연결한다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4507992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재구성으로 상세페이지 전환율을 끌어올린다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5257800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522122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이미지로 상세페이지 내 내부 유입을 만든다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복습 &amp;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669280" cy="5669280"/>
          </a:xfrm>
          <a:prstGeom prst="roundRect">
            <a:avLst>
              <a:gd name="adj" fmla="val 161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115568"/>
            <a:ext cx="5340096" cy="502920"/>
          </a:xfrm>
          <a:prstGeom prst="roundRect">
            <a:avLst>
              <a:gd name="adj" fmla="val 10909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115568"/>
            <a:ext cx="5340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 현황 공유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지난 한 주 동안 실제로 몇 개 올렸나요?</a:t>
            </a:r>
            <a:endParaRPr lang="en-US" sz="1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목표했던 수량과 얼마나 차이가 났나요?</a:t>
            </a:r>
            <a:endParaRPr lang="en-US" sz="1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방식으로 진행했는지 간단히 공유해 주세요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5669280" cy="5669280"/>
          </a:xfrm>
          <a:prstGeom prst="roundRect">
            <a:avLst>
              <a:gd name="adj" fmla="val 161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19672" y="1115568"/>
            <a:ext cx="5340096" cy="502920"/>
          </a:xfrm>
          <a:prstGeom prst="roundRect">
            <a:avLst>
              <a:gd name="adj" fmla="val 10909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19672" y="1115568"/>
            <a:ext cx="5340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해보니 어땠나요?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1112" y="178308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해보면서 막혔던 부분이 있었나요?</a:t>
            </a:r>
            <a:endParaRPr lang="en-US" sz="1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예상과 달랐던 점은 무엇인가요?</a:t>
            </a:r>
            <a:endParaRPr lang="en-US" sz="16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6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상품이 있다면 공유해 주세요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스토어분석 — 새 화면 완전 정복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통계 메뉴가 스토어분석으로 개편됨. 판매·방문·검색·고객 4개 메뉴 구조와 달라진 루틴을 익힌다.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7589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→ 판매분석 → 방문분석 → 고객분석  4개 메뉴로 재편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판매분석: 분석기준 [상품] + [채널상품] 선택 → TOP10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리포트: 방문분석 &gt; 검색 리포트 → 검색어/카테고리 조합으로 유입 키워드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검색어 5명 미만 롱테일 키워드 누락 / 엑셀 다운로드 상위 50개 제한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판매된 상품의 유입 키워드는 판매분석 + 검색리포트 2단계로 나눠서 확인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2560320"/>
            <a:ext cx="3657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판매분석 — 조회 세팅 방법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6858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9601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680960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조회 기간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14173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선택 (기본값)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선택도 가능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2258568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분석 기준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2715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[상품] 탭 클릭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반드시 선택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3557016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680960" y="3630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상품 선택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40142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[채널상품] 탭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그룹상품은 별도 탭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4855464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680960" y="4928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조회 실행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80960" y="53126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하단 [조회] 버튼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하단 TOP10 자동 노출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판매금액 TOP10 — 결과 확인법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45720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960120"/>
            <a:ext cx="6492240" cy="18288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0" y="10058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판매금액(총) TOP10 읽는 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444752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후 하단에 자동으로 1~3위 노출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'순위 더보기 +' 클릭 → TOP10 전체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71800"/>
            <a:ext cx="6492240" cy="1554480"/>
          </a:xfrm>
          <a:prstGeom prst="roundRect">
            <a:avLst>
              <a:gd name="adj" fmla="val 4706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0" y="3035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유입 키워드 없음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3438144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화면에서는 유입 키워드를 볼 수 없습니다.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팔린 상품 가공 시 키워드 정보 없이 진행해야 하며,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통계(구버전)를 8월 중순까지 병행 활용 가능합니다.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03520" y="4709160"/>
            <a:ext cx="649224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스토어분석 전체 메뉴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143000"/>
            <a:ext cx="457200" cy="457200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" y="172821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스토어현황: 5단계 시그널 + 유사 스토어 비교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실시간현황: 오늘 방문수/판매금액 시간대별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매일 첫 체크포인트로 활용 권장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9672" y="1143000"/>
            <a:ext cx="457200" cy="4572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196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04888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분석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172821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리포트: 채널/카테고리/상품/브랜드 기준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채널상품·그룹상품 TOP10 확인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다운로드: 상위 500개까지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76072" y="3977640"/>
            <a:ext cx="457200" cy="45720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" y="456285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리포트: 경로별 일별 방문 추이 (스택바)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리포트: 검색어/카테고리 조합으로 유입 키워드 랭킹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다운로드: 검색어 상위 50개까지만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19672" y="3977640"/>
            <a:ext cx="457200" cy="457200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196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분석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6248" y="4562856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성/연령별, 신규/재구매 고객 분석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바우처 활용 현황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4주차 활용 범위 밖 (추후 참고)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진단 — 어디서 막히는지 찾는다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유입수 → 전환율 2단계 흐름을 보고, 내 상품의 병목을 직접 짚어낸다.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유입수 낮음 → 키워드·상품명 점검 (노출 자체가 적음)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클릭수 있는데 전환 없음 → 가격·상세페이지 점검 → 광고 데이터, 네이버 방문분석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TOP10에서 팔린 상품 → 네이버 판매분석 데이터로 상세페이지 개선 우선순위 결정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진단 프레임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650992" cy="5440680"/>
          </a:xfrm>
          <a:prstGeom prst="roundRect">
            <a:avLst>
              <a:gd name="adj" fmla="val 168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115568"/>
            <a:ext cx="5321808" cy="475488"/>
          </a:xfrm>
          <a:prstGeom prst="roundRect">
            <a:avLst>
              <a:gd name="adj" fmla="val 11538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115568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질문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노출은 되고 있나?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클릭수·노출수 일정 수준 이상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5020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7939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클릭·노출 둘 다 낮음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4748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처방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37667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키워드·상품명 수정 → 재업 / 썸네일 교체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상품과 함께 노출되는 주변 상품 분석, 광고 CPC 상향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73368" y="960120"/>
            <a:ext cx="5650992" cy="5440680"/>
          </a:xfrm>
          <a:prstGeom prst="roundRect">
            <a:avLst>
              <a:gd name="adj" fmla="val 168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37960" y="1115568"/>
            <a:ext cx="5321808" cy="475488"/>
          </a:xfrm>
          <a:prstGeom prst="roundRect">
            <a:avLst>
              <a:gd name="adj" fmla="val 11538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37960" y="1115568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175564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질문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208483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들어오는데 안 사나?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285292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1968" y="318211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데이터 기준으로 전환율 4~5% 이상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01968" y="395020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01968" y="427939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있는데 전환율 3% 미만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504748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처방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01968" y="537667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상품과 함께 노출되는 주변 상품과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가격/상세페이지 비교 → 가격 조정 → 상세페이지 개선 / 리뷰 유도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방문 데이터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데이터분석 → 방문 분석에서 방문수를 확인합니다.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463040" cy="270662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9968" y="1481328"/>
            <a:ext cx="819912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방문수 목표 &amp; 진단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데이터로 마켓 유입을 확인하고, 상위노출 상품의 경쟁 환경을 분석합니다.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8229600" cy="2478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81328"/>
            <a:ext cx="2953512" cy="2478024"/>
          </a:xfrm>
          <a:prstGeom prst="roundRect">
            <a:avLst>
              <a:gd name="adj" fmla="val 295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988552" y="1627632"/>
            <a:ext cx="2624328" cy="402336"/>
          </a:xfrm>
          <a:prstGeom prst="roundRect">
            <a:avLst>
              <a:gd name="adj" fmla="val 11364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988552" y="1627632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목표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88552" y="2103120"/>
            <a:ext cx="2624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최소 100~200건 이상을 목표로 상품 등록·관리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114800"/>
            <a:ext cx="11365992" cy="2514600"/>
          </a:xfrm>
          <a:prstGeom prst="roundRect">
            <a:avLst>
              <a:gd name="adj" fmla="val 2909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4224528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확인사항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상위노출 되고 있으나 유입이 없는 상품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상위노출 키워드로 검색했을 때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노출되는 주변 상품과 비교·분석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내 상품의 가격이 현저히 높지 않은가?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이미 리뷰·구매·찜이 압도적으로 많은 경쟁 상품이 있지 않은가?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 노출 환경에서 내 상품의 경쟁력은 있는가?  →  내가 소비자라면 내 상품을 클릭할 것인가?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주변 상품 비교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— '깃발간판' 키워드로 내 상품이 노출될 때의 주변 경쟁 환경입니다.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8229600" cy="4453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0" y="1481328"/>
            <a:ext cx="2907792" cy="4453128"/>
          </a:xfrm>
          <a:prstGeom prst="roundRect">
            <a:avLst>
              <a:gd name="adj" fmla="val 251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034272" y="1627632"/>
            <a:ext cx="2578608" cy="402336"/>
          </a:xfrm>
          <a:prstGeom prst="roundRect">
            <a:avLst>
              <a:gd name="adj" fmla="val 11364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034272" y="162763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포인트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34272" y="2148840"/>
            <a:ext cx="25786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리뷰·판매가 많은 경쟁 상품이 많다면 클릭하기 어려운 환경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단색 배경 썸네일 등으로 차별화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필드로 '시안 무제한 수정·검수 가능' 등 포인트 강조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b="1" dirty="0">
                <a:solidFill>
                  <a:srgbClr val="A33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경쟁이 심하지 않은 다른 키워드로 상품명을 수정하는 것도 하나의 전략!!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키워드 교체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상품이라도 키워드를 바꾸면 노출 환경이 달라집니다. 경쟁이 적은 키워드를 찾아보세요.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6888882" cy="4919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481328"/>
            <a:ext cx="3410712" cy="5550408"/>
          </a:xfrm>
          <a:prstGeom prst="roundRect">
            <a:avLst>
              <a:gd name="adj" fmla="val 214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31352" y="1627632"/>
            <a:ext cx="3081528" cy="402336"/>
          </a:xfrm>
          <a:prstGeom prst="roundRect">
            <a:avLst>
              <a:gd name="adj" fmla="val 11364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531352" y="1627632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전략 포인트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31352" y="2148840"/>
            <a:ext cx="3081528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'돌출형 행잉간판' 키워드로 등록 즉시 2위 노출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경쟁이 심한 '깃발간판' 키워드를 포기하는 것이 나은 선택일 수 있음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상품과 비교해 썸네일만 차별화해도 유입이 생길 수 있는 케이스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 키워드를 바꾸면 전혀 다른 노출 환경으로 진입 가능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상세페이지 개선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방문수가 있는 상품은 노출이 되고 있는 상품 — 상세페이지 개선으로 전환율을 높입니다.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2377440" cy="4233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17520" y="1481328"/>
            <a:ext cx="8778240" cy="4233672"/>
          </a:xfrm>
          <a:prstGeom prst="roundRect">
            <a:avLst>
              <a:gd name="adj" fmla="val 21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182112" y="1627632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182112" y="162763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있는 상품 → 상세페이지 기획으로 전환율 끌어올리기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82112" y="2212848"/>
            <a:ext cx="844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TOP 상품들 = 노출이 되고 있는 상품 → 이 상품들의 상세페이지를 먼저 개선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노출 상품의 상세페이지와 비교 → 내 상품을 살 이유가 있는가 판단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상세페이지: 깔끔한 번역 상태 → 업그레이드 필요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방향: 상단에 리뷰 이미지 삽입 / 후킹 이미지 추가 / 사고 싶게 만드는 기획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6812280"/>
            <a:ext cx="11365992" cy="292608"/>
          </a:xfrm>
          <a:prstGeom prst="roundRect">
            <a:avLst>
              <a:gd name="adj" fmla="val 1562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리뷰 이미지 및 후킹 이미지 제작 방법은 이 장표 뒤에서 자세히 설명합니다.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판매 TOP10 조회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판매 분석에서 판매 상품 TOP10을 조회합니다.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463040" cy="267004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9968" y="1481328"/>
            <a:ext cx="8134864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TOP10 분석 &amp;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 상품 데이터를 바탕으로 판매량과 객단가를 높이는 전략을 세웁니다.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4572000" cy="383133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6360" y="1481328"/>
            <a:ext cx="3931920" cy="5120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81160" y="1481328"/>
            <a:ext cx="2496312" cy="5120640"/>
          </a:xfrm>
          <a:prstGeom prst="roundRect">
            <a:avLst>
              <a:gd name="adj" fmla="val 293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445752" y="1627632"/>
            <a:ext cx="2167128" cy="402336"/>
          </a:xfrm>
          <a:prstGeom prst="roundRect">
            <a:avLst>
              <a:gd name="adj" fmla="val 11364"/>
            </a:avLst>
          </a:prstGeom>
          <a:solidFill>
            <a:srgbClr val="E0A9A2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445752" y="16276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확대 전략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445752" y="2148840"/>
            <a:ext cx="216712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 = 이미 팔리는 상품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상품들에 집중 투자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유도로 신뢰도 상승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데이터가 쌓일수록 인기도 점수 상승 → 선순환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속성·태그 입력 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가격비교에서 확인한 속성을 전부 입력하고, 마누태그로 추가 유입 키워드를 확보한다.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속성: 네이버 가격비교에서 메인키워드 검색 → 노출되는 속성 확인 → 전부 입력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브랜드·제조사 일괄 변경은 기본 (검색품질 체크 통과)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마누태그: 불사자 상품명/태그 탭 → 메인키워드 입력 후 [분석] 클릭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키워드 중 상품명과 겹치지 않는 것 10개 선택 → [+스마트스토어 태그]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용팀장 방식: 스피드업로드 후 태그는 별도로 잡아주기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 입력 — 불사자 실전 화면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960120"/>
            <a:ext cx="731520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96012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65008" y="128016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06500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13648" y="1033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상품명/태그 탭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13648" y="14356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불사자 상단 탭에서 선택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228600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065008" y="260604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06500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13648" y="23591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메인키워드 입력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13648" y="2761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[조명 화염] 등 메인 키워드 입력 후 [분석] 클릭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09560" y="361188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065008" y="393192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065008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13648" y="36850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마누태그 선택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13648" y="40873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키워드 중 [마누태그] 출처 확인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상품명과 겹치지 않는 것 10개 체크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09560" y="493776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065008" y="5257800"/>
            <a:ext cx="438912" cy="438912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065008" y="5257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13648" y="50109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+스마트스토어 태그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13648" y="54132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클릭 → 우측에 자동 입력됨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 — 추가 유입 채널 만들기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 쇼핑커넥트를 연결해 인플루언서·크리에이터 경로의 유입 채널을 추가한다.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브랜드커넥트: 네이버 인플루언서와 상품을 연결하는 쇼핑 커넥트 플랫폼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자체는 FREE — 상품 판매 시 설정한 수수료(CPS)만 발생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즉시 사용 가능 (승인 대기 없음)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등록: 최대 500개 단위 / 여러 번 나눠서 전체 등록 가능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사용료(수수료)는 최저 7%부터 직접 설정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브랜드커넥트 가입 ~ 상품등록 5단계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097280"/>
            <a:ext cx="3401568" cy="420624"/>
          </a:xfrm>
          <a:prstGeom prst="roundRect">
            <a:avLst>
              <a:gd name="adj" fmla="val 13043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09728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진입 &amp; 가입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618488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구글/네이버에서 '네이버 브랜드커넥트' 검색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brandconnect.naver.com → [캠페인사] → 회원가입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개인 네이버 아이디로만 가입 가능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96012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26280" y="1097280"/>
            <a:ext cx="3401568" cy="420624"/>
          </a:xfrm>
          <a:prstGeom prst="roundRect">
            <a:avLst>
              <a:gd name="adj" fmla="val 13043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26280" y="109728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스페이스 개설 &amp; 스토어 연동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1618488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캠페인사 유형 [광고주] 선택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커머스ID로 인증 → 스페이스 개설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등록 후 톡톡 생성 (휴대폰 인증)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11896" y="96012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6488" y="1097280"/>
            <a:ext cx="3401568" cy="420624"/>
          </a:xfrm>
          <a:prstGeom prst="roundRect">
            <a:avLst>
              <a:gd name="adj" fmla="val 13043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76488" y="109728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쇼핑 커넥트 솔루션 신청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13064" y="1618488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 커넥트 → 상품 관리 → [솔루션 추가]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커머스솔루션마켓에서 FREE 신청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즉시 사용 가능 (대기 없음)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76072" y="3703320"/>
            <a:ext cx="3401568" cy="420624"/>
          </a:xfrm>
          <a:prstGeom prst="roundRect">
            <a:avLst>
              <a:gd name="adj" fmla="val 13043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370332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상품 등록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" y="4224528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[진행 상품 등록하기] → 전체 선택 → 다음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500개 단위 / 나머지는 추가 등록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사용료(수수료) 최저 7% 설정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356616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26280" y="3703320"/>
            <a:ext cx="3401568" cy="420624"/>
          </a:xfrm>
          <a:prstGeom prst="roundRect">
            <a:avLst>
              <a:gd name="adj" fmla="val 13043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26280" y="370332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시작 &amp; 운영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62856" y="4224528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유의사항 확인 → [시작하기]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달 1일 00시부터 적용 (변경 불가)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판매자센터 &gt; 커머스솔루션에서도 동일 진입 가능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심화 — 리뷰 활용 &amp; 후킹 이미지 &amp; 유입 링크/배너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판매가 시작된 상품의 상세페이지를 고도화해 전환율을 높이고, 내부 배너로 다른 상품까지 유입시킨다.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활용: 구매 리뷰 내용을 상세페이지 상단에 배치 / 전단지 발송으로 리뷰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이미지를 상세페이지 상단에 배치하여 구매 전환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링크/배너: 상세페이지 내 배너/위젯을 활용하여 다른 상품으로 자연스럽게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유도하되 표기는 정직하게 — 거짓 할인·오해 유발은 다크패턴 규제 대상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리뷰를 넣은 상세페이지 만들기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고객 리뷰를 이미지로 만들어 상세페이지 상단에 배치합니다. 신뢰도와 전환율이 함께 올라갑니다.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1481328"/>
            <a:ext cx="2148840" cy="27523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2888" y="1481328"/>
            <a:ext cx="2148840" cy="27523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4" y="1481328"/>
            <a:ext cx="2148840" cy="275234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481328"/>
            <a:ext cx="2148840" cy="2752344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26296" y="1481328"/>
            <a:ext cx="2148840" cy="27523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11480" y="4370832"/>
            <a:ext cx="11365992" cy="502920"/>
          </a:xfrm>
          <a:prstGeom prst="roundRect">
            <a:avLst>
              <a:gd name="adj" fmla="val 1272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5"/>
          <p:cNvSpPr/>
          <p:nvPr/>
        </p:nvSpPr>
        <p:spPr>
          <a:xfrm>
            <a:off x="594360" y="43708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이런 형태의 리뷰 이미지를 만들어 상세페이지 상단에 삽입합니다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411480" y="4983480"/>
            <a:ext cx="11365992" cy="1627632"/>
          </a:xfrm>
          <a:prstGeom prst="roundRect">
            <a:avLst>
              <a:gd name="adj" fmla="val 4494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594360" y="4983480"/>
            <a:ext cx="11064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제작 순서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상품 상세페이지 캡처  →  ② 리뷰 이미지 예시 참고  →  ③ ChatGPT에 상세 톤 + 예시 이미지 제공  →  ④ 생성된 이미지를 상세 상단에 삽입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프롬프트로 리뷰 페이지 만들기 — 실전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상세페이지와 예시 리뷰 이미지를 GPT에 함께 전달하면 같은 톤으로 리뷰 모음 페이지를 만들어 줍니다.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1481328"/>
            <a:ext cx="5070032" cy="280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32726" y="1481328"/>
            <a:ext cx="3844746" cy="4919472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sp>
        <p:nvSpPr>
          <p:cNvPr id="8" name="Shape 4"/>
          <p:cNvSpPr/>
          <p:nvPr/>
        </p:nvSpPr>
        <p:spPr>
          <a:xfrm>
            <a:off x="411480" y="4531328"/>
            <a:ext cx="5070032" cy="1869472"/>
          </a:xfrm>
          <a:prstGeom prst="roundRect">
            <a:avLst>
              <a:gd name="adj" fmla="val 4494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4531328"/>
            <a:ext cx="4704272" cy="186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GPT 프롬프트 예시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상세페이지 + 예시 이미지를 주면서 동일한 톤으로 리뷰 페이지 제작 요청</a:t>
            </a:r>
          </a:p>
          <a:p>
            <a:pPr marL="0" indent="0">
              <a:lnSpc>
                <a:spcPct val="140000"/>
              </a:lnSpc>
              <a:buNone/>
            </a:pP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GPT 예시: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chatgpt.com/c/6a47844f...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혜택 &amp; 전단지 발송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발송 시 전단지를 함께 보내서 고객의 리뷰 작성을 유도합니다.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2743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29000" y="1481328"/>
            <a:ext cx="8348472" cy="2395728"/>
          </a:xfrm>
          <a:prstGeom prst="roundRect">
            <a:avLst>
              <a:gd name="adj" fmla="val 305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593592" y="1627632"/>
            <a:ext cx="801928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593592" y="1627632"/>
            <a:ext cx="8019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전단지 제작 방법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93592" y="2121408"/>
            <a:ext cx="8019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타오바오에서 약 50위안에 500장 구매 가능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 판매자가 보내주는 링크에 전단지 PDF 파일 업로드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93592" y="3108960"/>
            <a:ext cx="8019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타오바오 구매 링크: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https://detail.tmall.com/item.htm?id=45525650293&amp;skuId=6026045792412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4005072"/>
            <a:ext cx="8348472" cy="1371600"/>
          </a:xfrm>
          <a:prstGeom prst="roundRect">
            <a:avLst>
              <a:gd name="adj" fmla="val 533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593592" y="4142232"/>
            <a:ext cx="8019288" cy="384048"/>
          </a:xfrm>
          <a:prstGeom prst="roundRect">
            <a:avLst>
              <a:gd name="adj" fmla="val 1190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593592" y="4142232"/>
            <a:ext cx="8019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작성 시 지급 포인트 (본인이 원하는 수준으로 설정)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93592" y="4599432"/>
            <a:ext cx="8019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포토리뷰:  </a:t>
            </a: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2,000원  </a:t>
            </a:r>
            <a:r>
              <a:rPr lang="en-US" sz="14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텍스트리뷰:  </a:t>
            </a: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1,000원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재고 등록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본인이 사용하는 배대지에서 재고신청 후, 상품 발송 시 전단지를 함께 등록합니다.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1481328"/>
            <a:ext cx="9144000" cy="1719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310128"/>
            <a:ext cx="11365992" cy="512064"/>
          </a:xfrm>
          <a:prstGeom prst="roundRect">
            <a:avLst>
              <a:gd name="adj" fmla="val 12500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33101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재고신청 시 수량은 반드시 500개로 신청하세요!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912464"/>
            <a:ext cx="2735890" cy="13700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7370" y="3912464"/>
            <a:ext cx="8203560" cy="1370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" y="5382464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94360" y="5382464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배대지로 전단지 배송 후 재고 신청하기를 통해 재고로 신청하면 재고목록 화면에서 재고수량이 채워진 걸 볼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신청 시 재고불러오기로 전단지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배송을 위한 배대지 신청 시, 재고불러오기 기능을 통해 재고로 등록된 전단지를 1장 추가하여 함께 등록합니다.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2159448"/>
            <a:ext cx="6850250" cy="275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1730" y="2159448"/>
            <a:ext cx="4144250" cy="275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sp>
        <p:nvSpPr>
          <p:cNvPr id="8" name="Shape 6"/>
          <p:cNvSpPr/>
          <p:nvPr/>
        </p:nvSpPr>
        <p:spPr>
          <a:xfrm>
            <a:off x="411480" y="5009448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50094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처음 진행 시 배대지에 카톡으로 안내 필요 - 세관 신고 시 팜플렛 제외하고 제품만 신고해 달라고 요청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리뷰 혜택 등록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스마트스토어에서 일괄로 리뷰 포인트를 설정합니다.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상품관리 &gt; 상품조회/수정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956816"/>
            <a:ext cx="13716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68880" y="1481328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468880" y="14813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상세검색 → 배송속성: 일반배송 + 1000개씩 검색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1956816"/>
            <a:ext cx="5029200" cy="1143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68880" y="3246120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2468880" y="32461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전체선택 → 일괄변경 → 구매/리뷰 혜택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68880" y="3703320"/>
            <a:ext cx="5029200" cy="18470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80960" y="1481328"/>
            <a:ext cx="4096512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7680960" y="14813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포인트 설정 후 변경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18120" y="1956816"/>
            <a:ext cx="3840480" cy="39502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1480" y="62910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594360" y="629107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텍스트/포토 리뷰 포인트는 전단지에 기재한 금액과 동일하게 세팅하세요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신청 시 재고불러오기로 전단지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배송을 위한 배대지 신청 시, 재고불러오기 기능으로 등록된 전단지를 1장 함께 추가합니다.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7416289" cy="49194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8240" y="1481328"/>
            <a:ext cx="2999232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778240" y="2103120"/>
            <a:ext cx="2999232" cy="4663440"/>
          </a:xfrm>
          <a:prstGeom prst="roundRect">
            <a:avLst>
              <a:gd name="adj" fmla="val 243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8915400" y="2176272"/>
            <a:ext cx="2724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재고불러오기
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발송 배대지 신청 시 [재고불러오기] 버튼을 클릭해 재고로 등록된 전단지를 1장 추가합니다.
</a:t>
            </a: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처음 진행 시 배대지에 카톡으로 안내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세관 신고 시 팜플렛 제외하고 제품만 신고해 달라고 요청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 제작 — GPT 프롬프트 활용법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유도를 위해 GPT를 활용하여 후킹 이미지를 제작하고 상세페이지 상단에 리뷰 이미지와 함께 추가합니다.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757" y="1397350"/>
            <a:ext cx="5886683" cy="53568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1481328"/>
            <a:ext cx="4736592" cy="3200400"/>
          </a:xfrm>
          <a:prstGeom prst="roundRect">
            <a:avLst>
              <a:gd name="adj" fmla="val 228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205472" y="1627632"/>
            <a:ext cx="440740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05472" y="16276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핵심 요소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05472" y="2157984"/>
            <a:ext cx="4407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20년차 시니어 카피라이터 역할 지정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유럽 감성 행잉 플래그 간판 상세페이지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유도할 수 있는 후킹 이미지 요청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마음을 건드리는 감성 문구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판매자를 어필할 수 있는 두 가지 내용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 860px / 문구 3개 제안 요청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40880" y="4828032"/>
            <a:ext cx="4736592" cy="475488"/>
          </a:xfrm>
          <a:prstGeom prst="roundRect">
            <a:avLst>
              <a:gd name="adj" fmla="val 961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205472" y="48280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프롬프트 예시: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https://chatgpt.com/share/6a47bd05-3024-83ee-a302-a5b6cb9ccd00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 결과물 — ChatGPT 생성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ChatGPT가 생성한 후킹 이미지 결과물입니다. 상세페이지 상단에 리뷰 이미지와 함께 배치합니다.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4005072" cy="5120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0872" y="1481328"/>
            <a:ext cx="4005072" cy="5120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869680" y="1481328"/>
            <a:ext cx="2816352" cy="5120640"/>
          </a:xfrm>
          <a:prstGeom prst="roundRect">
            <a:avLst>
              <a:gd name="adj" fmla="val 259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34272" y="1627632"/>
            <a:ext cx="248716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034272" y="162763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방법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34272" y="2157984"/>
            <a:ext cx="248716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이미지와 함께 상세페이지 상단에 배치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문구로 구매 욕구 자극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무제한으로 만족스러운 결과물 완성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링크/배너 — 실전 적용법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11365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안에 다른 상품으로 유도하는 URL을 넣는 두 가지 방법이 있습니다.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6072" y="1700784"/>
            <a:ext cx="5111496" cy="475488"/>
          </a:xfrm>
          <a:prstGeom prst="roundRect">
            <a:avLst>
              <a:gd name="adj" fmla="val 11538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76072" y="1700784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1  |  배너 이미지 + URL 연결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5029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이미지를 먼저 만든 후, 상품 URL 또는 검색결과 URL을 연결하는 방식
</a:t>
            </a:r>
            <a:r>
              <a:rPr lang="en-US" sz="1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불사자에서도 가능
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스마트스토어 상품 수정 화면의 스마트에디터에서 편집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1536192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11112" y="1700784"/>
            <a:ext cx="5111496" cy="475488"/>
          </a:xfrm>
          <a:prstGeom prst="roundRect">
            <a:avLst>
              <a:gd name="adj" fmla="val 11538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11112" y="1700784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2  |  위젯으로 상품 유도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2304288"/>
            <a:ext cx="52120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내 위젯을 삽입해 타깃 상품으로 자연스럽게 유도하는 방식
• 스마트에디터 위젯 기능 활용
• 이미지 없이도 상품 카드 형태로 노출 가능
• 설정이 간단하고 모바일에서도 잘 보임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7731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실전 활용 포인트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5257800"/>
            <a:ext cx="11365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유입용 저가 상품 상세페이지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마진 높은 메인 상품 배너 심기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문구 예시: "이 상품이 더 인기예요 👉", "함께 많이 찾는 상품"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유도하되 표기는 정직하게 — 거짓 할인·오해 유발 → 다크패턴 규제 대상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 만들기 — 예시 &amp; 제작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유입을 유도하는 배너 이미지 예시 3가지 — 이런 이미지를 만들어 상세페이지에 삽입합니다.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63040"/>
            <a:ext cx="3749040" cy="14813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24528" y="1463040"/>
            <a:ext cx="3749040" cy="14813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28432" y="1463040"/>
            <a:ext cx="3749040" cy="1481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1  사다리 상품 배너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22452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2  여름 시즌 배너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037576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3  인기상품 묶음 배너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11480" y="3456432"/>
            <a:ext cx="11365992" cy="36576"/>
          </a:xfrm>
          <a:prstGeom prst="roundRect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411480" y="3584448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배너 이미지 어떻게 만드나요? — </a:t>
            </a: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ChatGPT로 문구 + 이미지 동시 제작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11480" y="41330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ChatGPT에 제품 정보와 원하는 분위기를 알려주면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문구와 이미지를 함께 만들어 줍니다.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11480" y="4983480"/>
            <a:ext cx="7040880" cy="594360"/>
          </a:xfrm>
          <a:prstGeom prst="roundRect">
            <a:avLst>
              <a:gd name="adj" fmla="val 769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48640" y="4983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GPT 프롬프트 예시:  </a:t>
            </a:r>
            <a:r>
              <a:rPr lang="en-US" sz="115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https://chatgpt.com/c/6a476f76-db38-83e8-b38b-16a8ddf23cf2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98080" y="3456432"/>
            <a:ext cx="427939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ChatGPT가 만들어 준 배너 이미지 — 실제 결과물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유럽 감성 카페 간판 이미지를 요청했을 때 ChatGPT가 생성한 배너 결과물입니다.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044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663440"/>
            <a:ext cx="11365992" cy="457200"/>
          </a:xfrm>
          <a:prstGeom prst="roundRect">
            <a:avLst>
              <a:gd name="adj" fmla="val 100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배너 예시 상품:  </a:t>
            </a:r>
            <a:r>
              <a:rPr lang="en-US" sz="13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https://smartstore.naver.com/braveyong/products/13650813092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수정 페이지에서 스마트에디터로 상세페이지를 수정합니다.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922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5532120"/>
            <a:ext cx="11365992" cy="1051560"/>
          </a:xfrm>
          <a:prstGeom prst="roundRect">
            <a:avLst>
              <a:gd name="adj" fmla="val 695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55321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기존에 HTML로 작성된 상세페이지라면, 우측 하단의 [SmartEditor ONE으로 변환하기] 버튼을 클릭합니다.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 상단의 [사진] 버튼을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[내 사진] 버튼을 클릭한 후, 저장해 둔 배너 이미지를 선택합니다.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이미지가 상세페이지에 삽입된 것을 확인합니다.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0515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배너에 연결할 URL — 카테고리 URL 또는 키워드 검색결과 URL을 활용합니다.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048" y="1481328"/>
            <a:ext cx="7315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— '간판'으로 검색한 결과 URL을 복사합니다. ( smartstore.naver.com/braveyong/search?q=간판 )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481328"/>
            <a:ext cx="8686800" cy="47731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스마트에디터에서 배너 이미지를 선택 → 링크 버튼 클릭 → 복사한 URL을 붙여넣습니다.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0515600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8  완료!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상세페이지 안에 배너가 성공적으로 삽입됐습니다.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" y="1481328"/>
            <a:ext cx="91440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309360"/>
            <a:ext cx="11365992" cy="365760"/>
          </a:xfrm>
          <a:prstGeom prst="roundRect">
            <a:avLst>
              <a:gd name="adj" fmla="val 125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배너 예시 상품: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https://smartstore.naver.com/braveyong/products/13650813092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수정 페이지에서 스마트에디터로 상세페이지를 수정합니다.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922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5532120"/>
            <a:ext cx="11365992" cy="1051560"/>
          </a:xfrm>
          <a:prstGeom prst="roundRect">
            <a:avLst>
              <a:gd name="adj" fmla="val 695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55321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배너(이미지)가 아닌 위젯(텍스트 상품 카드)으로 내부 유입을 만드는 방법입니다.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위에 클릭을 유도하는 문구를 먼저 작성합니다.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048" y="1481328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유도 문구 예시 모음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위에 넣는 클릭 유도 문구 — 상황에 맞게 골라서 사용하세요.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↓↓↓  옵션목록에 없는 상품 구매하기  ↓↓↓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130552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이 상품도 같이 보셨나요?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752344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이걸 찾으시는 분들이 많아요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3374136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3741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품절 전에 확인하세요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3995928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995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👇  함께 구매하면 더 좋은 상품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4617720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  사이즈가 고민되신다면? 여기서 확인하세요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5239512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52395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더 크고 작은 사이즈도 있어요 → 클릭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1480" y="5861304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58613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원하는 사이즈가 없으신가요? 여기 있습니다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 우측 상단의 [글감] 버튼을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검색창에서 [쇼핑] 글감 아이콘을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위젯을 넣고 싶은 상품의 상품명 + 마켓명을 함께 입력해서 검색합니다.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236208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236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마켓명 없이 검색하면 연관 상품이 많이 뜹니다. 반드시 상품명 + 마켓명을 함께 입력하세요!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6  완료!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위젯이 상세페이지에 삽입됐습니다. [등록] 버튼을 눌러 상품 수정을 완료합니다.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236208"/>
            <a:ext cx="11365992" cy="457200"/>
          </a:xfrm>
          <a:prstGeom prst="roundRect">
            <a:avLst>
              <a:gd name="adj" fmla="val 100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236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위젯 예시 상품: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https://smartstore.naver.com/braveyong/products/13650791367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566928" cy="566928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및 실습 시간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48056" y="1005840"/>
            <a:ext cx="11365992" cy="5394960"/>
          </a:xfrm>
          <a:prstGeom prst="roundRect">
            <a:avLst>
              <a:gd name="adj" fmla="val 203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335024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335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5024" y="1316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5024" y="175564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판매분석 화면 </a:t>
            </a:r>
            <a:r>
              <a:rPr lang="en-US" sz="140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</a:t>
            </a:r>
            <a:r>
              <a:rPr lang="ko-KR" alt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해보기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523744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5024" y="2505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5024" y="29443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스토어 TOP 상품 1개 — 유입·페이지뷰·전환율 진단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712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5024" y="36941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5024" y="413308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판매된 상품 1개 — 가격비교 속성 확인 후 전부 입력 + 마누태그 채우기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901184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4901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5024" y="48828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35024" y="532180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강의 내용 중 </a:t>
            </a:r>
            <a:r>
              <a:rPr lang="en-US" sz="1400" dirty="0" err="1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궁금한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2951</Words>
  <Application>Microsoft Office PowerPoint</Application>
  <PresentationFormat>와이드스크린</PresentationFormat>
  <Paragraphs>474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용감한 용팀장 실전반 1기 4주차</dc:title>
  <dc:subject>PptxGenJS Presentation</dc:subject>
  <dc:creator>PptxGenJS</dc:creator>
  <cp:lastModifiedBy>용 최</cp:lastModifiedBy>
  <cp:revision>1</cp:revision>
  <dcterms:created xsi:type="dcterms:W3CDTF">2026-07-03T14:40:00Z</dcterms:created>
  <dcterms:modified xsi:type="dcterms:W3CDTF">2026-07-03T15:40:21Z</dcterms:modified>
</cp:coreProperties>
</file>