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90" r:id="rId6"/>
    <p:sldId id="291" r:id="rId7"/>
    <p:sldId id="292" r:id="rId8"/>
    <p:sldId id="261" r:id="rId9"/>
    <p:sldId id="262" r:id="rId10"/>
    <p:sldId id="263" r:id="rId11"/>
    <p:sldId id="264" r:id="rId12"/>
    <p:sldId id="265" r:id="rId13"/>
    <p:sldId id="293" r:id="rId14"/>
    <p:sldId id="266" r:id="rId15"/>
    <p:sldId id="279" r:id="rId16"/>
    <p:sldId id="280" r:id="rId17"/>
    <p:sldId id="267" r:id="rId18"/>
    <p:sldId id="281" r:id="rId19"/>
    <p:sldId id="282" r:id="rId20"/>
    <p:sldId id="283" r:id="rId21"/>
    <p:sldId id="268" r:id="rId22"/>
    <p:sldId id="286" r:id="rId23"/>
    <p:sldId id="287" r:id="rId24"/>
    <p:sldId id="288" r:id="rId25"/>
    <p:sldId id="289" r:id="rId26"/>
    <p:sldId id="284" r:id="rId27"/>
    <p:sldId id="285" r:id="rId28"/>
    <p:sldId id="269" r:id="rId2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0A9A2"/>
    <a:srgbClr val="1416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79F4A5-90E7-4A7D-BC91-626C0EF59D65}" v="2" dt="2026-06-12T12:25:48.8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73455" autoAdjust="0"/>
  </p:normalViewPr>
  <p:slideViewPr>
    <p:cSldViewPr snapToGrid="0" snapToObjects="1">
      <p:cViewPr varScale="1">
        <p:scale>
          <a:sx n="81" d="100"/>
          <a:sy n="81" d="100"/>
        </p:scale>
        <p:origin x="171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용 최" userId="1589a7fea772e98f" providerId="LiveId" clId="{2278AE4D-1D9B-403D-98CE-CD0A01F10ABE}"/>
    <pc:docChg chg="delSld modSld">
      <pc:chgData name="용 최" userId="1589a7fea772e98f" providerId="LiveId" clId="{2278AE4D-1D9B-403D-98CE-CD0A01F10ABE}" dt="2026-06-12T15:17:21.823" v="30" actId="20577"/>
      <pc:docMkLst>
        <pc:docMk/>
      </pc:docMkLst>
      <pc:sldChg chg="modSp mod">
        <pc:chgData name="용 최" userId="1589a7fea772e98f" providerId="LiveId" clId="{2278AE4D-1D9B-403D-98CE-CD0A01F10ABE}" dt="2026-06-12T15:17:21.823" v="30" actId="20577"/>
        <pc:sldMkLst>
          <pc:docMk/>
          <pc:sldMk cId="0" sldId="267"/>
        </pc:sldMkLst>
        <pc:spChg chg="mod">
          <ac:chgData name="용 최" userId="1589a7fea772e98f" providerId="LiveId" clId="{2278AE4D-1D9B-403D-98CE-CD0A01F10ABE}" dt="2026-06-12T15:17:21.823" v="30" actId="20577"/>
          <ac:spMkLst>
            <pc:docMk/>
            <pc:sldMk cId="0" sldId="267"/>
            <ac:spMk id="23" creationId="{00000000-0000-0000-0000-000000000000}"/>
          </ac:spMkLst>
        </pc:spChg>
      </pc:sldChg>
      <pc:sldChg chg="del">
        <pc:chgData name="용 최" userId="1589a7fea772e98f" providerId="LiveId" clId="{2278AE4D-1D9B-403D-98CE-CD0A01F10ABE}" dt="2026-06-12T15:14:52.717" v="0" actId="47"/>
        <pc:sldMkLst>
          <pc:docMk/>
          <pc:sldMk cId="0" sldId="294"/>
        </pc:sldMkLst>
      </pc:sldChg>
    </pc:docChg>
  </pc:docChgLst>
  <pc:docChgLst>
    <pc:chgData name="용 최" userId="1589a7fea772e98f" providerId="LiveId" clId="{465AE703-AA2D-495B-8FBD-D8E5CDCF7249}"/>
    <pc:docChg chg="delSld modSld">
      <pc:chgData name="용 최" userId="1589a7fea772e98f" providerId="LiveId" clId="{465AE703-AA2D-495B-8FBD-D8E5CDCF7249}" dt="2026-06-12T12:26:00.571" v="182" actId="6549"/>
      <pc:docMkLst>
        <pc:docMk/>
      </pc:docMkLst>
      <pc:sldChg chg="del">
        <pc:chgData name="용 최" userId="1589a7fea772e98f" providerId="LiveId" clId="{465AE703-AA2D-495B-8FBD-D8E5CDCF7249}" dt="2026-06-12T12:24:50.160" v="1" actId="47"/>
        <pc:sldMkLst>
          <pc:docMk/>
          <pc:sldMk cId="0" sldId="270"/>
        </pc:sldMkLst>
      </pc:sldChg>
      <pc:sldChg chg="del">
        <pc:chgData name="용 최" userId="1589a7fea772e98f" providerId="LiveId" clId="{465AE703-AA2D-495B-8FBD-D8E5CDCF7249}" dt="2026-06-12T12:24:48.164" v="0" actId="47"/>
        <pc:sldMkLst>
          <pc:docMk/>
          <pc:sldMk cId="0" sldId="271"/>
        </pc:sldMkLst>
      </pc:sldChg>
      <pc:sldChg chg="del">
        <pc:chgData name="용 최" userId="1589a7fea772e98f" providerId="LiveId" clId="{465AE703-AA2D-495B-8FBD-D8E5CDCF7249}" dt="2026-06-12T12:24:48.164" v="0" actId="47"/>
        <pc:sldMkLst>
          <pc:docMk/>
          <pc:sldMk cId="0" sldId="272"/>
        </pc:sldMkLst>
      </pc:sldChg>
      <pc:sldChg chg="del">
        <pc:chgData name="용 최" userId="1589a7fea772e98f" providerId="LiveId" clId="{465AE703-AA2D-495B-8FBD-D8E5CDCF7249}" dt="2026-06-12T12:24:48.164" v="0" actId="47"/>
        <pc:sldMkLst>
          <pc:docMk/>
          <pc:sldMk cId="0" sldId="273"/>
        </pc:sldMkLst>
      </pc:sldChg>
      <pc:sldChg chg="del">
        <pc:chgData name="용 최" userId="1589a7fea772e98f" providerId="LiveId" clId="{465AE703-AA2D-495B-8FBD-D8E5CDCF7249}" dt="2026-06-12T12:24:48.164" v="0" actId="47"/>
        <pc:sldMkLst>
          <pc:docMk/>
          <pc:sldMk cId="0" sldId="274"/>
        </pc:sldMkLst>
      </pc:sldChg>
      <pc:sldChg chg="del">
        <pc:chgData name="용 최" userId="1589a7fea772e98f" providerId="LiveId" clId="{465AE703-AA2D-495B-8FBD-D8E5CDCF7249}" dt="2026-06-12T12:24:48.164" v="0" actId="47"/>
        <pc:sldMkLst>
          <pc:docMk/>
          <pc:sldMk cId="0" sldId="275"/>
        </pc:sldMkLst>
      </pc:sldChg>
      <pc:sldChg chg="del">
        <pc:chgData name="용 최" userId="1589a7fea772e98f" providerId="LiveId" clId="{465AE703-AA2D-495B-8FBD-D8E5CDCF7249}" dt="2026-06-12T12:24:48.164" v="0" actId="47"/>
        <pc:sldMkLst>
          <pc:docMk/>
          <pc:sldMk cId="0" sldId="276"/>
        </pc:sldMkLst>
      </pc:sldChg>
      <pc:sldChg chg="del">
        <pc:chgData name="용 최" userId="1589a7fea772e98f" providerId="LiveId" clId="{465AE703-AA2D-495B-8FBD-D8E5CDCF7249}" dt="2026-06-12T12:24:48.164" v="0" actId="47"/>
        <pc:sldMkLst>
          <pc:docMk/>
          <pc:sldMk cId="0" sldId="277"/>
        </pc:sldMkLst>
      </pc:sldChg>
      <pc:sldChg chg="del">
        <pc:chgData name="용 최" userId="1589a7fea772e98f" providerId="LiveId" clId="{465AE703-AA2D-495B-8FBD-D8E5CDCF7249}" dt="2026-06-12T12:24:48.164" v="0" actId="47"/>
        <pc:sldMkLst>
          <pc:docMk/>
          <pc:sldMk cId="0" sldId="278"/>
        </pc:sldMkLst>
      </pc:sldChg>
      <pc:sldChg chg="modNotesTx">
        <pc:chgData name="용 최" userId="1589a7fea772e98f" providerId="LiveId" clId="{465AE703-AA2D-495B-8FBD-D8E5CDCF7249}" dt="2026-06-12T12:26:00.571" v="182" actId="6549"/>
        <pc:sldMkLst>
          <pc:docMk/>
          <pc:sldMk cId="3993701726" sldId="28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97318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알려드리는 필터 기준은 절대적인 기준은 아님</a:t>
            </a:r>
            <a:endParaRPr lang="en-US" altLang="ko-KR" dirty="0"/>
          </a:p>
          <a:p>
            <a:endParaRPr lang="en-US" dirty="0"/>
          </a:p>
          <a:p>
            <a:r>
              <a:rPr lang="ko-KR" altLang="en-US" dirty="0"/>
              <a:t>원리를 이해해야 하는데</a:t>
            </a:r>
            <a:r>
              <a:rPr lang="en-US" altLang="ko-KR" dirty="0"/>
              <a:t>,</a:t>
            </a:r>
          </a:p>
          <a:p>
            <a:endParaRPr lang="en-US" altLang="ko-KR" dirty="0"/>
          </a:p>
          <a:p>
            <a:r>
              <a:rPr lang="ko-KR" altLang="en-US" dirty="0"/>
              <a:t>해당 키워드로 현재 등록되어 있는 상품수가 작을수록</a:t>
            </a:r>
            <a:endParaRPr lang="en-US" altLang="ko-KR" dirty="0"/>
          </a:p>
          <a:p>
            <a:r>
              <a:rPr lang="ko-KR" altLang="en-US" dirty="0"/>
              <a:t>상위 노출에 유리하고</a:t>
            </a:r>
            <a:r>
              <a:rPr lang="en-US" altLang="ko-KR" dirty="0"/>
              <a:t>,</a:t>
            </a:r>
          </a:p>
          <a:p>
            <a:endParaRPr lang="en-US" altLang="ko-KR" dirty="0"/>
          </a:p>
          <a:p>
            <a:r>
              <a:rPr lang="ko-KR" altLang="en-US" dirty="0"/>
              <a:t>해외배송 비율이 높을수록 국내 상품이 적어지니까 해외 상품들과 경쟁할 수 있고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검색 노출을 늘리고 싶으면 </a:t>
            </a:r>
            <a:r>
              <a:rPr lang="ko-KR" altLang="en-US" dirty="0" err="1"/>
              <a:t>검색량을</a:t>
            </a:r>
            <a:r>
              <a:rPr lang="ko-KR" altLang="en-US" dirty="0"/>
              <a:t> </a:t>
            </a:r>
            <a:r>
              <a:rPr lang="en-US" altLang="ko-KR" dirty="0"/>
              <a:t>100~200 </a:t>
            </a:r>
            <a:r>
              <a:rPr lang="ko-KR" altLang="en-US" dirty="0"/>
              <a:t>이상 등으로 올려보는 등으로</a:t>
            </a:r>
            <a:r>
              <a:rPr lang="en-US" altLang="ko-KR" dirty="0"/>
              <a:t> </a:t>
            </a:r>
            <a:r>
              <a:rPr lang="ko-KR" altLang="en-US" dirty="0"/>
              <a:t>조정하면서</a:t>
            </a:r>
            <a:endParaRPr lang="en-US" altLang="ko-KR" dirty="0"/>
          </a:p>
          <a:p>
            <a:r>
              <a:rPr lang="ko-KR" altLang="en-US" dirty="0"/>
              <a:t>좋은 상품을 찾아보면 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네이버 가격비교에서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 err="1"/>
              <a:t>화장대겸컴퓨터책상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검색해보면</a:t>
            </a:r>
            <a:r>
              <a:rPr lang="en-US" altLang="ko-KR" dirty="0"/>
              <a:t>,</a:t>
            </a:r>
          </a:p>
          <a:p>
            <a:r>
              <a:rPr lang="en-US" altLang="ko-KR" dirty="0"/>
              <a:t>1</a:t>
            </a:r>
            <a:r>
              <a:rPr lang="ko-KR" altLang="en-US" dirty="0"/>
              <a:t>페이지 </a:t>
            </a:r>
            <a:r>
              <a:rPr lang="en-US" altLang="ko-KR" dirty="0"/>
              <a:t>40</a:t>
            </a:r>
            <a:r>
              <a:rPr lang="ko-KR" altLang="en-US" dirty="0"/>
              <a:t>개 중 </a:t>
            </a:r>
            <a:r>
              <a:rPr lang="en-US" altLang="ko-KR" dirty="0"/>
              <a:t>22</a:t>
            </a:r>
            <a:r>
              <a:rPr lang="ko-KR" altLang="en-US" dirty="0"/>
              <a:t>개가 해외 상품임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진짜 이 키워드와 동일한 상품을 </a:t>
            </a:r>
            <a:r>
              <a:rPr lang="ko-KR" altLang="en-US" dirty="0" err="1"/>
              <a:t>파는게</a:t>
            </a:r>
            <a:r>
              <a:rPr lang="ko-KR" altLang="en-US" dirty="0"/>
              <a:t> </a:t>
            </a:r>
            <a:r>
              <a:rPr lang="ko-KR" altLang="en-US" dirty="0" err="1"/>
              <a:t>중요한게</a:t>
            </a:r>
            <a:r>
              <a:rPr lang="ko-KR" altLang="en-US" dirty="0"/>
              <a:t> 아니고</a:t>
            </a:r>
            <a:endParaRPr lang="en-US" altLang="ko-KR" dirty="0"/>
          </a:p>
          <a:p>
            <a:r>
              <a:rPr lang="ko-KR" altLang="en-US" dirty="0"/>
              <a:t>키워드와 </a:t>
            </a:r>
            <a:r>
              <a:rPr lang="ko-KR" altLang="en-US" dirty="0" err="1"/>
              <a:t>쪼금</a:t>
            </a:r>
            <a:r>
              <a:rPr lang="ko-KR" altLang="en-US" dirty="0"/>
              <a:t> 다르더라도</a:t>
            </a:r>
            <a:r>
              <a:rPr lang="en-US" altLang="ko-KR" dirty="0"/>
              <a:t>, </a:t>
            </a:r>
            <a:r>
              <a:rPr lang="ko-KR" altLang="en-US" dirty="0"/>
              <a:t>이 키워드로 검색했을 때</a:t>
            </a:r>
            <a:r>
              <a:rPr lang="en-US" altLang="ko-KR" dirty="0"/>
              <a:t>, </a:t>
            </a:r>
            <a:r>
              <a:rPr lang="ko-KR" altLang="en-US" dirty="0"/>
              <a:t>내 상품이 뜨게 </a:t>
            </a:r>
            <a:r>
              <a:rPr lang="ko-KR" altLang="en-US" dirty="0" err="1"/>
              <a:t>하는게</a:t>
            </a:r>
            <a:r>
              <a:rPr lang="ko-KR" altLang="en-US" dirty="0"/>
              <a:t> 중요</a:t>
            </a:r>
            <a:endParaRPr lang="en-US" altLang="ko-KR" dirty="0"/>
          </a:p>
          <a:p>
            <a:endParaRPr lang="en-US" altLang="ko-KR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65367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dirty="0" err="1"/>
              <a:t>화장대겸컴퓨터책상</a:t>
            </a:r>
            <a:r>
              <a:rPr lang="ko-KR" altLang="ko-KR" dirty="0"/>
              <a:t> 이 키워드를 </a:t>
            </a:r>
            <a:r>
              <a:rPr lang="ko-KR" altLang="ko-KR" dirty="0" err="1"/>
              <a:t>타오바오에서</a:t>
            </a:r>
            <a:r>
              <a:rPr lang="ko-KR" altLang="ko-KR" dirty="0"/>
              <a:t> 검색하고 싶어 검색어 3개 제안해줘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ko-KR" dirty="0"/>
              <a:t>梳妆台书桌一体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29270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내가 찾은 키워드는 </a:t>
            </a:r>
            <a:r>
              <a:rPr lang="en-US" altLang="ko-KR" dirty="0"/>
              <a:t>‘</a:t>
            </a:r>
            <a:r>
              <a:rPr lang="ko-KR" altLang="en-US" dirty="0"/>
              <a:t>화장대 겸 컴퓨터 책상</a:t>
            </a:r>
            <a:r>
              <a:rPr lang="en-US" altLang="ko-KR" dirty="0"/>
              <a:t>’ </a:t>
            </a:r>
            <a:r>
              <a:rPr lang="ko-KR" altLang="en-US" dirty="0"/>
              <a:t>이지만</a:t>
            </a:r>
            <a:r>
              <a:rPr lang="en-US" altLang="ko-KR" dirty="0"/>
              <a:t>,</a:t>
            </a:r>
          </a:p>
          <a:p>
            <a:r>
              <a:rPr lang="ko-KR" altLang="en-US" dirty="0"/>
              <a:t>그 키워드로 검색했을 때에는 </a:t>
            </a:r>
            <a:r>
              <a:rPr lang="en-US" altLang="ko-KR" dirty="0"/>
              <a:t>‘</a:t>
            </a:r>
            <a:r>
              <a:rPr lang="ko-KR" altLang="en-US" dirty="0"/>
              <a:t>일반화장대</a:t>
            </a:r>
            <a:r>
              <a:rPr lang="en-US" altLang="ko-KR" dirty="0"/>
              <a:t>’ </a:t>
            </a:r>
            <a:r>
              <a:rPr lang="ko-KR" altLang="en-US" dirty="0"/>
              <a:t>카테고리가 노출되고 있음</a:t>
            </a:r>
            <a:endParaRPr lang="en-US" altLang="ko-KR" dirty="0"/>
          </a:p>
          <a:p>
            <a:r>
              <a:rPr lang="ko-KR" altLang="en-US" dirty="0"/>
              <a:t>그러면 </a:t>
            </a:r>
            <a:r>
              <a:rPr lang="en-US" altLang="ko-KR" dirty="0"/>
              <a:t>‘</a:t>
            </a:r>
            <a:r>
              <a:rPr lang="ko-KR" altLang="en-US" dirty="0"/>
              <a:t>일반화장대</a:t>
            </a:r>
            <a:r>
              <a:rPr lang="en-US" altLang="ko-KR" dirty="0"/>
              <a:t>’</a:t>
            </a:r>
            <a:r>
              <a:rPr lang="ko-KR" altLang="en-US" dirty="0"/>
              <a:t> 카테고리 상품명을 만들어야 내 키워드가 모두 노출됨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09898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dirty="0"/>
          </a:p>
          <a:p>
            <a:r>
              <a:rPr lang="en-US" dirty="0"/>
              <a:t>1200 </a:t>
            </a:r>
            <a:r>
              <a:rPr lang="ko-KR" altLang="en-US" dirty="0"/>
              <a:t>화장대</a:t>
            </a:r>
            <a:endParaRPr lang="en-US" altLang="ko-KR" dirty="0"/>
          </a:p>
          <a:p>
            <a:r>
              <a:rPr lang="en-US" dirty="0"/>
              <a:t>1200 </a:t>
            </a:r>
            <a:r>
              <a:rPr lang="ko-KR" altLang="en-US" dirty="0"/>
              <a:t>화장대 </a:t>
            </a:r>
            <a:r>
              <a:rPr lang="en-US" altLang="ko-KR" dirty="0"/>
              <a:t>– </a:t>
            </a:r>
            <a:r>
              <a:rPr lang="ko-KR" altLang="en-US" dirty="0"/>
              <a:t>업그레이드형</a:t>
            </a:r>
            <a:endParaRPr lang="en-US" altLang="ko-KR" dirty="0"/>
          </a:p>
          <a:p>
            <a:endParaRPr lang="en-US" dirty="0"/>
          </a:p>
          <a:p>
            <a:r>
              <a:rPr lang="ko-KR" altLang="en-US" dirty="0"/>
              <a:t>입식 미니화장대</a:t>
            </a:r>
            <a:endParaRPr lang="en-US" altLang="ko-KR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80822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dirty="0"/>
          </a:p>
          <a:p>
            <a:r>
              <a:rPr lang="en-US" dirty="0"/>
              <a:t>1200 </a:t>
            </a:r>
            <a:r>
              <a:rPr lang="ko-KR" altLang="en-US" dirty="0"/>
              <a:t>화장대</a:t>
            </a:r>
            <a:endParaRPr lang="en-US" altLang="ko-KR" dirty="0"/>
          </a:p>
          <a:p>
            <a:r>
              <a:rPr lang="en-US" dirty="0"/>
              <a:t>1200 </a:t>
            </a:r>
            <a:r>
              <a:rPr lang="ko-KR" altLang="en-US" dirty="0"/>
              <a:t>화장대 </a:t>
            </a:r>
            <a:r>
              <a:rPr lang="en-US" altLang="ko-KR" dirty="0"/>
              <a:t>– </a:t>
            </a:r>
            <a:r>
              <a:rPr lang="ko-KR" altLang="en-US" dirty="0"/>
              <a:t>업그레이드형</a:t>
            </a:r>
            <a:endParaRPr lang="en-US" altLang="ko-KR" dirty="0"/>
          </a:p>
          <a:p>
            <a:endParaRPr lang="en-US" dirty="0"/>
          </a:p>
          <a:p>
            <a:r>
              <a:rPr lang="ko-KR" altLang="en-US" dirty="0"/>
              <a:t>입식 미니화장대</a:t>
            </a:r>
            <a:endParaRPr lang="en-US" altLang="ko-KR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70350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‘</a:t>
            </a:r>
            <a:r>
              <a:rPr lang="ko-KR" altLang="en-US" dirty="0" err="1"/>
              <a:t>서랍장겸화장대</a:t>
            </a:r>
            <a:r>
              <a:rPr lang="en-US" altLang="ko-KR" dirty="0"/>
              <a:t>’ </a:t>
            </a:r>
            <a:r>
              <a:rPr lang="ko-KR" altLang="en-US" dirty="0"/>
              <a:t>키워드가 등록 </a:t>
            </a:r>
            <a:r>
              <a:rPr lang="ko-KR" altLang="en-US" dirty="0" err="1"/>
              <a:t>상품수</a:t>
            </a:r>
            <a:r>
              <a:rPr lang="ko-KR" altLang="en-US" dirty="0"/>
              <a:t> </a:t>
            </a:r>
            <a:r>
              <a:rPr lang="en-US" altLang="ko-KR" dirty="0"/>
              <a:t>9,500</a:t>
            </a:r>
            <a:r>
              <a:rPr lang="ko-KR" altLang="en-US" dirty="0"/>
              <a:t>이라</a:t>
            </a:r>
            <a:r>
              <a:rPr lang="en-US" altLang="ko-KR" dirty="0"/>
              <a:t>, </a:t>
            </a:r>
            <a:r>
              <a:rPr lang="ko-KR" altLang="en-US" dirty="0"/>
              <a:t>이 키워드로 최적 </a:t>
            </a:r>
            <a:r>
              <a:rPr lang="ko-KR" altLang="en-US" dirty="0" err="1"/>
              <a:t>텀카운트</a:t>
            </a:r>
            <a:r>
              <a:rPr lang="ko-KR" altLang="en-US" dirty="0"/>
              <a:t> 찾기 테스트 시작</a:t>
            </a:r>
            <a:r>
              <a:rPr lang="en-US" altLang="ko-KR" dirty="0"/>
              <a:t>!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혹시 </a:t>
            </a:r>
            <a:r>
              <a:rPr lang="en-US" altLang="ko-KR" dirty="0"/>
              <a:t>4~500</a:t>
            </a:r>
            <a:r>
              <a:rPr lang="ko-KR" altLang="en-US" dirty="0"/>
              <a:t>위가 </a:t>
            </a:r>
            <a:r>
              <a:rPr lang="ko-KR" altLang="en-US" dirty="0" err="1"/>
              <a:t>안나오면</a:t>
            </a:r>
            <a:r>
              <a:rPr lang="en-US" altLang="ko-KR" dirty="0"/>
              <a:t>, </a:t>
            </a:r>
            <a:r>
              <a:rPr lang="ko-KR" altLang="en-US" dirty="0"/>
              <a:t>다른 키워드 찾아보기</a:t>
            </a:r>
            <a:br>
              <a:rPr lang="en-US" altLang="ko-KR" dirty="0"/>
            </a:br>
            <a:endParaRPr lang="en-US" altLang="ko-KR" dirty="0"/>
          </a:p>
          <a:p>
            <a:r>
              <a:rPr lang="ko-KR" altLang="en-US" dirty="0"/>
              <a:t>실제로 테스트 결과 </a:t>
            </a:r>
            <a:r>
              <a:rPr lang="en-US" altLang="ko-KR" dirty="0"/>
              <a:t>189</a:t>
            </a:r>
            <a:r>
              <a:rPr lang="ko-KR" altLang="en-US" dirty="0"/>
              <a:t>위가 나와서</a:t>
            </a:r>
            <a:endParaRPr lang="en-US" altLang="ko-KR" dirty="0"/>
          </a:p>
          <a:p>
            <a:r>
              <a:rPr lang="ko-KR" altLang="en-US" dirty="0"/>
              <a:t>등록 상품 수 높은 키워드로 다시 테스트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1.5</a:t>
            </a:r>
            <a:r>
              <a:rPr lang="ko-KR" altLang="en-US" dirty="0"/>
              <a:t>만개 정도로 해보기</a:t>
            </a:r>
            <a:r>
              <a:rPr lang="en-US" altLang="ko-KR" dirty="0"/>
              <a:t>!</a:t>
            </a:r>
          </a:p>
          <a:p>
            <a:endParaRPr lang="en-US" altLang="ko-KR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50245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‘</a:t>
            </a:r>
            <a:r>
              <a:rPr lang="ko-KR" altLang="en-US" dirty="0" err="1"/>
              <a:t>서랍장겸화장대</a:t>
            </a:r>
            <a:r>
              <a:rPr lang="en-US" altLang="ko-KR" dirty="0"/>
              <a:t>’ </a:t>
            </a:r>
            <a:r>
              <a:rPr lang="ko-KR" altLang="en-US" dirty="0"/>
              <a:t>키워드가 등록 </a:t>
            </a:r>
            <a:r>
              <a:rPr lang="ko-KR" altLang="en-US" dirty="0" err="1"/>
              <a:t>상품수</a:t>
            </a:r>
            <a:r>
              <a:rPr lang="ko-KR" altLang="en-US" dirty="0"/>
              <a:t> </a:t>
            </a:r>
            <a:r>
              <a:rPr lang="en-US" altLang="ko-KR" dirty="0"/>
              <a:t>9,500</a:t>
            </a:r>
            <a:r>
              <a:rPr lang="ko-KR" altLang="en-US" dirty="0"/>
              <a:t>이라</a:t>
            </a:r>
            <a:r>
              <a:rPr lang="en-US" altLang="ko-KR" dirty="0"/>
              <a:t>, </a:t>
            </a:r>
            <a:r>
              <a:rPr lang="ko-KR" altLang="en-US" dirty="0"/>
              <a:t>이 키워드로 최적 </a:t>
            </a:r>
            <a:r>
              <a:rPr lang="ko-KR" altLang="en-US" dirty="0" err="1"/>
              <a:t>텀카운트</a:t>
            </a:r>
            <a:r>
              <a:rPr lang="ko-KR" altLang="en-US" dirty="0"/>
              <a:t> 찾기 테스트 시작</a:t>
            </a:r>
            <a:r>
              <a:rPr lang="en-US" altLang="ko-KR" dirty="0"/>
              <a:t>!</a:t>
            </a:r>
          </a:p>
          <a:p>
            <a:endParaRPr lang="en-US" altLang="ko-KR" dirty="0"/>
          </a:p>
          <a:p>
            <a:r>
              <a:rPr lang="ko-KR" altLang="en-US" dirty="0"/>
              <a:t>혹시 </a:t>
            </a:r>
            <a:r>
              <a:rPr lang="en-US" altLang="ko-KR" dirty="0"/>
              <a:t>4~500</a:t>
            </a:r>
            <a:r>
              <a:rPr lang="ko-KR" altLang="en-US" dirty="0"/>
              <a:t>위가 </a:t>
            </a:r>
            <a:r>
              <a:rPr lang="ko-KR" altLang="en-US" dirty="0" err="1"/>
              <a:t>안나오면</a:t>
            </a:r>
            <a:r>
              <a:rPr lang="en-US" altLang="ko-KR" dirty="0"/>
              <a:t>, </a:t>
            </a:r>
            <a:r>
              <a:rPr lang="ko-KR" altLang="en-US" dirty="0"/>
              <a:t>다른 키워드 찾아보기</a:t>
            </a:r>
            <a:endParaRPr lang="en-US" altLang="ko-KR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80138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svg"/><Relationship Id="rId5" Type="http://schemas.openxmlformats.org/officeDocument/2006/relationships/hyperlink" Target="https://docs.google.com/spreadsheets/d/1bkRcJfR2hpOFgNEpZPygNCaajEkDINnm8TArzp7-EC4/edit?gid=948983593#gid=948983593" TargetMode="External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svg"/><Relationship Id="rId5" Type="http://schemas.openxmlformats.org/officeDocument/2006/relationships/hyperlink" Target="https://docs.google.com/spreadsheets/d/1bkRcJfR2hpOFgNEpZPygNCaajEkDINnm8TArzp7-EC4/edit?gid=948983593#gid=948983593" TargetMode="External"/><Relationship Id="rId4" Type="http://schemas.openxmlformats.org/officeDocument/2006/relationships/image" Target="../media/image1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920240"/>
            <a:ext cx="4937760" cy="4937760"/>
          </a:xfrm>
          <a:prstGeom prst="ellipse">
            <a:avLst/>
          </a:prstGeom>
          <a:solidFill>
            <a:srgbClr val="A33C4E">
              <a:alpha val="16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10607040" y="4297680"/>
            <a:ext cx="3108960" cy="3108960"/>
          </a:xfrm>
          <a:prstGeom prst="ellipse">
            <a:avLst/>
          </a:prstGeom>
          <a:solidFill>
            <a:srgbClr val="A33C4E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77240" y="1417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00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네이버 1페이지 점령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9144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6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1주차</a:t>
            </a:r>
            <a:endParaRPr lang="en-US" sz="9600" dirty="0"/>
          </a:p>
        </p:txBody>
      </p:sp>
      <p:sp>
        <p:nvSpPr>
          <p:cNvPr id="6" name="Text 4"/>
          <p:cNvSpPr/>
          <p:nvPr/>
        </p:nvSpPr>
        <p:spPr>
          <a:xfrm>
            <a:off x="777240" y="34290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규정 이해부터 1페이지 진입까지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77240" y="43434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989A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규정  ▸  소싱  ▸  상품명  ▸  텀카운트 최적화  ▸  순위 추적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5989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용감한 용팀장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1주차 한눈에 보기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220724" y="1965960"/>
            <a:ext cx="868680" cy="868680"/>
          </a:xfrm>
          <a:prstGeom prst="ellipse">
            <a:avLst/>
          </a:prstGeom>
          <a:solidFill>
            <a:srgbClr val="A33C4E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1220724" y="19659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2971800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네이버 규정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3474720"/>
            <a:ext cx="2029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89A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규정을 '무기'로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89A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매출 최적화</a:t>
            </a:r>
            <a:endParaRPr lang="en-US" sz="1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5184" y="2253996"/>
            <a:ext cx="292608" cy="29260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433572" y="1965960"/>
            <a:ext cx="868680" cy="868680"/>
          </a:xfrm>
          <a:prstGeom prst="ellipse">
            <a:avLst/>
          </a:prstGeom>
          <a:solidFill>
            <a:srgbClr val="A33C4E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3433572" y="19659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2852928" y="2971800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소싱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2852928" y="3474720"/>
            <a:ext cx="2029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89A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팔릴 상품을 찾아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89A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효자상품으로</a:t>
            </a:r>
            <a:endParaRPr lang="en-US" sz="12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8032" y="2253996"/>
            <a:ext cx="292608" cy="292608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5646420" y="1965960"/>
            <a:ext cx="868680" cy="868680"/>
          </a:xfrm>
          <a:prstGeom prst="ellipse">
            <a:avLst/>
          </a:prstGeom>
          <a:solidFill>
            <a:srgbClr val="A33C4E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0"/>
          <p:cNvSpPr/>
          <p:nvPr/>
        </p:nvSpPr>
        <p:spPr>
          <a:xfrm>
            <a:off x="5646420" y="19659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Text 11"/>
          <p:cNvSpPr/>
          <p:nvPr/>
        </p:nvSpPr>
        <p:spPr>
          <a:xfrm>
            <a:off x="5065776" y="2971800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상품명 만들기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5065776" y="3474720"/>
            <a:ext cx="2029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89A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1페이지 키워드로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89A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상품명 완성</a:t>
            </a:r>
            <a:endParaRPr lang="en-US" sz="12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2253996"/>
            <a:ext cx="292608" cy="292608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7859268" y="1965960"/>
            <a:ext cx="868680" cy="868680"/>
          </a:xfrm>
          <a:prstGeom prst="ellipse">
            <a:avLst/>
          </a:prstGeom>
          <a:solidFill>
            <a:srgbClr val="A33C4E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4"/>
          <p:cNvSpPr/>
          <p:nvPr/>
        </p:nvSpPr>
        <p:spPr>
          <a:xfrm>
            <a:off x="7859268" y="19659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2400" dirty="0"/>
          </a:p>
        </p:txBody>
      </p:sp>
      <p:sp>
        <p:nvSpPr>
          <p:cNvPr id="20" name="Text 15"/>
          <p:cNvSpPr/>
          <p:nvPr/>
        </p:nvSpPr>
        <p:spPr>
          <a:xfrm>
            <a:off x="7278624" y="2971800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텀카운트 &amp; 중복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7278624" y="3474720"/>
            <a:ext cx="2029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89A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대표 키워드 기준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89A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정밀 최적화</a:t>
            </a:r>
            <a:endParaRPr lang="en-US" sz="120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3728" y="2253996"/>
            <a:ext cx="292608" cy="292608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10072116" y="1965960"/>
            <a:ext cx="868680" cy="868680"/>
          </a:xfrm>
          <a:prstGeom prst="ellipse">
            <a:avLst/>
          </a:prstGeom>
          <a:solidFill>
            <a:srgbClr val="A33C4E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Text 18"/>
          <p:cNvSpPr/>
          <p:nvPr/>
        </p:nvSpPr>
        <p:spPr>
          <a:xfrm>
            <a:off x="10072116" y="19659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2400" dirty="0"/>
          </a:p>
        </p:txBody>
      </p:sp>
      <p:sp>
        <p:nvSpPr>
          <p:cNvPr id="25" name="Text 19"/>
          <p:cNvSpPr/>
          <p:nvPr/>
        </p:nvSpPr>
        <p:spPr>
          <a:xfrm>
            <a:off x="9491472" y="2971800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Daily 순위 추적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9491472" y="3474720"/>
            <a:ext cx="2029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89A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매일 추적으로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89A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 검증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548640" y="507492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1E2130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5358384"/>
            <a:ext cx="347472" cy="347472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508760" y="507492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최종 목표   </a:t>
            </a:r>
            <a:r>
              <a:rPr lang="en-US" sz="170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 1개를 네이버 검색 1페이지에 올리는 전체 파이프라인을 체득한다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1주차 학습목표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4800600" cy="4663440"/>
          </a:xfrm>
          <a:prstGeom prst="roundRect">
            <a:avLst>
              <a:gd name="adj" fmla="val 2353"/>
            </a:avLst>
          </a:prstGeom>
          <a:solidFill>
            <a:srgbClr val="1E2130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14400" y="1874520"/>
            <a:ext cx="640080" cy="640080"/>
          </a:xfrm>
          <a:prstGeom prst="ellipse">
            <a:avLst/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" y="2029968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7432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989A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주를 마치면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14400" y="3154680"/>
            <a:ext cx="4114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 1개</a:t>
            </a:r>
            <a:r>
              <a:rPr lang="en-US" sz="34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를</a:t>
            </a:r>
            <a:endParaRPr lang="en-US" sz="34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네이버 </a:t>
            </a:r>
            <a:endParaRPr lang="en-US" sz="34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1페이지</a:t>
            </a:r>
            <a:r>
              <a:rPr lang="en-US" sz="34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</a:t>
            </a:r>
            <a:endParaRPr lang="en-US" sz="34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올릴 수 있습니다</a:t>
            </a:r>
            <a:endParaRPr lang="en-US" sz="3400" dirty="0"/>
          </a:p>
        </p:txBody>
      </p:sp>
      <p:sp>
        <p:nvSpPr>
          <p:cNvPr id="8" name="Shape 5"/>
          <p:cNvSpPr/>
          <p:nvPr/>
        </p:nvSpPr>
        <p:spPr>
          <a:xfrm>
            <a:off x="5806440" y="1600200"/>
            <a:ext cx="384048" cy="384048"/>
          </a:xfrm>
          <a:prstGeom prst="ellipse">
            <a:avLst/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880" y="1691640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27648" y="1563624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주 핵심 성과</a:t>
            </a:r>
            <a:endParaRPr lang="en-US" sz="15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2160" y="2368296"/>
            <a:ext cx="310896" cy="31089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355080" y="228600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규정을 무기로 활용해 안전하게 운영한다</a:t>
            </a:r>
            <a:endParaRPr lang="en-US" sz="16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2160" y="3118104"/>
            <a:ext cx="310896" cy="31089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355080" y="3035808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팔릴 상품을 찾아 '효자상품'으로 소싱한다</a:t>
            </a:r>
            <a:endParaRPr lang="en-US" sz="16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2160" y="3867912"/>
            <a:ext cx="310896" cy="31089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355080" y="3785616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1페이지 키워드로 상품명을 완성한다</a:t>
            </a:r>
            <a:endParaRPr lang="en-US" sz="165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2160" y="4617720"/>
            <a:ext cx="310896" cy="310896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6355080" y="4535424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최적 텀카운트로 상품명을 정밀 최적화한다</a:t>
            </a:r>
            <a:endParaRPr lang="en-US" sz="1650" dirty="0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2160" y="5367528"/>
            <a:ext cx="310896" cy="310896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6355080" y="5285232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매일 순위 추적으로 결과를 검증한다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A33C4E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17320" y="41148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네이버 규정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1E2130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868680" y="1673352"/>
            <a:ext cx="621792" cy="621792"/>
          </a:xfrm>
          <a:prstGeom prst="ellipse">
            <a:avLst/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1819656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1417320"/>
            <a:ext cx="9692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목표
</a:t>
            </a:r>
            <a:r>
              <a:rPr lang="en-US" sz="15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규정을 '제약'이 아닌 '무기'로 삼아, 규정 안에서 로직적으로 최상의 상태를 만들어 매출을 최적화한다.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548640" y="2880360"/>
            <a:ext cx="384048" cy="384048"/>
          </a:xfrm>
          <a:prstGeom prst="ellipse">
            <a:avLst/>
          </a:prstGeom>
          <a:solidFill>
            <a:srgbClr val="2A2D3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971800"/>
            <a:ext cx="201168" cy="20116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069848" y="2843784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내용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548640" y="3383280"/>
            <a:ext cx="108813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lnSpc>
                <a:spcPct val="120000"/>
              </a:lnSpc>
              <a:spcAft>
                <a:spcPts val="1100"/>
              </a:spcAft>
              <a:buSzPct val="100000"/>
              <a:buNone/>
            </a:pPr>
            <a:r>
              <a:rPr sz="1450" b="1">
                <a:solidFill>
                  <a:srgbClr val="E0A9A2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450" b="0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규정 숙지의 목적 — 상품 보호(영구삭제 회피) &amp; 로직 최적화(매출·유입)</a:t>
            </a:r>
            <a:endParaRPr lang="en-US" sz="1350" dirty="0"/>
          </a:p>
          <a:p>
            <a:pPr>
              <a:lnSpc>
                <a:spcPct val="120000"/>
              </a:lnSpc>
              <a:spcAft>
                <a:spcPts val="1100"/>
              </a:spcAft>
              <a:buNone/>
            </a:pPr>
            <a:r>
              <a:rPr sz="1450" b="1">
                <a:solidFill>
                  <a:srgbClr val="E0A9A2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450" b="0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핵심 개념 구분 — 대표 상품 / 단일 상품 / 모음전(모음 상품)</a:t>
            </a:r>
          </a:p>
          <a:p>
            <a:pPr>
              <a:lnSpc>
                <a:spcPct val="120000"/>
              </a:lnSpc>
              <a:spcAft>
                <a:spcPts val="1100"/>
              </a:spcAft>
              <a:buNone/>
            </a:pPr>
            <a:r>
              <a:rPr sz="1450" b="1">
                <a:solidFill>
                  <a:srgbClr val="E0A9A2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450" b="0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썸네일(대표 이미지) 및 옵션 규정 — 규정에 맞는 안전한 등록</a:t>
            </a:r>
          </a:p>
          <a:p>
            <a:pPr>
              <a:lnSpc>
                <a:spcPct val="120000"/>
              </a:lnSpc>
              <a:spcAft>
                <a:spcPts val="1100"/>
              </a:spcAft>
              <a:buNone/>
            </a:pPr>
            <a:r>
              <a:rPr sz="1450" b="1">
                <a:solidFill>
                  <a:srgbClr val="E0A9A2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450" b="0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영구 삭제 주의 ① 상품 ID 재사용 · ② 중복 상품 회피</a:t>
            </a:r>
          </a:p>
          <a:p>
            <a:pPr>
              <a:lnSpc>
                <a:spcPct val="120000"/>
              </a:lnSpc>
              <a:spcAft>
                <a:spcPts val="1100"/>
              </a:spcAft>
              <a:buNone/>
            </a:pPr>
            <a:r>
              <a:rPr sz="1450" b="1">
                <a:solidFill>
                  <a:srgbClr val="E0A9A2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450" b="0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규정을 활용한 매출·유입 극대화 전략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네이버 규정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규정을 제대로 알아야 하는 이유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310128" cy="2286000"/>
          </a:xfrm>
          <a:prstGeom prst="roundRect">
            <a:avLst>
              <a:gd name="adj" fmla="val 4000"/>
            </a:avLst>
          </a:prstGeom>
          <a:solidFill>
            <a:srgbClr val="1E2130"/>
          </a:solidFill>
          <a:ln w="19050">
            <a:solidFill>
              <a:srgbClr val="A33C4E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22960" y="2057400"/>
            <a:ext cx="2761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A33C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방어 (Defense)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651760"/>
            <a:ext cx="27614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영구 삭제(ID 재사용·중복)로부터</a:t>
            </a:r>
            <a:endParaRPr lang="en-US" sz="14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 </a:t>
            </a:r>
            <a:r>
              <a:rPr lang="en-US" sz="1400" dirty="0" err="1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매출</a:t>
            </a:r>
            <a:r>
              <a:rPr lang="en-US" sz="140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수</a:t>
            </a:r>
            <a:r>
              <a:rPr lang="ko-KR" altLang="en-US" sz="140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천</a:t>
            </a:r>
            <a:r>
              <a:rPr lang="en-US" sz="140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 효자상품을 지킴</a:t>
            </a:r>
            <a:endParaRPr lang="en-US" sz="14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7056" y="2715768"/>
            <a:ext cx="210312" cy="32918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105656" y="1737360"/>
            <a:ext cx="3310128" cy="2286000"/>
          </a:xfrm>
          <a:prstGeom prst="roundRect">
            <a:avLst>
              <a:gd name="adj" fmla="val 4000"/>
            </a:avLst>
          </a:prstGeom>
          <a:solidFill>
            <a:srgbClr val="1E2130"/>
          </a:solidFill>
          <a:ln w="19050">
            <a:solidFill>
              <a:srgbClr val="E0A9A2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4379976" y="2057400"/>
            <a:ext cx="2761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대응 (Action)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4379976" y="2651760"/>
            <a:ext cx="27614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규정을 위반한 상위 경쟁자에</a:t>
            </a:r>
            <a:endParaRPr lang="en-US" sz="14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정확히 대응(신고)</a:t>
            </a:r>
            <a:endParaRPr lang="en-US" sz="14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4072" y="2715768"/>
            <a:ext cx="210312" cy="32918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7662672" y="1737360"/>
            <a:ext cx="3310128" cy="2286000"/>
          </a:xfrm>
          <a:prstGeom prst="roundRect">
            <a:avLst>
              <a:gd name="adj" fmla="val 4000"/>
            </a:avLst>
          </a:prstGeom>
          <a:solidFill>
            <a:srgbClr val="1E2130"/>
          </a:solidFill>
          <a:ln w="19050">
            <a:solidFill>
              <a:srgbClr val="5FA894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9"/>
          <p:cNvSpPr/>
          <p:nvPr/>
        </p:nvSpPr>
        <p:spPr>
          <a:xfrm>
            <a:off x="7936992" y="2057400"/>
            <a:ext cx="2761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5FA8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최적화 (Optimization)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7936992" y="2651760"/>
            <a:ext cx="27614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규정 안에서 '의식적으로</a:t>
            </a:r>
            <a:endParaRPr lang="en-US" sz="14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최상의 로직 상태'로 세팅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505099" y="5157216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i="1" dirty="0" err="1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규정은</a:t>
            </a:r>
            <a:r>
              <a:rPr lang="en-US" sz="1500" b="1" i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＇</a:t>
            </a:r>
            <a:r>
              <a:rPr lang="ko-KR" altLang="en-US" sz="1500" b="1" i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위반</a:t>
            </a:r>
            <a:r>
              <a:rPr lang="en-US" sz="1500" b="1" i="1" dirty="0" err="1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하면</a:t>
            </a:r>
            <a:r>
              <a:rPr lang="en-US" sz="1500" b="1" i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안 </a:t>
            </a:r>
            <a:r>
              <a:rPr lang="en-US" sz="1500" b="1" i="1" dirty="0" err="1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되는</a:t>
            </a:r>
            <a:r>
              <a:rPr lang="en-US" sz="1500" b="1" i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것’ 이 아니라, 매출을 끌어올리는 도구입니다.</a:t>
            </a:r>
            <a:endParaRPr lang="en-US" sz="1500" b="1" i="1" dirty="0">
              <a:solidFill>
                <a:srgbClr val="E0A9A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개념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대표 상품의 3요소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989A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네이버 규정의 모든 판단 기준은 '대표 상품이 바뀌었는가?'에 있습니다.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3566160" cy="2331720"/>
          </a:xfrm>
          <a:prstGeom prst="roundRect">
            <a:avLst>
              <a:gd name="adj" fmla="val 3922"/>
            </a:avLst>
          </a:prstGeom>
          <a:solidFill>
            <a:srgbClr val="1E2130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868680" y="2377440"/>
            <a:ext cx="502920" cy="502920"/>
          </a:xfrm>
          <a:prstGeom prst="ellipse">
            <a:avLst/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86868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08760" y="240487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명시된 상품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3108960"/>
            <a:ext cx="2926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상품명에 특정하여 명시된 상품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예) </a:t>
            </a:r>
            <a:r>
              <a:rPr lang="ko-KR" altLang="en-US" sz="13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안방 침실 수납장 </a:t>
            </a:r>
            <a:r>
              <a:rPr lang="en-US" altLang="ko-KR" sz="13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r>
              <a:rPr lang="ko-KR" altLang="en-US" sz="13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306824" y="2057400"/>
            <a:ext cx="3566160" cy="2331720"/>
          </a:xfrm>
          <a:prstGeom prst="roundRect">
            <a:avLst>
              <a:gd name="adj" fmla="val 3922"/>
            </a:avLst>
          </a:prstGeom>
          <a:solidFill>
            <a:srgbClr val="1E2130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626864" y="2377440"/>
            <a:ext cx="502920" cy="502920"/>
          </a:xfrm>
          <a:prstGeom prst="ellipse">
            <a:avLst/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626864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266944" y="240487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대표 이미지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626864" y="3108960"/>
            <a:ext cx="2926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썸네일에 단독 노출된 상품과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상품명이 일치해야 함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065008" y="2057400"/>
            <a:ext cx="3566160" cy="2331720"/>
          </a:xfrm>
          <a:prstGeom prst="roundRect">
            <a:avLst>
              <a:gd name="adj" fmla="val 3922"/>
            </a:avLst>
          </a:prstGeom>
          <a:solidFill>
            <a:srgbClr val="1E2130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8385048" y="2377440"/>
            <a:ext cx="502920" cy="502920"/>
          </a:xfrm>
          <a:prstGeom prst="ellipse">
            <a:avLst/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8385048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025128" y="240487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노출 가격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385048" y="3108960"/>
            <a:ext cx="2926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추가금 +0원인 '기본가' 옵션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(대표 상품은 추가금 없이 구매 가능)</a:t>
            </a:r>
            <a:endParaRPr lang="en-US" sz="1350" dirty="0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4681728"/>
            <a:ext cx="310896" cy="310896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960120" y="46177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5FA8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 </a:t>
            </a:r>
            <a:r>
              <a:rPr lang="en-US" sz="140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3요소가 완벽히 일치하면 로직상 SAFE 상태입니다.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548640" y="5212080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1E2130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/>
          <p:nvPr/>
        </p:nvSpPr>
        <p:spPr>
          <a:xfrm>
            <a:off x="868680" y="52120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주의   </a:t>
            </a:r>
            <a:r>
              <a:rPr lang="en-US" sz="14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옵션가에 +1,000원이 붙거나, 썸네일과 상품명이 불일치하면 즉시 로직 이탈·제재 대상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구조적 분기점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단일 상품 vs 모음전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548640" y="1554480"/>
          <a:ext cx="11091672" cy="29718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183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274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989AA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구분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3437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7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7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7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6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단일 상품 (Single)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3437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7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7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7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3C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모음전 (Collection)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3437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7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7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7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E0A9A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정의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3437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7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7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7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6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EAE8F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대표 상품이 명확하게 1개로 좁혀지는 상품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3437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7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7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7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1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EAE8F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대표 상품이 불명확하거나 여러 옵션을 포괄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3437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7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7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7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1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E0A9A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예시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3437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7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7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7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6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EAE8F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</a:t>
                      </a:r>
                      <a:r>
                        <a:rPr lang="ko-KR" altLang="en-US" sz="1350" dirty="0">
                          <a:solidFill>
                            <a:srgbClr val="EAE8F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삼성 노트북 </a:t>
                      </a:r>
                      <a:r>
                        <a:rPr lang="en-US" altLang="ko-KR" sz="1350" dirty="0">
                          <a:solidFill>
                            <a:srgbClr val="EAE8F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NT750XGR</a:t>
                      </a:r>
                      <a:r>
                        <a:rPr lang="ko-KR" altLang="en-US" sz="1350" dirty="0">
                          <a:solidFill>
                            <a:srgbClr val="EAE8F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</a:t>
                      </a:r>
                      <a:r>
                        <a:rPr lang="en-US" sz="1350" dirty="0" err="1">
                          <a:solidFill>
                            <a:srgbClr val="EAE8F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화이트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3437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7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7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7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1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EAE8F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</a:t>
                      </a:r>
                      <a:r>
                        <a:rPr lang="ko-KR" altLang="en-US" sz="1350" dirty="0">
                          <a:solidFill>
                            <a:srgbClr val="EAE8F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삼성 엘지 노트북</a:t>
                      </a:r>
                      <a:r>
                        <a:rPr lang="en-US" sz="1350" dirty="0">
                          <a:solidFill>
                            <a:srgbClr val="EAE8F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모음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3437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7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7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7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1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E0A9A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썸네일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3437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7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7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7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6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EAE8F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정확히 일치하는 해당 상품만 단독 노출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3437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7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7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7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1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EAE8F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추가금 없는 옵션 중 부분 명시분 동시 노출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3437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7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7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7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1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Shape 2"/>
          <p:cNvSpPr/>
          <p:nvPr/>
        </p:nvSpPr>
        <p:spPr>
          <a:xfrm>
            <a:off x="548640" y="5349240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1E2130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868680" y="5349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전술적 통찰   </a:t>
            </a:r>
            <a:r>
              <a:rPr lang="en-US" sz="14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모음전은 다양한 키워드 유입에 유리하지만, 카테고리별 허용 여부가 엄격히 다릅니다.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생략의 기술 (The Omission Rule)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썸네일 색상·사이즈 생략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989A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색상·사이즈의 가격이 동일하다면, 상품명에서 표기를 과감히 생략하세요.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358384" cy="3840480"/>
          </a:xfrm>
          <a:prstGeom prst="roundRect">
            <a:avLst>
              <a:gd name="adj" fmla="val 2381"/>
            </a:avLst>
          </a:prstGeom>
          <a:solidFill>
            <a:srgbClr val="1E2130"/>
          </a:solidFill>
          <a:ln w="16510">
            <a:solidFill>
              <a:srgbClr val="989AA8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4718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989A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흔한 실수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68680" y="2743200"/>
            <a:ext cx="4718304" cy="731520"/>
          </a:xfrm>
          <a:prstGeom prst="roundRect">
            <a:avLst>
              <a:gd name="adj" fmla="val 7500"/>
            </a:avLst>
          </a:prstGeom>
          <a:solidFill>
            <a:srgbClr val="23263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005840" y="2743200"/>
            <a:ext cx="44439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7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공장 테이블</a:t>
            </a:r>
            <a:r>
              <a:rPr lang="en-US" sz="17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7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블랙</a:t>
            </a:r>
            <a:r>
              <a:rPr lang="en-US" sz="17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대형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68680" y="3657600"/>
            <a:ext cx="471830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상품명에 색상이 명시되어 썸네일에 </a:t>
            </a:r>
            <a:r>
              <a:rPr lang="en-US" sz="135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오직 '블랙'만</a:t>
            </a:r>
            <a:r>
              <a:rPr lang="en-US" sz="13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사용 가능 → 타겟층 축소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81928" y="2057400"/>
            <a:ext cx="5358384" cy="3840480"/>
          </a:xfrm>
          <a:prstGeom prst="roundRect">
            <a:avLst>
              <a:gd name="adj" fmla="val 2381"/>
            </a:avLst>
          </a:prstGeom>
          <a:solidFill>
            <a:srgbClr val="1E2130"/>
          </a:solidFill>
          <a:ln w="16510">
            <a:solidFill>
              <a:srgbClr val="5FA894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601968" y="2286000"/>
            <a:ext cx="4718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5FA8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용팀장 방식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601968" y="2743200"/>
            <a:ext cx="4718304" cy="731520"/>
          </a:xfrm>
          <a:prstGeom prst="roundRect">
            <a:avLst>
              <a:gd name="adj" fmla="val 7500"/>
            </a:avLst>
          </a:prstGeom>
          <a:solidFill>
            <a:srgbClr val="23263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739128" y="2743200"/>
            <a:ext cx="44439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7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공장 테이블</a:t>
            </a:r>
            <a:r>
              <a:rPr lang="en-US" sz="17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700" b="1" dirty="0" err="1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대형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601968" y="3657600"/>
            <a:ext cx="471830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가격 동일 전제 하에 색상 생략 → 썸네일에 </a:t>
            </a:r>
            <a:r>
              <a:rPr lang="en-US" sz="1350" b="1" dirty="0">
                <a:solidFill>
                  <a:srgbClr val="5FA8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블랙 + 화이트 + 핑크</a:t>
            </a:r>
            <a:r>
              <a:rPr lang="en-US" sz="13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모두 동시 노출 가능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영구 삭제 주의 ①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 ID 재사용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989A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대표 상품이 '다른 상품'이나 '구성'으로 한 번이라도 변하면, 1위 상품도 예외 없이 영구 삭제됩니다.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4114800" cy="640080"/>
          </a:xfrm>
          <a:prstGeom prst="roundRect">
            <a:avLst>
              <a:gd name="adj" fmla="val 8571"/>
            </a:avLst>
          </a:prstGeom>
          <a:solidFill>
            <a:srgbClr val="1E213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85800" y="205740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단일 </a:t>
            </a:r>
            <a:r>
              <a:rPr lang="en-US" sz="1350" dirty="0" err="1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</a:t>
            </a:r>
            <a:r>
              <a:rPr lang="en-US" sz="13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(</a:t>
            </a:r>
            <a:r>
              <a:rPr lang="ko-KR" altLang="en-US" sz="13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수납장</a:t>
            </a:r>
            <a:r>
              <a:rPr lang="en-US" sz="13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1</a:t>
            </a:r>
            <a:r>
              <a:rPr lang="ko-KR" altLang="en-US" sz="13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</a:t>
            </a:r>
            <a:r>
              <a:rPr lang="en-US" sz="13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)</a:t>
            </a:r>
            <a:endParaRPr lang="en-US" sz="13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2221992"/>
            <a:ext cx="201168" cy="31089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212080" y="2057400"/>
            <a:ext cx="4114800" cy="640080"/>
          </a:xfrm>
          <a:prstGeom prst="roundRect">
            <a:avLst>
              <a:gd name="adj" fmla="val 8571"/>
            </a:avLst>
          </a:prstGeom>
          <a:solidFill>
            <a:srgbClr val="1E2130"/>
          </a:solidFill>
          <a:ln w="12700">
            <a:solidFill>
              <a:srgbClr val="A33C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5349240" y="205740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 err="1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모음전</a:t>
            </a:r>
            <a:r>
              <a:rPr lang="en-US" sz="13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(</a:t>
            </a:r>
            <a:r>
              <a:rPr lang="ko-KR" altLang="en-US" sz="13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수납장</a:t>
            </a:r>
            <a:r>
              <a:rPr lang="en-US" sz="13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1/2/3</a:t>
            </a:r>
            <a:r>
              <a:rPr lang="ko-KR" altLang="en-US" sz="13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</a:t>
            </a:r>
            <a:r>
              <a:rPr lang="en-US" sz="13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)</a:t>
            </a:r>
            <a:endParaRPr lang="en-US" sz="13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0" y="2203704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012680" y="205740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하나의 범주가 여러 개로 확장 → 재사용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548640" y="2898648"/>
            <a:ext cx="4114800" cy="640080"/>
          </a:xfrm>
          <a:prstGeom prst="roundRect">
            <a:avLst>
              <a:gd name="adj" fmla="val 8571"/>
            </a:avLst>
          </a:prstGeom>
          <a:solidFill>
            <a:srgbClr val="1E213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9"/>
          <p:cNvSpPr/>
          <p:nvPr/>
        </p:nvSpPr>
        <p:spPr>
          <a:xfrm>
            <a:off x="685800" y="289864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삼성 노트북</a:t>
            </a:r>
            <a:endParaRPr lang="en-US" sz="135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3063240"/>
            <a:ext cx="201168" cy="310896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5212080" y="2898648"/>
            <a:ext cx="4114800" cy="640080"/>
          </a:xfrm>
          <a:prstGeom prst="roundRect">
            <a:avLst>
              <a:gd name="adj" fmla="val 8571"/>
            </a:avLst>
          </a:prstGeom>
          <a:solidFill>
            <a:srgbClr val="1E2130"/>
          </a:solidFill>
          <a:ln w="12700">
            <a:solidFill>
              <a:srgbClr val="A33C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1"/>
          <p:cNvSpPr/>
          <p:nvPr/>
        </p:nvSpPr>
        <p:spPr>
          <a:xfrm>
            <a:off x="5349240" y="289864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삼성</a:t>
            </a:r>
            <a:r>
              <a:rPr lang="en-US" sz="13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/ </a:t>
            </a:r>
            <a:r>
              <a:rPr lang="ko-KR" altLang="en-US" sz="13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엘지 노트북</a:t>
            </a:r>
            <a:endParaRPr lang="en-US" sz="13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0" y="3044952"/>
            <a:ext cx="347472" cy="34747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012680" y="2898648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대표 상품의 기준 범주 이탈 → 재사용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548640" y="3739896"/>
            <a:ext cx="4114800" cy="640080"/>
          </a:xfrm>
          <a:prstGeom prst="roundRect">
            <a:avLst>
              <a:gd name="adj" fmla="val 8571"/>
            </a:avLst>
          </a:prstGeom>
          <a:solidFill>
            <a:srgbClr val="1E213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4"/>
          <p:cNvSpPr/>
          <p:nvPr/>
        </p:nvSpPr>
        <p:spPr>
          <a:xfrm>
            <a:off x="685800" y="3739896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모음전</a:t>
            </a:r>
            <a:endParaRPr lang="en-US" sz="135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600" y="3904488"/>
            <a:ext cx="201168" cy="310896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5212080" y="3739896"/>
            <a:ext cx="4114800" cy="640080"/>
          </a:xfrm>
          <a:prstGeom prst="roundRect">
            <a:avLst>
              <a:gd name="adj" fmla="val 8571"/>
            </a:avLst>
          </a:prstGeom>
          <a:solidFill>
            <a:srgbClr val="1E2130"/>
          </a:solidFill>
          <a:ln w="12700">
            <a:solidFill>
              <a:srgbClr val="5FA89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6"/>
          <p:cNvSpPr/>
          <p:nvPr/>
        </p:nvSpPr>
        <p:spPr>
          <a:xfrm>
            <a:off x="5349240" y="3739896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모음전 (범주 내 변경)</a:t>
            </a:r>
            <a:endParaRPr lang="en-US" sz="135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9760" y="3886200"/>
            <a:ext cx="347472" cy="347472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0012680" y="3739896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FA8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허용된 범주 내 옵션 변경 → </a:t>
            </a:r>
            <a:r>
              <a:rPr lang="en-US" sz="1050" dirty="0" err="1">
                <a:solidFill>
                  <a:srgbClr val="5FA8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</a:t>
            </a:r>
            <a:r>
              <a:rPr lang="ko-KR" altLang="en-US" sz="1050" dirty="0">
                <a:solidFill>
                  <a:srgbClr val="5FA8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하지만 </a:t>
            </a:r>
            <a:endParaRPr lang="en-US" altLang="ko-KR" sz="1050" dirty="0">
              <a:solidFill>
                <a:srgbClr val="5FA894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0" indent="0" algn="l">
              <a:buNone/>
            </a:pPr>
            <a:r>
              <a:rPr lang="en-US" altLang="ko-KR" sz="1050" dirty="0">
                <a:solidFill>
                  <a:srgbClr val="5FA8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</a:t>
            </a:r>
            <a:r>
              <a:rPr lang="ko-KR" altLang="en-US" sz="1050" dirty="0">
                <a:solidFill>
                  <a:srgbClr val="5FA8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우리와 </a:t>
            </a:r>
            <a:r>
              <a:rPr lang="ko-KR" altLang="en-US" sz="1050" dirty="0" err="1">
                <a:solidFill>
                  <a:srgbClr val="5FA8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관련없음</a:t>
            </a:r>
            <a:endParaRPr lang="en-US" sz="1050" dirty="0"/>
          </a:p>
        </p:txBody>
      </p:sp>
      <p:sp>
        <p:nvSpPr>
          <p:cNvPr id="26" name="Shape 18"/>
          <p:cNvSpPr/>
          <p:nvPr/>
        </p:nvSpPr>
        <p:spPr>
          <a:xfrm>
            <a:off x="548640" y="5029200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1E2130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Text 19"/>
          <p:cNvSpPr/>
          <p:nvPr/>
        </p:nvSpPr>
        <p:spPr>
          <a:xfrm>
            <a:off x="868680" y="50292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주의   </a:t>
            </a:r>
            <a:r>
              <a:rPr lang="en-US" sz="14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리뷰 </a:t>
            </a:r>
            <a:r>
              <a:rPr lang="en-US" sz="1450" dirty="0" err="1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쌓인</a:t>
            </a:r>
            <a:r>
              <a:rPr lang="en-US" sz="14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4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효자</a:t>
            </a:r>
            <a:r>
              <a:rPr lang="en-US" sz="14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상품에 </a:t>
            </a:r>
            <a:r>
              <a:rPr lang="en-US" sz="1450" dirty="0" err="1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슬쩍</a:t>
            </a:r>
            <a:r>
              <a:rPr lang="en-US" sz="14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4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변화를</a:t>
            </a:r>
            <a:r>
              <a:rPr lang="en-US" sz="14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추가하는 순간, 월 </a:t>
            </a:r>
            <a:r>
              <a:rPr lang="en-US" sz="1450" dirty="0" err="1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매출</a:t>
            </a:r>
            <a:r>
              <a:rPr lang="en-US" sz="14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수</a:t>
            </a:r>
            <a:r>
              <a:rPr lang="ko-KR" altLang="en-US" sz="14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천</a:t>
            </a:r>
            <a:r>
              <a:rPr lang="en-US" sz="14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4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</a:t>
            </a:r>
            <a:r>
              <a:rPr lang="en-US" sz="14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 하루아침에 </a:t>
            </a:r>
            <a:r>
              <a:rPr lang="en-US" sz="1450" dirty="0" err="1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사라집니다</a:t>
            </a:r>
            <a:r>
              <a:rPr lang="en-US" sz="14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.(</a:t>
            </a:r>
            <a:r>
              <a:rPr lang="ko-KR" altLang="en-US" sz="14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영구삭제</a:t>
            </a:r>
            <a:r>
              <a:rPr lang="en-US" altLang="ko-KR" sz="14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)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영구 삭제 주의 ②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중복 상품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989A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동일·유사 사업자가 '완전히 동일한 상품'을 2개 이상 올리면 제재 (카테고리·몰이 달라도 적발).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358384" cy="3840480"/>
          </a:xfrm>
          <a:prstGeom prst="roundRect">
            <a:avLst>
              <a:gd name="adj" fmla="val 2381"/>
            </a:avLst>
          </a:prstGeom>
          <a:solidFill>
            <a:srgbClr val="1E2130"/>
          </a:solidFill>
          <a:ln w="16510">
            <a:solidFill>
              <a:srgbClr val="A33C4E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A33C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중복 판정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2880360"/>
            <a:ext cx="4718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 A  =  상품 A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68680" y="3840480"/>
            <a:ext cx="47183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81928" y="2057400"/>
            <a:ext cx="5358384" cy="3840480"/>
          </a:xfrm>
          <a:prstGeom prst="roundRect">
            <a:avLst>
              <a:gd name="adj" fmla="val 2381"/>
            </a:avLst>
          </a:prstGeom>
          <a:solidFill>
            <a:srgbClr val="1E2130"/>
          </a:solidFill>
          <a:ln w="16510">
            <a:solidFill>
              <a:srgbClr val="5FA894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601968" y="2286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5FA8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회피 기준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601968" y="2697480"/>
            <a:ext cx="4718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989A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토시 하나만 달라도 '다른 상품'으로 인식합니다.</a:t>
            </a:r>
            <a:endParaRPr lang="en-US" sz="125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1968" y="3273552"/>
            <a:ext cx="274320" cy="2743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995160" y="320040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5FA8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[용량] </a:t>
            </a:r>
            <a:r>
              <a:rPr lang="en-US" sz="140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골드바 1g  vs  골드바 1.001g</a:t>
            </a:r>
            <a:endParaRPr lang="en-US" sz="14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1968" y="3986784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995160" y="391363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5FA8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[구성] </a:t>
            </a:r>
            <a:r>
              <a:rPr lang="ko-KR" altLang="en-US" sz="14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포장지</a:t>
            </a:r>
            <a:r>
              <a:rPr lang="en-US" sz="140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10매  vs  </a:t>
            </a:r>
            <a:r>
              <a:rPr lang="ko-KR" altLang="en-US" sz="140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포장지</a:t>
            </a:r>
            <a:r>
              <a:rPr lang="en-US" sz="140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1매</a:t>
            </a:r>
            <a:endParaRPr lang="en-US" sz="14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1968" y="4700016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995160" y="4626864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5FA8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[사은품] </a:t>
            </a:r>
            <a:r>
              <a:rPr lang="en-US" sz="140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단품  vs  단품 + 스티커 증정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중복 회피 교차 등록 (Cross-Matrix)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단일 상품끼리 대표만 안 겹치면 교차 OK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58384" cy="3017520"/>
          </a:xfrm>
          <a:prstGeom prst="roundRect">
            <a:avLst>
              <a:gd name="adj" fmla="val 3030"/>
            </a:avLst>
          </a:prstGeom>
          <a:solidFill>
            <a:srgbClr val="1E2130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358384" cy="548640"/>
          </a:xfrm>
          <a:prstGeom prst="roundRect">
            <a:avLst>
              <a:gd name="adj" fmla="val 16667"/>
            </a:avLst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5358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 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2423160"/>
            <a:ext cx="4809744" cy="566928"/>
          </a:xfrm>
          <a:prstGeom prst="roundRect">
            <a:avLst>
              <a:gd name="adj" fmla="val 8065"/>
            </a:avLst>
          </a:prstGeom>
          <a:solidFill>
            <a:srgbClr val="23263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005840" y="242316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 err="1">
                <a:solidFill>
                  <a:srgbClr val="989A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상품명</a:t>
            </a:r>
            <a:r>
              <a:rPr lang="en-US" sz="1350" b="1" dirty="0">
                <a:solidFill>
                  <a:srgbClr val="989A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</a:t>
            </a:r>
            <a:r>
              <a:rPr lang="ko-KR" altLang="en-US" sz="135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모니터 받침대 </a:t>
            </a:r>
            <a:r>
              <a:rPr lang="en-US" altLang="ko-KR" sz="135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r>
              <a:rPr lang="ko-KR" altLang="en-US" sz="135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22960" y="3127248"/>
            <a:ext cx="4809744" cy="566928"/>
          </a:xfrm>
          <a:prstGeom prst="roundRect">
            <a:avLst>
              <a:gd name="adj" fmla="val 8065"/>
            </a:avLst>
          </a:prstGeom>
          <a:solidFill>
            <a:srgbClr val="2A1B1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005840" y="3127248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옵션1(대표) </a:t>
            </a:r>
            <a:r>
              <a:rPr lang="ko-KR" altLang="en-US" sz="135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모니터 받침대 </a:t>
            </a:r>
            <a:r>
              <a:rPr lang="en-US" altLang="ko-KR" sz="135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r>
              <a:rPr lang="ko-KR" altLang="en-US" sz="135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22960" y="3840480"/>
            <a:ext cx="4809744" cy="566928"/>
          </a:xfrm>
          <a:prstGeom prst="roundRect">
            <a:avLst>
              <a:gd name="adj" fmla="val 8065"/>
            </a:avLst>
          </a:prstGeom>
          <a:solidFill>
            <a:srgbClr val="23263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005840" y="384048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 b="1" dirty="0">
                <a:solidFill>
                  <a:srgbClr val="989A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옵션2(서브) </a:t>
            </a:r>
            <a:r>
              <a:rPr lang="ko-KR" altLang="en-US" sz="135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모니터 받침대 </a:t>
            </a:r>
            <a:r>
              <a:rPr lang="en-US" altLang="ko-KR" sz="135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r>
              <a:rPr lang="ko-KR" altLang="en-US" sz="135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81928" y="1737360"/>
            <a:ext cx="5358384" cy="3017520"/>
          </a:xfrm>
          <a:prstGeom prst="roundRect">
            <a:avLst>
              <a:gd name="adj" fmla="val 3030"/>
            </a:avLst>
          </a:prstGeom>
          <a:solidFill>
            <a:srgbClr val="1E2130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6281928" y="1737360"/>
            <a:ext cx="5358384" cy="548640"/>
          </a:xfrm>
          <a:prstGeom prst="roundRect">
            <a:avLst>
              <a:gd name="adj" fmla="val 16667"/>
            </a:avLst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281928" y="1737360"/>
            <a:ext cx="5358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 B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556248" y="2423160"/>
            <a:ext cx="4809744" cy="566928"/>
          </a:xfrm>
          <a:prstGeom prst="roundRect">
            <a:avLst>
              <a:gd name="adj" fmla="val 8065"/>
            </a:avLst>
          </a:prstGeom>
          <a:solidFill>
            <a:srgbClr val="23263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739128" y="242316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 b="1" dirty="0" err="1">
                <a:solidFill>
                  <a:srgbClr val="989A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상품명</a:t>
            </a:r>
            <a:r>
              <a:rPr lang="en-US" sz="1350" b="1" dirty="0">
                <a:solidFill>
                  <a:srgbClr val="989A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35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모니터 받침대 </a:t>
            </a:r>
            <a:r>
              <a:rPr lang="en-US" altLang="ko-KR" sz="135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r>
              <a:rPr lang="ko-KR" altLang="en-US" sz="135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556248" y="3127248"/>
            <a:ext cx="4809744" cy="566928"/>
          </a:xfrm>
          <a:prstGeom prst="roundRect">
            <a:avLst>
              <a:gd name="adj" fmla="val 8065"/>
            </a:avLst>
          </a:prstGeom>
          <a:solidFill>
            <a:srgbClr val="2A1B1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739128" y="3127248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옵션1(대표) </a:t>
            </a:r>
            <a:r>
              <a:rPr lang="ko-KR" altLang="en-US" sz="135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모니터 받침대 </a:t>
            </a:r>
            <a:r>
              <a:rPr lang="en-US" altLang="ko-KR" sz="135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r>
              <a:rPr lang="ko-KR" altLang="en-US" sz="135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556248" y="3840480"/>
            <a:ext cx="4809744" cy="566928"/>
          </a:xfrm>
          <a:prstGeom prst="roundRect">
            <a:avLst>
              <a:gd name="adj" fmla="val 8065"/>
            </a:avLst>
          </a:prstGeom>
          <a:solidFill>
            <a:srgbClr val="23263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6739128" y="384048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 b="1" dirty="0">
                <a:solidFill>
                  <a:srgbClr val="989A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옵션2(서브) </a:t>
            </a:r>
            <a:r>
              <a:rPr lang="ko-KR" altLang="en-US" sz="135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모니터 받침대 </a:t>
            </a:r>
            <a:r>
              <a:rPr lang="en-US" altLang="ko-KR" sz="135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r>
              <a:rPr lang="ko-KR" altLang="en-US" sz="135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48640" y="48006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FA8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✕  대표 상품(옵션1)이 서로 다르므로 중복 아님 — 서브 옵션은 교차해도 안전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5257800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1E2130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868680" y="5257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전략적 가치   </a:t>
            </a:r>
            <a:r>
              <a:rPr lang="en-US" sz="1450" dirty="0" err="1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메인</a:t>
            </a:r>
            <a:r>
              <a:rPr lang="en-US" sz="14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450" dirty="0" err="1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키워드를</a:t>
            </a:r>
            <a:r>
              <a:rPr lang="en-US" sz="14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각각 단일 상품으로 1페이지에 노출하면서, 구매자에겐 동일 라인업 제공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카테고리 초월 타겟팅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추가 상품으로 카테고리 확장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989A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'추가 상품'은 중복 상품 규정에서 완전히 자유롭습니다. 몇 번을 재사용해도 무방.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4572000" cy="2468880"/>
          </a:xfrm>
          <a:prstGeom prst="roundRect">
            <a:avLst>
              <a:gd name="adj" fmla="val 3704"/>
            </a:avLst>
          </a:prstGeom>
          <a:solidFill>
            <a:srgbClr val="1E2130"/>
          </a:solidFill>
          <a:ln w="16510">
            <a:solidFill>
              <a:srgbClr val="A33C4E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메인 상품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971800"/>
            <a:ext cx="4023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카테고리: [</a:t>
            </a:r>
            <a:r>
              <a:rPr lang="ko-KR" altLang="en-US" sz="13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요가매트 </a:t>
            </a:r>
            <a:r>
              <a:rPr lang="en-US" altLang="ko-KR" sz="13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 </a:t>
            </a:r>
            <a:r>
              <a:rPr lang="ko-KR" altLang="en-US" sz="13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요가매트</a:t>
            </a:r>
            <a:r>
              <a:rPr lang="en-US" sz="13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]</a:t>
            </a:r>
            <a:endParaRPr lang="en-US" sz="13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3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상태: 해당 카테고리 내 키워드 한계 도달</a:t>
            </a:r>
            <a:endParaRPr lang="en-US" sz="13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240" y="3200400"/>
            <a:ext cx="411480" cy="6400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937760" y="2743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89A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추가 상품 링크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068312" y="2148840"/>
            <a:ext cx="4572000" cy="2468880"/>
          </a:xfrm>
          <a:prstGeom prst="roundRect">
            <a:avLst>
              <a:gd name="adj" fmla="val 3704"/>
            </a:avLst>
          </a:prstGeom>
          <a:solidFill>
            <a:srgbClr val="1E2130"/>
          </a:solidFill>
          <a:ln w="16510">
            <a:solidFill>
              <a:srgbClr val="5FA894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7342632" y="23774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5FA8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추가 상품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342632" y="2971800"/>
            <a:ext cx="4023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카테고리: [</a:t>
            </a:r>
            <a:r>
              <a:rPr lang="ko-KR" altLang="en-US" sz="1350" dirty="0" err="1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요가링</a:t>
            </a:r>
            <a:r>
              <a:rPr lang="ko-KR" altLang="en-US" sz="13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13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 </a:t>
            </a:r>
            <a:r>
              <a:rPr lang="ko-KR" altLang="en-US" sz="1350" dirty="0" err="1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요가링</a:t>
            </a:r>
            <a:r>
              <a:rPr lang="en-US" altLang="ko-KR" sz="13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</a:t>
            </a:r>
            <a:r>
              <a:rPr lang="ko-KR" altLang="en-US" sz="1350" dirty="0" err="1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필라테스링</a:t>
            </a:r>
            <a:r>
              <a:rPr lang="en-US" sz="13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]</a:t>
            </a:r>
            <a:endParaRPr lang="en-US" sz="13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3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상태: 새로운 유입 키워드 노출 영역 확보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548640" y="4937760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1E2130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868680" y="49377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 err="1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전술</a:t>
            </a:r>
            <a:r>
              <a:rPr lang="en-US" sz="145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</a:t>
            </a:r>
            <a:r>
              <a:rPr lang="ko-KR" altLang="en-US" sz="1450" dirty="0" err="1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요가링</a:t>
            </a:r>
            <a:r>
              <a:rPr lang="en-US" altLang="ko-KR" sz="14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</a:t>
            </a:r>
            <a:r>
              <a:rPr lang="ko-KR" altLang="en-US" sz="1450" dirty="0" err="1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필라테스링</a:t>
            </a:r>
            <a:r>
              <a:rPr lang="en-US" sz="14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카테고리에 B상품을 단독 등록해 신규 검색 유입을 만들고, </a:t>
            </a:r>
          </a:p>
          <a:p>
            <a:pPr marL="0" indent="0" algn="l">
              <a:buNone/>
            </a:pPr>
            <a:r>
              <a:rPr lang="en-US" sz="1450" dirty="0" err="1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상세페이지</a:t>
            </a:r>
            <a:r>
              <a:rPr lang="en-US" sz="14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링크로 메인 </a:t>
            </a:r>
            <a:r>
              <a:rPr lang="en-US" sz="1450" dirty="0" err="1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A상품</a:t>
            </a:r>
            <a:r>
              <a:rPr lang="en-US" sz="14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</a:t>
            </a:r>
            <a:r>
              <a:rPr lang="ko-KR" altLang="en-US" sz="14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요가매트</a:t>
            </a:r>
            <a:r>
              <a:rPr lang="en-US" sz="14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)에 </a:t>
            </a:r>
            <a:r>
              <a:rPr lang="en-US" sz="1450" dirty="0" err="1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트래픽</a:t>
            </a:r>
            <a:r>
              <a:rPr lang="en-US" sz="14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450" dirty="0" err="1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연결</a:t>
            </a:r>
            <a:r>
              <a:rPr lang="en-US" sz="14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 </a:t>
            </a:r>
            <a:r>
              <a:rPr lang="ko-KR" altLang="en-US" sz="14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추가상품은 저렴한 </a:t>
            </a:r>
            <a:r>
              <a:rPr lang="ko-KR" altLang="en-US" sz="1450" dirty="0" err="1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저관여</a:t>
            </a:r>
            <a:r>
              <a:rPr lang="ko-KR" altLang="en-US" sz="14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제품으로 등록하여 유입을 </a:t>
            </a:r>
            <a:r>
              <a:rPr lang="ko-KR" altLang="en-US" sz="1450" dirty="0" err="1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만드는게</a:t>
            </a:r>
            <a:r>
              <a:rPr lang="ko-KR" altLang="en-US" sz="14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목표임</a:t>
            </a:r>
            <a:r>
              <a:rPr lang="en-US" altLang="ko-KR" sz="14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전략적 경쟁사 대응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경쟁사 신고는 '타이밍'이 핵심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989A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규정을 위반한 경쟁자를 신고해 내 순위를 올리는 방법. 단, 타겟팅이 정확해야 합니다.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358384" cy="1417320"/>
          </a:xfrm>
          <a:prstGeom prst="roundRect">
            <a:avLst>
              <a:gd name="adj" fmla="val 6452"/>
            </a:avLst>
          </a:prstGeom>
          <a:solidFill>
            <a:srgbClr val="1E2130"/>
          </a:solidFill>
          <a:ln w="16510">
            <a:solidFill>
              <a:srgbClr val="5FA89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68680" y="2057400"/>
            <a:ext cx="471830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5FA8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좋은 타겟  </a:t>
            </a:r>
            <a:r>
              <a:rPr lang="en-US" sz="13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바로 위 순위(예: 내가 4위 → 3위)를 신고 → 삭제 시 즉각적인 순위 상승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81928" y="2057400"/>
            <a:ext cx="5358384" cy="1417320"/>
          </a:xfrm>
          <a:prstGeom prst="roundRect">
            <a:avLst>
              <a:gd name="adj" fmla="val 6452"/>
            </a:avLst>
          </a:prstGeom>
          <a:solidFill>
            <a:srgbClr val="1E2130"/>
          </a:solidFill>
          <a:ln w="16510">
            <a:solidFill>
              <a:srgbClr val="A33C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601968" y="2057400"/>
            <a:ext cx="471830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나쁜 타겟  </a:t>
            </a:r>
            <a:r>
              <a:rPr lang="en-US" sz="13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100위인 내가 1위를 신고 → 1위가 삭제돼도 나는 99위. 무의미한 노력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3703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순서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411480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과거 리뷰·Q&amp;A 내역을 역추적해 위반 정황 확인</a:t>
            </a:r>
            <a:endParaRPr lang="en-US" sz="1400" dirty="0"/>
          </a:p>
          <a:p>
            <a:pPr marL="152400" indent="-152400" algn="l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'상품 ID 재사용(대표 상품 변경)' 증거 화면 캡처</a:t>
            </a:r>
            <a:endParaRPr lang="en-US" sz="1400" dirty="0"/>
          </a:p>
          <a:p>
            <a:pPr marL="152400" indent="-152400" algn="l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네이버 고객센터에 정확한 근거로 신고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5486400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1E2130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868680" y="54864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주의   </a:t>
            </a:r>
            <a:r>
              <a:rPr lang="en-US" sz="14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규정 위반이 확인된 경우에만 신고하세요. 허위·표적 신고는 오히려 제재 사유가 됩니다.</a:t>
            </a:r>
            <a:endParaRPr lang="en-US" sz="14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A33C4E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17320" y="41148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소싱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1E2130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868680" y="1673352"/>
            <a:ext cx="621792" cy="621792"/>
          </a:xfrm>
          <a:prstGeom prst="ellipse">
            <a:avLst/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1819656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1417320"/>
            <a:ext cx="9692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목표
</a:t>
            </a:r>
            <a:r>
              <a:rPr lang="en-US" sz="15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팔릴 상품을 찾아 '효자상품'으로 키우는 소싱 흐름을 익힌다.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548640" y="2880360"/>
            <a:ext cx="384048" cy="384048"/>
          </a:xfrm>
          <a:prstGeom prst="ellipse">
            <a:avLst/>
          </a:prstGeom>
          <a:solidFill>
            <a:srgbClr val="2A2D3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971800"/>
            <a:ext cx="201168" cy="20116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69848" y="2843784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내용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548640" y="3383280"/>
            <a:ext cx="108813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lnSpc>
                <a:spcPct val="120000"/>
              </a:lnSpc>
              <a:spcAft>
                <a:spcPts val="1100"/>
              </a:spcAft>
              <a:buSzPct val="100000"/>
              <a:buNone/>
            </a:pPr>
            <a:r>
              <a:rPr sz="1450" b="1">
                <a:solidFill>
                  <a:srgbClr val="E0A9A2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450" b="0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소싱리스트 보는 방법 &amp; 필터 기준 — 팔릴 상품 선별 기준 익히기</a:t>
            </a:r>
            <a:endParaRPr lang="en-US" sz="1350" dirty="0"/>
          </a:p>
          <a:p>
            <a:pPr>
              <a:lnSpc>
                <a:spcPct val="120000"/>
              </a:lnSpc>
              <a:spcAft>
                <a:spcPts val="1100"/>
              </a:spcAft>
              <a:buNone/>
            </a:pPr>
            <a:r>
              <a:rPr sz="1450" b="1">
                <a:solidFill>
                  <a:srgbClr val="E0A9A2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450" b="0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내가 팔 상품 찾아보기 — 필터를 적용해 직접 선별</a:t>
            </a:r>
          </a:p>
          <a:p>
            <a:pPr>
              <a:lnSpc>
                <a:spcPct val="120000"/>
              </a:lnSpc>
              <a:spcAft>
                <a:spcPts val="1100"/>
              </a:spcAft>
              <a:buNone/>
            </a:pPr>
            <a:r>
              <a:rPr sz="1450" b="1">
                <a:solidFill>
                  <a:srgbClr val="E0A9A2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450" b="0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채널별 소싱 — 네이버 / 타오바오 / 쿠팡 3채널에서 직접 소싱</a:t>
            </a:r>
          </a:p>
          <a:p>
            <a:pPr>
              <a:lnSpc>
                <a:spcPct val="120000"/>
              </a:lnSpc>
              <a:spcAft>
                <a:spcPts val="1100"/>
              </a:spcAft>
              <a:buNone/>
            </a:pPr>
            <a:r>
              <a:rPr sz="1450" b="1">
                <a:solidFill>
                  <a:srgbClr val="E0A9A2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450" b="0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불사자로 상품 URL 수집 — 등록 준비 단계까지 연결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7872" y="3204972"/>
            <a:ext cx="585216" cy="5852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388162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89A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스크린샷 / 이미지 자리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452360" y="1554480"/>
            <a:ext cx="384048" cy="384048"/>
          </a:xfrm>
          <a:prstGeom prst="ellipse">
            <a:avLst/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0" y="1645920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973568" y="1517904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5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</a:rPr>
              <a:t>필터 기준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7470648" y="2194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7818120" y="2157984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35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네이버 </a:t>
            </a:r>
            <a:r>
              <a:rPr lang="ko-KR" altLang="en-US" sz="1350" dirty="0" err="1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상품수</a:t>
            </a:r>
            <a:r>
              <a:rPr lang="ko-KR" altLang="en-US" sz="135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135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r>
              <a:rPr lang="ko-KR" altLang="en-US" sz="135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 이하</a:t>
            </a:r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13" name="Text 9"/>
          <p:cNvSpPr/>
          <p:nvPr/>
        </p:nvSpPr>
        <p:spPr>
          <a:xfrm>
            <a:off x="7470648" y="30358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7818120" y="2999232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35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네이버 평균가 </a:t>
            </a:r>
            <a:r>
              <a:rPr lang="en-US" altLang="ko-KR" sz="135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</a:t>
            </a:r>
            <a:r>
              <a:rPr lang="ko-KR" altLang="en-US" sz="135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 이하</a:t>
            </a:r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15" name="Text 11"/>
          <p:cNvSpPr/>
          <p:nvPr/>
        </p:nvSpPr>
        <p:spPr>
          <a:xfrm>
            <a:off x="7470648" y="38770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7818120" y="384048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35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네이버 해외배송 비율 </a:t>
            </a:r>
            <a:r>
              <a:rPr lang="en-US" altLang="ko-KR" sz="135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50% </a:t>
            </a:r>
            <a:r>
              <a:rPr lang="ko-KR" altLang="en-US" sz="135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이상</a:t>
            </a:r>
            <a:endParaRPr lang="en-US" altLang="ko-KR" sz="1350" dirty="0">
              <a:solidFill>
                <a:schemeClr val="bg1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r>
              <a:rPr lang="ko-KR" altLang="en-US" sz="1350" dirty="0" err="1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쿠팡</a:t>
            </a:r>
            <a:r>
              <a:rPr lang="ko-KR" altLang="en-US" sz="135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해외배송 비율 </a:t>
            </a:r>
            <a:r>
              <a:rPr lang="en-US" altLang="ko-KR" sz="135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50% </a:t>
            </a:r>
            <a:r>
              <a:rPr lang="ko-KR" altLang="en-US" sz="135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이상</a:t>
            </a:r>
            <a:endParaRPr lang="en-US" altLang="ko-KR" sz="1350" dirty="0">
              <a:solidFill>
                <a:schemeClr val="bg1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0" indent="0" algn="l">
              <a:buNone/>
            </a:pPr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17" name="Text 13"/>
          <p:cNvSpPr/>
          <p:nvPr/>
        </p:nvSpPr>
        <p:spPr>
          <a:xfrm>
            <a:off x="7470648" y="47183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7818120" y="468172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35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최근 </a:t>
            </a:r>
            <a:r>
              <a:rPr lang="en-US" altLang="ko-KR" sz="135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r>
              <a:rPr lang="ko-KR" altLang="en-US" sz="135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개월 </a:t>
            </a:r>
            <a:r>
              <a:rPr lang="ko-KR" altLang="en-US" sz="1350" dirty="0" err="1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검색량</a:t>
            </a:r>
            <a:r>
              <a:rPr lang="ko-KR" altLang="en-US" sz="135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135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 </a:t>
            </a:r>
            <a:r>
              <a:rPr lang="ko-KR" altLang="en-US" sz="135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이상</a:t>
            </a:r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21" name="Shape 0">
            <a:extLst>
              <a:ext uri="{FF2B5EF4-FFF2-40B4-BE49-F238E27FC236}">
                <a16:creationId xmlns:a16="http://schemas.microsoft.com/office/drawing/2014/main" id="{B657B81A-9951-6D91-2473-4A33C103A362}"/>
              </a:ext>
            </a:extLst>
          </p:cNvPr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A33C4E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">
            <a:extLst>
              <a:ext uri="{FF2B5EF4-FFF2-40B4-BE49-F238E27FC236}">
                <a16:creationId xmlns:a16="http://schemas.microsoft.com/office/drawing/2014/main" id="{986E069C-257D-807E-F6D8-3157B1F45EBA}"/>
              </a:ext>
            </a:extLst>
          </p:cNvPr>
          <p:cNvSpPr/>
          <p:nvPr/>
        </p:nvSpPr>
        <p:spPr>
          <a:xfrm>
            <a:off x="1417320" y="41148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 err="1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소싱</a:t>
            </a:r>
            <a:r>
              <a:rPr lang="en-US" sz="30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– </a:t>
            </a:r>
            <a:r>
              <a:rPr lang="ko-KR" altLang="en-US" sz="30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팔릴 상품 선별</a:t>
            </a:r>
            <a:endParaRPr lang="en-US" sz="3000" dirty="0"/>
          </a:p>
        </p:txBody>
      </p:sp>
      <p:sp>
        <p:nvSpPr>
          <p:cNvPr id="23" name="Text 1">
            <a:extLst>
              <a:ext uri="{FF2B5EF4-FFF2-40B4-BE49-F238E27FC236}">
                <a16:creationId xmlns:a16="http://schemas.microsoft.com/office/drawing/2014/main" id="{BF90AE98-6DC4-9255-9B46-1D49EB0325F9}"/>
              </a:ext>
            </a:extLst>
          </p:cNvPr>
          <p:cNvSpPr/>
          <p:nvPr/>
        </p:nvSpPr>
        <p:spPr>
          <a:xfrm>
            <a:off x="548640" y="4114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800" dirty="0"/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C5E38993-81BC-AA1D-F0B7-334E3328BE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2022" y="1491777"/>
            <a:ext cx="6508044" cy="3810330"/>
          </a:xfrm>
          <a:prstGeom prst="rect">
            <a:avLst/>
          </a:prstGeom>
        </p:spPr>
      </p:pic>
      <p:sp>
        <p:nvSpPr>
          <p:cNvPr id="28" name="Text 5">
            <a:extLst>
              <a:ext uri="{FF2B5EF4-FFF2-40B4-BE49-F238E27FC236}">
                <a16:creationId xmlns:a16="http://schemas.microsoft.com/office/drawing/2014/main" id="{66C160B1-5A22-AE94-15CF-E027CFE2B140}"/>
              </a:ext>
            </a:extLst>
          </p:cNvPr>
          <p:cNvSpPr/>
          <p:nvPr/>
        </p:nvSpPr>
        <p:spPr>
          <a:xfrm>
            <a:off x="751115" y="5457663"/>
            <a:ext cx="9692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altLang="ko-KR" sz="12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&lt;</a:t>
            </a:r>
            <a:r>
              <a:rPr lang="ko-KR" altLang="en-US" sz="12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참고</a:t>
            </a:r>
            <a:r>
              <a:rPr lang="en-US" altLang="ko-KR" sz="12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&gt;</a:t>
            </a:r>
            <a:r>
              <a:rPr lang="en-US" sz="12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</a:p>
          <a:p>
            <a:pPr marL="0" indent="0" algn="l">
              <a:lnSpc>
                <a:spcPct val="105000"/>
              </a:lnSpc>
              <a:buNone/>
            </a:pPr>
            <a:endParaRPr lang="en-US" sz="600" b="1" dirty="0">
              <a:solidFill>
                <a:srgbClr val="E0A9A2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0" indent="0" algn="l">
              <a:lnSpc>
                <a:spcPct val="105000"/>
              </a:lnSpc>
              <a:buNone/>
            </a:pPr>
            <a:r>
              <a:rPr lang="ko-KR" altLang="en-US" sz="15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알려드리는 필터 기준은 절대적인 기준은 아닙니다</a:t>
            </a:r>
            <a:r>
              <a:rPr lang="en-US" altLang="ko-KR" sz="15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!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ko-KR" altLang="en-US" sz="15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필터 수치는 조금씩 조정하면서 상품 찾아보기</a:t>
            </a:r>
            <a:endParaRPr lang="en-US" altLang="ko-KR" sz="1550" dirty="0">
              <a:solidFill>
                <a:srgbClr val="EAE8F0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0" indent="0" algn="l">
              <a:lnSpc>
                <a:spcPct val="105000"/>
              </a:lnSpc>
              <a:buNone/>
            </a:pPr>
            <a:endParaRPr lang="en-US" altLang="ko-KR" sz="500" b="1" i="1" dirty="0">
              <a:solidFill>
                <a:srgbClr val="EAE8F0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0" indent="0" algn="l">
              <a:lnSpc>
                <a:spcPct val="105000"/>
              </a:lnSpc>
              <a:buNone/>
            </a:pPr>
            <a:r>
              <a:rPr lang="en-US" altLang="ko-KR" sz="1200" b="1" i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 </a:t>
            </a:r>
            <a:r>
              <a:rPr lang="ko-KR" altLang="en-US" sz="1200" b="1" i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기준은 아주 엄격한 기준입니다</a:t>
            </a:r>
            <a:r>
              <a:rPr lang="en-US" altLang="ko-KR" sz="1200" b="1" i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! )</a:t>
            </a:r>
          </a:p>
        </p:txBody>
      </p:sp>
      <p:sp>
        <p:nvSpPr>
          <p:cNvPr id="2" name="Text 13">
            <a:extLst>
              <a:ext uri="{FF2B5EF4-FFF2-40B4-BE49-F238E27FC236}">
                <a16:creationId xmlns:a16="http://schemas.microsoft.com/office/drawing/2014/main" id="{0C85A324-B2FE-E538-E030-DCBD4CB46CD0}"/>
              </a:ext>
            </a:extLst>
          </p:cNvPr>
          <p:cNvSpPr/>
          <p:nvPr/>
        </p:nvSpPr>
        <p:spPr>
          <a:xfrm>
            <a:off x="7468669" y="545259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200" dirty="0"/>
          </a:p>
        </p:txBody>
      </p:sp>
      <p:sp>
        <p:nvSpPr>
          <p:cNvPr id="3" name="Text 14">
            <a:extLst>
              <a:ext uri="{FF2B5EF4-FFF2-40B4-BE49-F238E27FC236}">
                <a16:creationId xmlns:a16="http://schemas.microsoft.com/office/drawing/2014/main" id="{312FFCB7-2566-F6F9-C62C-AA2777212B6C}"/>
              </a:ext>
            </a:extLst>
          </p:cNvPr>
          <p:cNvSpPr/>
          <p:nvPr/>
        </p:nvSpPr>
        <p:spPr>
          <a:xfrm>
            <a:off x="7816141" y="541601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350" dirty="0" err="1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쿠팡</a:t>
            </a:r>
            <a:r>
              <a:rPr lang="ko-KR" altLang="en-US" sz="135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해외배송 </a:t>
            </a:r>
            <a:r>
              <a:rPr lang="ko-KR" altLang="en-US" sz="1350" dirty="0" err="1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총리뷰수</a:t>
            </a:r>
            <a:r>
              <a:rPr lang="ko-KR" altLang="en-US" sz="135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내림차순 정렬</a:t>
            </a:r>
            <a:endParaRPr lang="en-US" sz="135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44292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5"/>
          <p:cNvSpPr/>
          <p:nvPr/>
        </p:nvSpPr>
        <p:spPr>
          <a:xfrm>
            <a:off x="7452360" y="1554480"/>
            <a:ext cx="384048" cy="384048"/>
          </a:xfrm>
          <a:prstGeom prst="ellipse">
            <a:avLst/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1645920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973568" y="1517904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5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</a:rPr>
              <a:t>소싱 방법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7470648" y="2194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7818120" y="2157984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chemeClr val="bg1"/>
                </a:solidFill>
              </a:rPr>
              <a:t>AI</a:t>
            </a:r>
            <a:r>
              <a:rPr lang="ko-KR" altLang="en-US" sz="1350" dirty="0">
                <a:solidFill>
                  <a:schemeClr val="bg1"/>
                </a:solidFill>
              </a:rPr>
              <a:t>에게 해당 키워드의 중국어 검색어를 물어보고</a:t>
            </a:r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13" name="Text 9"/>
          <p:cNvSpPr/>
          <p:nvPr/>
        </p:nvSpPr>
        <p:spPr>
          <a:xfrm>
            <a:off x="7470648" y="30358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7818120" y="2999231"/>
            <a:ext cx="3840480" cy="1382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350" dirty="0" err="1">
                <a:solidFill>
                  <a:schemeClr val="bg1"/>
                </a:solidFill>
              </a:rPr>
              <a:t>타오바오</a:t>
            </a:r>
            <a:r>
              <a:rPr lang="ko-KR" altLang="en-US" sz="1350" dirty="0">
                <a:solidFill>
                  <a:schemeClr val="bg1"/>
                </a:solidFill>
              </a:rPr>
              <a:t> 검색 후</a:t>
            </a:r>
            <a:endParaRPr lang="en-US" altLang="ko-KR" sz="1350" dirty="0">
              <a:solidFill>
                <a:schemeClr val="bg1"/>
              </a:solidFill>
            </a:endParaRPr>
          </a:p>
          <a:p>
            <a:pPr marL="0" indent="0" algn="l">
              <a:buNone/>
            </a:pPr>
            <a:r>
              <a:rPr lang="ko-KR" altLang="en-US" sz="1350" dirty="0">
                <a:solidFill>
                  <a:schemeClr val="bg1"/>
                </a:solidFill>
              </a:rPr>
              <a:t>구매 수량 </a:t>
            </a:r>
            <a:r>
              <a:rPr lang="en-US" altLang="ko-KR" sz="1350" dirty="0">
                <a:solidFill>
                  <a:schemeClr val="bg1"/>
                </a:solidFill>
              </a:rPr>
              <a:t>/ </a:t>
            </a:r>
            <a:r>
              <a:rPr lang="ko-KR" altLang="en-US" sz="1350" dirty="0">
                <a:solidFill>
                  <a:schemeClr val="bg1"/>
                </a:solidFill>
              </a:rPr>
              <a:t>리뷰 </a:t>
            </a:r>
            <a:r>
              <a:rPr lang="en-US" altLang="ko-KR" sz="1350" dirty="0">
                <a:solidFill>
                  <a:schemeClr val="bg1"/>
                </a:solidFill>
              </a:rPr>
              <a:t>/ </a:t>
            </a:r>
            <a:r>
              <a:rPr lang="ko-KR" altLang="en-US" sz="1350" dirty="0">
                <a:solidFill>
                  <a:schemeClr val="bg1"/>
                </a:solidFill>
              </a:rPr>
              <a:t>판매자 등급 등을 확인해서</a:t>
            </a:r>
            <a:endParaRPr lang="en-US" altLang="ko-KR" sz="1350" dirty="0">
              <a:solidFill>
                <a:schemeClr val="bg1"/>
              </a:solidFill>
            </a:endParaRPr>
          </a:p>
          <a:p>
            <a:pPr marL="0" indent="0" algn="l">
              <a:buNone/>
            </a:pPr>
            <a:r>
              <a:rPr lang="ko-KR" altLang="en-US" sz="1350" dirty="0">
                <a:solidFill>
                  <a:schemeClr val="bg1"/>
                </a:solidFill>
              </a:rPr>
              <a:t>최종 상품 </a:t>
            </a:r>
            <a:r>
              <a:rPr lang="en-US" altLang="ko-KR" sz="1350" dirty="0">
                <a:solidFill>
                  <a:schemeClr val="bg1"/>
                </a:solidFill>
              </a:rPr>
              <a:t>2 ~ 3</a:t>
            </a:r>
            <a:r>
              <a:rPr lang="ko-KR" altLang="en-US" sz="1350" dirty="0">
                <a:solidFill>
                  <a:schemeClr val="bg1"/>
                </a:solidFill>
              </a:rPr>
              <a:t>개 소싱</a:t>
            </a:r>
            <a:endParaRPr lang="en-US" altLang="ko-KR" sz="1350" dirty="0">
              <a:solidFill>
                <a:schemeClr val="bg1"/>
              </a:solidFill>
            </a:endParaRPr>
          </a:p>
          <a:p>
            <a:pPr marL="0" indent="0" algn="l">
              <a:buNone/>
            </a:pPr>
            <a:endParaRPr lang="en-US" altLang="ko-KR" sz="1350" b="1" i="1" dirty="0">
              <a:solidFill>
                <a:srgbClr val="E0A9A2"/>
              </a:solidFill>
            </a:endParaRPr>
          </a:p>
          <a:p>
            <a:pPr marL="0" indent="0" algn="l">
              <a:buNone/>
            </a:pPr>
            <a:r>
              <a:rPr lang="ko-KR" altLang="en-US" sz="1350" b="1" i="1" dirty="0">
                <a:solidFill>
                  <a:srgbClr val="E0A9A2"/>
                </a:solidFill>
              </a:rPr>
              <a:t>이 때</a:t>
            </a:r>
            <a:r>
              <a:rPr lang="en-US" altLang="ko-KR" sz="1350" b="1" i="1" dirty="0">
                <a:solidFill>
                  <a:srgbClr val="E0A9A2"/>
                </a:solidFill>
              </a:rPr>
              <a:t>, </a:t>
            </a:r>
            <a:r>
              <a:rPr lang="ko-KR" altLang="en-US" sz="1350" b="1" i="1" dirty="0">
                <a:solidFill>
                  <a:srgbClr val="E0A9A2"/>
                </a:solidFill>
              </a:rPr>
              <a:t>상품명 </a:t>
            </a:r>
            <a:r>
              <a:rPr lang="en-US" altLang="ko-KR" sz="1350" b="1" i="1" dirty="0">
                <a:solidFill>
                  <a:srgbClr val="E0A9A2"/>
                </a:solidFill>
              </a:rPr>
              <a:t>/ </a:t>
            </a:r>
            <a:r>
              <a:rPr lang="ko-KR" altLang="en-US" sz="1350" b="1" i="1" dirty="0">
                <a:solidFill>
                  <a:srgbClr val="E0A9A2"/>
                </a:solidFill>
              </a:rPr>
              <a:t>옵션명으로 쓸 키워드를 먼저 확인하고 </a:t>
            </a:r>
            <a:r>
              <a:rPr lang="ko-KR" altLang="en-US" sz="1350" b="1" i="1" dirty="0" err="1">
                <a:solidFill>
                  <a:srgbClr val="E0A9A2"/>
                </a:solidFill>
              </a:rPr>
              <a:t>소싱하는</a:t>
            </a:r>
            <a:r>
              <a:rPr lang="ko-KR" altLang="en-US" sz="1350" b="1" i="1" dirty="0">
                <a:solidFill>
                  <a:srgbClr val="E0A9A2"/>
                </a:solidFill>
              </a:rPr>
              <a:t> 것도 </a:t>
            </a:r>
            <a:r>
              <a:rPr lang="en-US" altLang="ko-KR" sz="1350" b="1" i="1" dirty="0">
                <a:solidFill>
                  <a:srgbClr val="E0A9A2"/>
                </a:solidFill>
              </a:rPr>
              <a:t>tip!</a:t>
            </a:r>
          </a:p>
        </p:txBody>
      </p:sp>
      <p:sp>
        <p:nvSpPr>
          <p:cNvPr id="15" name="Text 11"/>
          <p:cNvSpPr/>
          <p:nvPr/>
        </p:nvSpPr>
        <p:spPr>
          <a:xfrm>
            <a:off x="7470648" y="4732079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7818120" y="4695503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350" dirty="0" err="1">
                <a:solidFill>
                  <a:schemeClr val="bg1"/>
                </a:solidFill>
              </a:rPr>
              <a:t>불사자</a:t>
            </a:r>
            <a:r>
              <a:rPr lang="ko-KR" altLang="en-US" sz="1350" dirty="0">
                <a:solidFill>
                  <a:schemeClr val="bg1"/>
                </a:solidFill>
              </a:rPr>
              <a:t> </a:t>
            </a:r>
            <a:r>
              <a:rPr lang="en-US" altLang="ko-KR" sz="1350" dirty="0">
                <a:solidFill>
                  <a:schemeClr val="bg1"/>
                </a:solidFill>
              </a:rPr>
              <a:t>URL </a:t>
            </a:r>
            <a:r>
              <a:rPr lang="ko-KR" altLang="en-US" sz="1350" dirty="0">
                <a:solidFill>
                  <a:schemeClr val="bg1"/>
                </a:solidFill>
              </a:rPr>
              <a:t>수집</a:t>
            </a:r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21" name="Shape 0">
            <a:extLst>
              <a:ext uri="{FF2B5EF4-FFF2-40B4-BE49-F238E27FC236}">
                <a16:creationId xmlns:a16="http://schemas.microsoft.com/office/drawing/2014/main" id="{B657B81A-9951-6D91-2473-4A33C103A362}"/>
              </a:ext>
            </a:extLst>
          </p:cNvPr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A33C4E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">
            <a:extLst>
              <a:ext uri="{FF2B5EF4-FFF2-40B4-BE49-F238E27FC236}">
                <a16:creationId xmlns:a16="http://schemas.microsoft.com/office/drawing/2014/main" id="{986E069C-257D-807E-F6D8-3157B1F45EBA}"/>
              </a:ext>
            </a:extLst>
          </p:cNvPr>
          <p:cNvSpPr/>
          <p:nvPr/>
        </p:nvSpPr>
        <p:spPr>
          <a:xfrm>
            <a:off x="1417320" y="41148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 err="1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소싱</a:t>
            </a:r>
            <a:r>
              <a:rPr lang="en-US" sz="30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– </a:t>
            </a:r>
            <a:r>
              <a:rPr lang="ko-KR" altLang="en-US" sz="3000" b="1" dirty="0" err="1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타오바오</a:t>
            </a:r>
            <a:r>
              <a:rPr lang="ko-KR" altLang="en-US" sz="30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소싱 및 </a:t>
            </a:r>
            <a:r>
              <a:rPr lang="ko-KR" altLang="en-US" sz="3000" b="1" dirty="0" err="1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불사자</a:t>
            </a:r>
            <a:r>
              <a:rPr lang="ko-KR" altLang="en-US" sz="30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30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URL</a:t>
            </a:r>
            <a:r>
              <a:rPr lang="ko-KR" altLang="en-US" sz="30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수집</a:t>
            </a:r>
            <a:endParaRPr lang="en-US" sz="3000" dirty="0"/>
          </a:p>
        </p:txBody>
      </p:sp>
      <p:sp>
        <p:nvSpPr>
          <p:cNvPr id="23" name="Text 1">
            <a:extLst>
              <a:ext uri="{FF2B5EF4-FFF2-40B4-BE49-F238E27FC236}">
                <a16:creationId xmlns:a16="http://schemas.microsoft.com/office/drawing/2014/main" id="{BF90AE98-6DC4-9255-9B46-1D49EB0325F9}"/>
              </a:ext>
            </a:extLst>
          </p:cNvPr>
          <p:cNvSpPr/>
          <p:nvPr/>
        </p:nvSpPr>
        <p:spPr>
          <a:xfrm>
            <a:off x="548640" y="4114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800" dirty="0"/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87531382-319D-7200-B76B-55A6E92FD8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587095"/>
            <a:ext cx="6546147" cy="3482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9770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A33C4E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17320" y="41148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상품명 만들기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1E2130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868680" y="1673352"/>
            <a:ext cx="621792" cy="621792"/>
          </a:xfrm>
          <a:prstGeom prst="ellipse">
            <a:avLst/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1819656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1417320"/>
            <a:ext cx="9692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목표
</a:t>
            </a:r>
            <a:r>
              <a:rPr lang="en-US" sz="15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규정에 맞으면서 1페이지에 노출되는 키워드만으로 상품명을 완성한다.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548640" y="2880360"/>
            <a:ext cx="384048" cy="384048"/>
          </a:xfrm>
          <a:prstGeom prst="ellipse">
            <a:avLst/>
          </a:prstGeom>
          <a:solidFill>
            <a:srgbClr val="2A2D3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971800"/>
            <a:ext cx="201168" cy="20116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069848" y="2843784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내용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548640" y="3383280"/>
            <a:ext cx="108813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lnSpc>
                <a:spcPct val="120000"/>
              </a:lnSpc>
              <a:spcAft>
                <a:spcPts val="1100"/>
              </a:spcAft>
              <a:buSzPct val="100000"/>
              <a:buNone/>
            </a:pPr>
            <a:r>
              <a:rPr sz="1450" b="1" dirty="0">
                <a:solidFill>
                  <a:srgbClr val="E0A9A2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450" b="0" dirty="0" err="1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카테고리</a:t>
            </a:r>
            <a:r>
              <a:rPr sz="1450" b="0" dirty="0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50" b="0" dirty="0" err="1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확인하기</a:t>
            </a:r>
            <a:r>
              <a:rPr sz="1450" b="0" dirty="0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 — </a:t>
            </a:r>
            <a:r>
              <a:rPr sz="1450" b="0" dirty="0" err="1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상품에</a:t>
            </a:r>
            <a:r>
              <a:rPr sz="1450" b="0" dirty="0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50" b="0" dirty="0" err="1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맞는</a:t>
            </a:r>
            <a:r>
              <a:rPr sz="1450" b="0" dirty="0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50" b="0" dirty="0" err="1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카테고리</a:t>
            </a:r>
            <a:r>
              <a:rPr sz="1450" b="0" dirty="0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50" b="0" dirty="0" err="1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정확히</a:t>
            </a:r>
            <a:r>
              <a:rPr sz="1450" b="0" dirty="0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50" b="0" dirty="0" err="1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매칭</a:t>
            </a:r>
            <a:endParaRPr lang="en-US" sz="1350" dirty="0"/>
          </a:p>
          <a:p>
            <a:pPr>
              <a:lnSpc>
                <a:spcPct val="120000"/>
              </a:lnSpc>
              <a:spcAft>
                <a:spcPts val="1100"/>
              </a:spcAft>
              <a:buNone/>
            </a:pPr>
            <a:r>
              <a:rPr sz="1450" b="1" dirty="0">
                <a:solidFill>
                  <a:srgbClr val="E0A9A2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450" b="0" dirty="0" err="1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불사자</a:t>
            </a:r>
            <a:r>
              <a:rPr sz="1450" b="0" dirty="0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 AI </a:t>
            </a:r>
            <a:r>
              <a:rPr sz="1450" b="0" dirty="0" err="1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상품명</a:t>
            </a:r>
            <a:r>
              <a:rPr sz="1450" b="0" dirty="0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50" b="0" dirty="0" err="1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기능</a:t>
            </a:r>
            <a:r>
              <a:rPr lang="en-US" sz="1450" b="0" dirty="0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(</a:t>
            </a:r>
            <a:r>
              <a:rPr lang="ko-KR" altLang="en-US" sz="1450" b="0" dirty="0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수강생 전용 기능</a:t>
            </a:r>
            <a:r>
              <a:rPr lang="en-US" altLang="ko-KR" sz="1450" b="0" dirty="0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)</a:t>
            </a:r>
            <a:r>
              <a:rPr sz="1450" b="0" dirty="0" err="1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으로</a:t>
            </a:r>
            <a:r>
              <a:rPr sz="1450" b="0" dirty="0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50" b="0" dirty="0" err="1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중소형</a:t>
            </a:r>
            <a:r>
              <a:rPr sz="1450" b="0" dirty="0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50" b="0" dirty="0" err="1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키워드</a:t>
            </a:r>
            <a:r>
              <a:rPr sz="1450" b="0" dirty="0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50" b="0" dirty="0" err="1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찾기</a:t>
            </a:r>
            <a:endParaRPr sz="1450" b="0" dirty="0">
              <a:solidFill>
                <a:srgbClr val="C9CBD4"/>
              </a:solidFill>
              <a:latin typeface="맑은 고딕"/>
              <a:ea typeface="맑은 고딕"/>
              <a:cs typeface="맑은 고딕"/>
            </a:endParaRPr>
          </a:p>
          <a:p>
            <a:pPr>
              <a:lnSpc>
                <a:spcPct val="120000"/>
              </a:lnSpc>
              <a:spcAft>
                <a:spcPts val="1100"/>
              </a:spcAft>
              <a:buNone/>
            </a:pPr>
            <a:r>
              <a:rPr sz="1450" b="1" dirty="0">
                <a:solidFill>
                  <a:srgbClr val="E0A9A2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450" b="0" dirty="0" err="1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중소형</a:t>
            </a:r>
            <a:r>
              <a:rPr sz="1450" b="0" dirty="0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50" b="0" dirty="0" err="1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키워드</a:t>
            </a:r>
            <a:r>
              <a:rPr sz="1450" b="0" dirty="0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50" b="0" dirty="0" err="1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노출</a:t>
            </a:r>
            <a:r>
              <a:rPr sz="1450" b="0" dirty="0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50" b="0" dirty="0" err="1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순위</a:t>
            </a:r>
            <a:r>
              <a:rPr sz="1450" b="0" dirty="0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50" b="0" dirty="0" err="1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확인</a:t>
            </a:r>
            <a:r>
              <a:rPr sz="1450" b="0" dirty="0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 — 1페이지 </a:t>
            </a:r>
            <a:r>
              <a:rPr sz="1450" b="0" dirty="0" err="1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노출</a:t>
            </a:r>
            <a:r>
              <a:rPr sz="1450" b="0" dirty="0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50" b="0" dirty="0" err="1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키워드만</a:t>
            </a:r>
            <a:r>
              <a:rPr sz="1450" b="0" dirty="0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50" b="0" dirty="0" err="1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선별</a:t>
            </a:r>
            <a:endParaRPr sz="1450" b="0" dirty="0">
              <a:solidFill>
                <a:srgbClr val="C9CBD4"/>
              </a:solidFill>
              <a:latin typeface="맑은 고딕"/>
              <a:ea typeface="맑은 고딕"/>
              <a:cs typeface="맑은 고딕"/>
            </a:endParaRPr>
          </a:p>
          <a:p>
            <a:pPr>
              <a:lnSpc>
                <a:spcPct val="120000"/>
              </a:lnSpc>
              <a:spcAft>
                <a:spcPts val="1100"/>
              </a:spcAft>
              <a:buNone/>
            </a:pPr>
            <a:r>
              <a:rPr sz="1450" b="1" dirty="0">
                <a:solidFill>
                  <a:srgbClr val="E0A9A2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450" b="0" dirty="0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1페이지 </a:t>
            </a:r>
            <a:r>
              <a:rPr sz="1450" b="0" dirty="0" err="1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키워드로</a:t>
            </a:r>
            <a:r>
              <a:rPr sz="1450" b="0" dirty="0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50" b="0" dirty="0" err="1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상품명</a:t>
            </a:r>
            <a:r>
              <a:rPr sz="1450" b="0" dirty="0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50" b="0" dirty="0" err="1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완성</a:t>
            </a:r>
            <a:endParaRPr sz="1450" b="0" dirty="0">
              <a:solidFill>
                <a:srgbClr val="C9CBD4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5"/>
          <p:cNvSpPr/>
          <p:nvPr/>
        </p:nvSpPr>
        <p:spPr>
          <a:xfrm>
            <a:off x="7452360" y="1554480"/>
            <a:ext cx="384048" cy="384048"/>
          </a:xfrm>
          <a:prstGeom prst="ellipse">
            <a:avLst/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1645920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973568" y="1517904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5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</a:rPr>
              <a:t>카테고리 확인 방법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7470648" y="2194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7818120" y="2157984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35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해당 키워드로 검색했을 때</a:t>
            </a:r>
            <a:r>
              <a:rPr lang="en-US" altLang="ko-KR" sz="135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 </a:t>
            </a:r>
          </a:p>
          <a:p>
            <a:pPr marL="0" indent="0" algn="l">
              <a:buNone/>
            </a:pPr>
            <a:r>
              <a:rPr lang="ko-KR" altLang="en-US" sz="135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</a:rPr>
              <a:t>하나의 카테고리 상품만 노출되는지 확인</a:t>
            </a:r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13" name="Text 9"/>
          <p:cNvSpPr/>
          <p:nvPr/>
        </p:nvSpPr>
        <p:spPr>
          <a:xfrm>
            <a:off x="7470648" y="30358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7818120" y="2999232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35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불사자로 수집한 상품</a:t>
            </a:r>
            <a:endParaRPr lang="en-US" altLang="ko-KR" sz="1350" dirty="0">
              <a:solidFill>
                <a:schemeClr val="bg1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0" indent="0" algn="l">
              <a:buNone/>
            </a:pPr>
            <a:r>
              <a:rPr lang="ko-KR" altLang="en-US" sz="135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키워드와 동일한 카테고리 되게 설정하기 </a:t>
            </a:r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15" name="Text 11"/>
          <p:cNvSpPr/>
          <p:nvPr/>
        </p:nvSpPr>
        <p:spPr>
          <a:xfrm>
            <a:off x="7470648" y="38770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7818120" y="384048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350" dirty="0" err="1">
                <a:solidFill>
                  <a:schemeClr val="bg1"/>
                </a:solidFill>
              </a:rPr>
              <a:t>불사자</a:t>
            </a:r>
            <a:r>
              <a:rPr lang="ko-KR" altLang="en-US" sz="1350" dirty="0">
                <a:solidFill>
                  <a:schemeClr val="bg1"/>
                </a:solidFill>
              </a:rPr>
              <a:t> </a:t>
            </a:r>
            <a:r>
              <a:rPr lang="en-US" altLang="ko-KR" sz="1350" dirty="0">
                <a:solidFill>
                  <a:schemeClr val="bg1"/>
                </a:solidFill>
              </a:rPr>
              <a:t>[ </a:t>
            </a:r>
            <a:r>
              <a:rPr lang="ko-KR" altLang="en-US" sz="1350" dirty="0">
                <a:solidFill>
                  <a:schemeClr val="bg1"/>
                </a:solidFill>
              </a:rPr>
              <a:t>최적화</a:t>
            </a:r>
            <a:r>
              <a:rPr lang="en-US" altLang="ko-KR" sz="1350" dirty="0">
                <a:solidFill>
                  <a:schemeClr val="bg1"/>
                </a:solidFill>
              </a:rPr>
              <a:t> </a:t>
            </a:r>
            <a:r>
              <a:rPr lang="ko-KR" altLang="en-US" sz="1350" dirty="0">
                <a:solidFill>
                  <a:schemeClr val="bg1"/>
                </a:solidFill>
              </a:rPr>
              <a:t>상품명 짓기 </a:t>
            </a:r>
            <a:r>
              <a:rPr lang="en-US" altLang="ko-KR" sz="1350" dirty="0">
                <a:solidFill>
                  <a:schemeClr val="bg1"/>
                </a:solidFill>
              </a:rPr>
              <a:t>] </a:t>
            </a:r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21" name="Shape 0">
            <a:extLst>
              <a:ext uri="{FF2B5EF4-FFF2-40B4-BE49-F238E27FC236}">
                <a16:creationId xmlns:a16="http://schemas.microsoft.com/office/drawing/2014/main" id="{B657B81A-9951-6D91-2473-4A33C103A362}"/>
              </a:ext>
            </a:extLst>
          </p:cNvPr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A33C4E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">
            <a:extLst>
              <a:ext uri="{FF2B5EF4-FFF2-40B4-BE49-F238E27FC236}">
                <a16:creationId xmlns:a16="http://schemas.microsoft.com/office/drawing/2014/main" id="{986E069C-257D-807E-F6D8-3157B1F45EBA}"/>
              </a:ext>
            </a:extLst>
          </p:cNvPr>
          <p:cNvSpPr/>
          <p:nvPr/>
        </p:nvSpPr>
        <p:spPr>
          <a:xfrm>
            <a:off x="1417320" y="41148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30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상품명 만들기</a:t>
            </a:r>
            <a:r>
              <a:rPr lang="en-US" sz="30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– </a:t>
            </a:r>
            <a:r>
              <a:rPr lang="ko-KR" altLang="en-US" sz="30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카테고리 확인하기</a:t>
            </a:r>
            <a:endParaRPr lang="en-US" sz="3000" dirty="0"/>
          </a:p>
        </p:txBody>
      </p:sp>
      <p:sp>
        <p:nvSpPr>
          <p:cNvPr id="23" name="Text 1">
            <a:extLst>
              <a:ext uri="{FF2B5EF4-FFF2-40B4-BE49-F238E27FC236}">
                <a16:creationId xmlns:a16="http://schemas.microsoft.com/office/drawing/2014/main" id="{BF90AE98-6DC4-9255-9B46-1D49EB0325F9}"/>
              </a:ext>
            </a:extLst>
          </p:cNvPr>
          <p:cNvSpPr/>
          <p:nvPr/>
        </p:nvSpPr>
        <p:spPr>
          <a:xfrm>
            <a:off x="548640" y="4114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800" dirty="0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74EF09CA-3EAD-6017-AC58-ABE29DB2A2F7}"/>
              </a:ext>
            </a:extLst>
          </p:cNvPr>
          <p:cNvGrpSpPr/>
          <p:nvPr/>
        </p:nvGrpSpPr>
        <p:grpSpPr>
          <a:xfrm>
            <a:off x="533400" y="1499615"/>
            <a:ext cx="6673357" cy="4662479"/>
            <a:chOff x="533400" y="1499615"/>
            <a:chExt cx="6673357" cy="4662479"/>
          </a:xfrm>
        </p:grpSpPr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5D4B2DC1-1C4C-52B8-1D40-2DFD3FBEC23F}"/>
                </a:ext>
              </a:extLst>
            </p:cNvPr>
            <p:cNvGrpSpPr/>
            <p:nvPr/>
          </p:nvGrpSpPr>
          <p:grpSpPr>
            <a:xfrm>
              <a:off x="533400" y="1499615"/>
              <a:ext cx="6673357" cy="4662479"/>
              <a:chOff x="533400" y="1499615"/>
              <a:chExt cx="6673357" cy="4662479"/>
            </a:xfrm>
          </p:grpSpPr>
          <p:pic>
            <p:nvPicPr>
              <p:cNvPr id="3" name="그림 2">
                <a:extLst>
                  <a:ext uri="{FF2B5EF4-FFF2-40B4-BE49-F238E27FC236}">
                    <a16:creationId xmlns:a16="http://schemas.microsoft.com/office/drawing/2014/main" id="{866DF7E9-4C37-DF25-25F2-395EEB21607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33400" y="1499615"/>
                <a:ext cx="6673357" cy="4662479"/>
              </a:xfrm>
              <a:prstGeom prst="rect">
                <a:avLst/>
              </a:prstGeom>
            </p:spPr>
          </p:pic>
          <p:sp>
            <p:nvSpPr>
              <p:cNvPr id="4" name="직사각형 3">
                <a:extLst>
                  <a:ext uri="{FF2B5EF4-FFF2-40B4-BE49-F238E27FC236}">
                    <a16:creationId xmlns:a16="http://schemas.microsoft.com/office/drawing/2014/main" id="{F3D5BAD0-64C3-4A8F-9EE3-5063B86C8CB1}"/>
                  </a:ext>
                </a:extLst>
              </p:cNvPr>
              <p:cNvSpPr/>
              <p:nvPr/>
            </p:nvSpPr>
            <p:spPr>
              <a:xfrm>
                <a:off x="2196935" y="3083308"/>
                <a:ext cx="1793174" cy="182405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B56EF9CF-115E-195D-ABD1-94E391DE2DE7}"/>
                </a:ext>
              </a:extLst>
            </p:cNvPr>
            <p:cNvSpPr/>
            <p:nvPr/>
          </p:nvSpPr>
          <p:spPr>
            <a:xfrm>
              <a:off x="3245922" y="1767223"/>
              <a:ext cx="897815" cy="237744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2074155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5"/>
          <p:cNvSpPr/>
          <p:nvPr/>
        </p:nvSpPr>
        <p:spPr>
          <a:xfrm>
            <a:off x="7452360" y="1554480"/>
            <a:ext cx="384048" cy="384048"/>
          </a:xfrm>
          <a:prstGeom prst="ellipse">
            <a:avLst/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1645920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973568" y="1517904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5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</a:rPr>
              <a:t>키워드 순위 체크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7470648" y="2194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7818120" y="2157984"/>
            <a:ext cx="38404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350" dirty="0" err="1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소싱리스트</a:t>
            </a:r>
            <a:r>
              <a:rPr lang="ko-KR" altLang="en-US" sz="135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엑셀 파일에서 찾은 키워드와</a:t>
            </a:r>
            <a:endParaRPr lang="en-US" altLang="ko-KR" sz="1350" dirty="0">
              <a:solidFill>
                <a:schemeClr val="bg1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r>
              <a:rPr lang="ko-KR" altLang="en-US" sz="1350" dirty="0" err="1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불사자</a:t>
            </a:r>
            <a:r>
              <a:rPr lang="ko-KR" altLang="en-US" sz="135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135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 </a:t>
            </a:r>
            <a:r>
              <a:rPr lang="ko-KR" altLang="en-US" sz="135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가성비 황금 </a:t>
            </a:r>
            <a:r>
              <a:rPr lang="ko-KR" altLang="en-US" sz="1350" dirty="0" err="1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키워즈</a:t>
            </a:r>
            <a:r>
              <a:rPr lang="ko-KR" altLang="en-US" sz="135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135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]</a:t>
            </a:r>
            <a:r>
              <a:rPr lang="ko-KR" altLang="en-US" sz="135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중 </a:t>
            </a:r>
            <a:endParaRPr lang="en-US" altLang="ko-KR" sz="1350" dirty="0">
              <a:solidFill>
                <a:schemeClr val="bg1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r>
              <a:rPr lang="en-US" altLang="ko-KR" sz="135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~ 6</a:t>
            </a:r>
            <a:r>
              <a:rPr lang="ko-KR" altLang="en-US" sz="135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 선별하여 </a:t>
            </a:r>
            <a:r>
              <a:rPr lang="ko-KR" altLang="en-US" sz="135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</a:rPr>
              <a:t>시트에 작성</a:t>
            </a:r>
            <a:endParaRPr lang="en-US" altLang="ko-KR" sz="1350" dirty="0">
              <a:solidFill>
                <a:schemeClr val="bg1"/>
              </a:solidFill>
            </a:endParaRPr>
          </a:p>
        </p:txBody>
      </p:sp>
      <p:sp>
        <p:nvSpPr>
          <p:cNvPr id="13" name="Text 9"/>
          <p:cNvSpPr/>
          <p:nvPr/>
        </p:nvSpPr>
        <p:spPr>
          <a:xfrm>
            <a:off x="7470648" y="30358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7818120" y="2999232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350" dirty="0">
                <a:solidFill>
                  <a:schemeClr val="bg1"/>
                </a:solidFill>
              </a:rPr>
              <a:t>각 키워드 별로 상품 복사</a:t>
            </a:r>
            <a:r>
              <a:rPr lang="en-US" altLang="ko-KR" sz="1350" dirty="0">
                <a:solidFill>
                  <a:schemeClr val="bg1"/>
                </a:solidFill>
              </a:rPr>
              <a:t>/</a:t>
            </a:r>
            <a:r>
              <a:rPr lang="ko-KR" altLang="en-US" sz="1350" dirty="0">
                <a:solidFill>
                  <a:schemeClr val="bg1"/>
                </a:solidFill>
              </a:rPr>
              <a:t>등록하여</a:t>
            </a:r>
            <a:endParaRPr lang="en-US" altLang="ko-KR" sz="1350" dirty="0">
              <a:solidFill>
                <a:schemeClr val="bg1"/>
              </a:solidFill>
            </a:endParaRPr>
          </a:p>
          <a:p>
            <a:pPr marL="0" indent="0" algn="l">
              <a:buNone/>
            </a:pPr>
            <a:r>
              <a:rPr lang="ko-KR" altLang="en-US" sz="1350" dirty="0">
                <a:solidFill>
                  <a:schemeClr val="bg1"/>
                </a:solidFill>
              </a:rPr>
              <a:t>순위 체크 및 시트 기입</a:t>
            </a:r>
            <a:endParaRPr lang="en-US" altLang="ko-KR" sz="1350" dirty="0">
              <a:solidFill>
                <a:schemeClr val="bg1"/>
              </a:solidFill>
            </a:endParaRPr>
          </a:p>
          <a:p>
            <a:pPr marL="0" indent="0" algn="l">
              <a:buNone/>
            </a:pPr>
            <a:r>
              <a:rPr lang="en-US" sz="1350" dirty="0">
                <a:solidFill>
                  <a:schemeClr val="bg1"/>
                </a:solidFill>
              </a:rPr>
              <a:t>[</a:t>
            </a:r>
            <a:r>
              <a:rPr lang="ko-KR" altLang="en-US" sz="1350" dirty="0" err="1">
                <a:solidFill>
                  <a:schemeClr val="bg1"/>
                </a:solidFill>
              </a:rPr>
              <a:t>시트명</a:t>
            </a:r>
            <a:r>
              <a:rPr lang="ko-KR" altLang="en-US" sz="1350" dirty="0">
                <a:solidFill>
                  <a:schemeClr val="bg1"/>
                </a:solidFill>
              </a:rPr>
              <a:t> </a:t>
            </a:r>
            <a:r>
              <a:rPr lang="en-US" altLang="ko-KR" sz="1350" dirty="0">
                <a:solidFill>
                  <a:schemeClr val="bg1"/>
                </a:solidFill>
              </a:rPr>
              <a:t>- </a:t>
            </a:r>
            <a:r>
              <a:rPr lang="en-US" sz="1350" dirty="0">
                <a:solidFill>
                  <a:schemeClr val="bg1"/>
                </a:solidFill>
              </a:rPr>
              <a:t>01 </a:t>
            </a:r>
            <a:r>
              <a:rPr lang="ko-KR" altLang="en-US" sz="1350" dirty="0">
                <a:solidFill>
                  <a:schemeClr val="bg1"/>
                </a:solidFill>
              </a:rPr>
              <a:t>키워드 순위체크</a:t>
            </a:r>
            <a:r>
              <a:rPr lang="en-US" altLang="ko-KR" sz="1350" dirty="0">
                <a:solidFill>
                  <a:schemeClr val="bg1"/>
                </a:solidFill>
              </a:rPr>
              <a:t>]</a:t>
            </a:r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15" name="Text 11"/>
          <p:cNvSpPr/>
          <p:nvPr/>
        </p:nvSpPr>
        <p:spPr>
          <a:xfrm>
            <a:off x="7470648" y="40789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7818120" y="404236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ko-KR" sz="1350" dirty="0">
                <a:solidFill>
                  <a:schemeClr val="bg1"/>
                </a:solidFill>
              </a:rPr>
              <a:t>40</a:t>
            </a:r>
            <a:r>
              <a:rPr lang="ko-KR" altLang="en-US" sz="1350" dirty="0">
                <a:solidFill>
                  <a:schemeClr val="bg1"/>
                </a:solidFill>
              </a:rPr>
              <a:t>위 내 키워드가 몇 개인지 파악</a:t>
            </a:r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21" name="Shape 0">
            <a:extLst>
              <a:ext uri="{FF2B5EF4-FFF2-40B4-BE49-F238E27FC236}">
                <a16:creationId xmlns:a16="http://schemas.microsoft.com/office/drawing/2014/main" id="{B657B81A-9951-6D91-2473-4A33C103A362}"/>
              </a:ext>
            </a:extLst>
          </p:cNvPr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A33C4E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">
            <a:extLst>
              <a:ext uri="{FF2B5EF4-FFF2-40B4-BE49-F238E27FC236}">
                <a16:creationId xmlns:a16="http://schemas.microsoft.com/office/drawing/2014/main" id="{986E069C-257D-807E-F6D8-3157B1F45EBA}"/>
              </a:ext>
            </a:extLst>
          </p:cNvPr>
          <p:cNvSpPr/>
          <p:nvPr/>
        </p:nvSpPr>
        <p:spPr>
          <a:xfrm>
            <a:off x="1417320" y="41148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30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상품명 만들기</a:t>
            </a:r>
            <a:r>
              <a:rPr lang="en-US" sz="30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– </a:t>
            </a:r>
            <a:r>
              <a:rPr lang="ko-KR" altLang="en-US" sz="3000" b="1" dirty="0" err="1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황금키워드</a:t>
            </a:r>
            <a:r>
              <a:rPr lang="ko-KR" altLang="en-US" sz="30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찾기</a:t>
            </a:r>
            <a:endParaRPr lang="en-US" sz="3000" dirty="0"/>
          </a:p>
        </p:txBody>
      </p:sp>
      <p:sp>
        <p:nvSpPr>
          <p:cNvPr id="23" name="Text 1">
            <a:extLst>
              <a:ext uri="{FF2B5EF4-FFF2-40B4-BE49-F238E27FC236}">
                <a16:creationId xmlns:a16="http://schemas.microsoft.com/office/drawing/2014/main" id="{BF90AE98-6DC4-9255-9B46-1D49EB0325F9}"/>
              </a:ext>
            </a:extLst>
          </p:cNvPr>
          <p:cNvSpPr/>
          <p:nvPr/>
        </p:nvSpPr>
        <p:spPr>
          <a:xfrm>
            <a:off x="548640" y="4114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800" dirty="0"/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BB47DFE8-6D1E-DA5B-908F-38E731BED695}"/>
              </a:ext>
            </a:extLst>
          </p:cNvPr>
          <p:cNvGrpSpPr/>
          <p:nvPr/>
        </p:nvGrpSpPr>
        <p:grpSpPr>
          <a:xfrm>
            <a:off x="664533" y="1446329"/>
            <a:ext cx="6138166" cy="4011334"/>
            <a:chOff x="664533" y="1645920"/>
            <a:chExt cx="6138166" cy="4011334"/>
          </a:xfrm>
        </p:grpSpPr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620F8BFF-7A7C-0914-FF83-F4E871115E6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6548" t="15209" r="1781"/>
            <a:stretch>
              <a:fillRect/>
            </a:stretch>
          </p:blipFill>
          <p:spPr>
            <a:xfrm>
              <a:off x="664533" y="1645920"/>
              <a:ext cx="6138166" cy="4011334"/>
            </a:xfrm>
            <a:prstGeom prst="rect">
              <a:avLst/>
            </a:prstGeom>
          </p:spPr>
        </p:pic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400EB773-0B40-E398-8BAD-09BC7A072A05}"/>
                </a:ext>
              </a:extLst>
            </p:cNvPr>
            <p:cNvSpPr/>
            <p:nvPr/>
          </p:nvSpPr>
          <p:spPr>
            <a:xfrm>
              <a:off x="1520041" y="4480560"/>
              <a:ext cx="3883232" cy="423949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5" name="Text 5">
            <a:extLst>
              <a:ext uri="{FF2B5EF4-FFF2-40B4-BE49-F238E27FC236}">
                <a16:creationId xmlns:a16="http://schemas.microsoft.com/office/drawing/2014/main" id="{F90A86C7-CC9B-A0DD-FF68-C15AAC214FC9}"/>
              </a:ext>
            </a:extLst>
          </p:cNvPr>
          <p:cNvSpPr/>
          <p:nvPr/>
        </p:nvSpPr>
        <p:spPr>
          <a:xfrm>
            <a:off x="751115" y="5612042"/>
            <a:ext cx="9692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altLang="ko-KR" sz="12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&lt;</a:t>
            </a:r>
            <a:r>
              <a:rPr lang="ko-KR" altLang="en-US" sz="12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참고</a:t>
            </a:r>
            <a:r>
              <a:rPr lang="en-US" altLang="ko-KR" sz="12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&gt;</a:t>
            </a:r>
            <a:r>
              <a:rPr lang="en-US" sz="12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</a:p>
          <a:p>
            <a:pPr marL="0" indent="0" algn="l">
              <a:lnSpc>
                <a:spcPct val="105000"/>
              </a:lnSpc>
              <a:buNone/>
            </a:pPr>
            <a:endParaRPr lang="en-US" sz="600" b="1" dirty="0">
              <a:solidFill>
                <a:srgbClr val="E0A9A2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0" indent="0" algn="l">
              <a:lnSpc>
                <a:spcPct val="105000"/>
              </a:lnSpc>
              <a:buNone/>
            </a:pPr>
            <a:r>
              <a:rPr lang="ko-KR" altLang="en-US" sz="15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네이버에 등록된 </a:t>
            </a:r>
            <a:r>
              <a:rPr lang="ko-KR" altLang="en-US" sz="155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상품수가 적을수록</a:t>
            </a:r>
            <a:r>
              <a:rPr lang="ko-KR" altLang="en-US" sz="15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상위노출에 유리합니다</a:t>
            </a:r>
            <a:r>
              <a:rPr lang="en-US" altLang="ko-KR" sz="15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!</a:t>
            </a:r>
          </a:p>
        </p:txBody>
      </p:sp>
      <p:sp>
        <p:nvSpPr>
          <p:cNvPr id="26" name="Text 13">
            <a:extLst>
              <a:ext uri="{FF2B5EF4-FFF2-40B4-BE49-F238E27FC236}">
                <a16:creationId xmlns:a16="http://schemas.microsoft.com/office/drawing/2014/main" id="{4CE3D5E3-02EC-F0B5-F69C-3AD32F136B1D}"/>
              </a:ext>
            </a:extLst>
          </p:cNvPr>
          <p:cNvSpPr/>
          <p:nvPr/>
        </p:nvSpPr>
        <p:spPr>
          <a:xfrm>
            <a:off x="7470648" y="47183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14">
            <a:extLst>
              <a:ext uri="{FF2B5EF4-FFF2-40B4-BE49-F238E27FC236}">
                <a16:creationId xmlns:a16="http://schemas.microsoft.com/office/drawing/2014/main" id="{F3FCD608-26CC-9134-0506-31608B0D4754}"/>
              </a:ext>
            </a:extLst>
          </p:cNvPr>
          <p:cNvSpPr/>
          <p:nvPr/>
        </p:nvSpPr>
        <p:spPr>
          <a:xfrm>
            <a:off x="7818120" y="468172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35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상품명 만들기</a:t>
            </a:r>
            <a:r>
              <a:rPr lang="en-US" altLang="ko-KR" sz="135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!</a:t>
            </a:r>
            <a:endParaRPr lang="en-US" sz="1350" dirty="0">
              <a:solidFill>
                <a:schemeClr val="bg1"/>
              </a:solidFill>
            </a:endParaRPr>
          </a:p>
        </p:txBody>
      </p:sp>
      <p:pic>
        <p:nvPicPr>
          <p:cNvPr id="28" name="그래픽 27" descr="단색으로 채워진 웃는 얼굴 단색으로 채워진">
            <a:hlinkClick r:id="rId5"/>
            <a:extLst>
              <a:ext uri="{FF2B5EF4-FFF2-40B4-BE49-F238E27FC236}">
                <a16:creationId xmlns:a16="http://schemas.microsoft.com/office/drawing/2014/main" id="{C104ACDC-DC1F-B977-5754-2C847E4BAB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212797" y="3233447"/>
            <a:ext cx="461916" cy="461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3701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0">
            <a:extLst>
              <a:ext uri="{FF2B5EF4-FFF2-40B4-BE49-F238E27FC236}">
                <a16:creationId xmlns:a16="http://schemas.microsoft.com/office/drawing/2014/main" id="{2B51C7A0-38AF-9434-AB47-7F5DBAA6B722}"/>
              </a:ext>
            </a:extLst>
          </p:cNvPr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A33C4E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Text 1">
            <a:extLst>
              <a:ext uri="{FF2B5EF4-FFF2-40B4-BE49-F238E27FC236}">
                <a16:creationId xmlns:a16="http://schemas.microsoft.com/office/drawing/2014/main" id="{74E4E6D4-CEF8-1DC8-77AD-B8C446D5A022}"/>
              </a:ext>
            </a:extLst>
          </p:cNvPr>
          <p:cNvSpPr/>
          <p:nvPr/>
        </p:nvSpPr>
        <p:spPr>
          <a:xfrm>
            <a:off x="548640" y="4114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2400" dirty="0"/>
          </a:p>
        </p:txBody>
      </p:sp>
      <p:sp>
        <p:nvSpPr>
          <p:cNvPr id="27" name="Text 2">
            <a:extLst>
              <a:ext uri="{FF2B5EF4-FFF2-40B4-BE49-F238E27FC236}">
                <a16:creationId xmlns:a16="http://schemas.microsoft.com/office/drawing/2014/main" id="{689CFACB-A561-A188-C8E9-B2E30A0995D1}"/>
              </a:ext>
            </a:extLst>
          </p:cNvPr>
          <p:cNvSpPr/>
          <p:nvPr/>
        </p:nvSpPr>
        <p:spPr>
          <a:xfrm>
            <a:off x="1417320" y="41148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상품명 만들기</a:t>
            </a:r>
            <a:endParaRPr lang="en-US" sz="3000" dirty="0"/>
          </a:p>
        </p:txBody>
      </p:sp>
      <p:sp>
        <p:nvSpPr>
          <p:cNvPr id="28" name="Shape 3">
            <a:extLst>
              <a:ext uri="{FF2B5EF4-FFF2-40B4-BE49-F238E27FC236}">
                <a16:creationId xmlns:a16="http://schemas.microsoft.com/office/drawing/2014/main" id="{A7FFAB21-537A-C387-392E-459E95D3C729}"/>
              </a:ext>
            </a:extLst>
          </p:cNvPr>
          <p:cNvSpPr/>
          <p:nvPr/>
        </p:nvSpPr>
        <p:spPr>
          <a:xfrm>
            <a:off x="777240" y="1554480"/>
            <a:ext cx="10634472" cy="2971800"/>
          </a:xfrm>
          <a:prstGeom prst="roundRect">
            <a:avLst>
              <a:gd name="adj" fmla="val 3692"/>
            </a:avLst>
          </a:prstGeom>
          <a:solidFill>
            <a:srgbClr val="1E2130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Text 4">
            <a:extLst>
              <a:ext uri="{FF2B5EF4-FFF2-40B4-BE49-F238E27FC236}">
                <a16:creationId xmlns:a16="http://schemas.microsoft.com/office/drawing/2014/main" id="{19F0B770-BF60-6A8D-2F05-BE507BAF8699}"/>
              </a:ext>
            </a:extLst>
          </p:cNvPr>
          <p:cNvSpPr/>
          <p:nvPr/>
        </p:nvSpPr>
        <p:spPr>
          <a:xfrm>
            <a:off x="1078992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800" dirty="0"/>
          </a:p>
        </p:txBody>
      </p:sp>
      <p:sp>
        <p:nvSpPr>
          <p:cNvPr id="30" name="Text 5">
            <a:extLst>
              <a:ext uri="{FF2B5EF4-FFF2-40B4-BE49-F238E27FC236}">
                <a16:creationId xmlns:a16="http://schemas.microsoft.com/office/drawing/2014/main" id="{A37DA588-682E-DB17-6A96-E4809CDDCFEC}"/>
              </a:ext>
            </a:extLst>
          </p:cNvPr>
          <p:cNvSpPr/>
          <p:nvPr/>
        </p:nvSpPr>
        <p:spPr>
          <a:xfrm>
            <a:off x="1691640" y="1783080"/>
            <a:ext cx="93268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90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여기까지만 해도, </a:t>
            </a:r>
            <a:r>
              <a:rPr lang="en-US" sz="19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중소형 키워드 순위를 하나씩 체크</a:t>
            </a:r>
            <a:r>
              <a:rPr lang="en-US" sz="190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하면 1페이지 노출은 가능합니다.
</a:t>
            </a:r>
            <a:r>
              <a:rPr lang="en-US" sz="19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하지만 '되는 것'과 '확실하게 되는 것'은 다릅니다.
</a:t>
            </a:r>
            <a:r>
              <a:rPr lang="en-US" sz="19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최적 텀카운트 찾기</a:t>
            </a:r>
            <a:r>
              <a:rPr lang="en-US" sz="190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와 </a:t>
            </a:r>
            <a:r>
              <a:rPr lang="en-US" sz="19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중복어 테스트</a:t>
            </a:r>
            <a:r>
              <a:rPr lang="en-US" sz="190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까지 더하면,</a:t>
            </a:r>
            <a:endParaRPr lang="en-US" sz="19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90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키워드라도 더 정확하고 안정적으로 상위에 올라갑니다.</a:t>
            </a:r>
            <a:endParaRPr lang="en-US" sz="1900" dirty="0"/>
          </a:p>
        </p:txBody>
      </p:sp>
      <p:sp>
        <p:nvSpPr>
          <p:cNvPr id="31" name="Shape 6">
            <a:extLst>
              <a:ext uri="{FF2B5EF4-FFF2-40B4-BE49-F238E27FC236}">
                <a16:creationId xmlns:a16="http://schemas.microsoft.com/office/drawing/2014/main" id="{FB445BF3-0CA2-87A4-13D9-BDCEFC03D29A}"/>
              </a:ext>
            </a:extLst>
          </p:cNvPr>
          <p:cNvSpPr/>
          <p:nvPr/>
        </p:nvSpPr>
        <p:spPr>
          <a:xfrm>
            <a:off x="777240" y="4892040"/>
            <a:ext cx="2971800" cy="594360"/>
          </a:xfrm>
          <a:prstGeom prst="roundRect">
            <a:avLst>
              <a:gd name="adj" fmla="val 49231"/>
            </a:avLst>
          </a:prstGeom>
          <a:solidFill>
            <a:srgbClr val="1E2130"/>
          </a:solidFill>
          <a:ln w="12700">
            <a:solidFill>
              <a:srgbClr val="E0A9A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7">
            <a:extLst>
              <a:ext uri="{FF2B5EF4-FFF2-40B4-BE49-F238E27FC236}">
                <a16:creationId xmlns:a16="http://schemas.microsoft.com/office/drawing/2014/main" id="{55289810-41F2-6A8F-D7B4-A8D0C5B4A49D}"/>
              </a:ext>
            </a:extLst>
          </p:cNvPr>
          <p:cNvSpPr/>
          <p:nvPr/>
        </p:nvSpPr>
        <p:spPr>
          <a:xfrm>
            <a:off x="777240" y="489204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최적 텀카운트 찾기</a:t>
            </a:r>
            <a:endParaRPr lang="en-US" sz="1500" dirty="0"/>
          </a:p>
        </p:txBody>
      </p:sp>
      <p:sp>
        <p:nvSpPr>
          <p:cNvPr id="33" name="Shape 8">
            <a:extLst>
              <a:ext uri="{FF2B5EF4-FFF2-40B4-BE49-F238E27FC236}">
                <a16:creationId xmlns:a16="http://schemas.microsoft.com/office/drawing/2014/main" id="{36D2EEE7-D9F3-2E5A-8499-4E13CB94F465}"/>
              </a:ext>
            </a:extLst>
          </p:cNvPr>
          <p:cNvSpPr/>
          <p:nvPr/>
        </p:nvSpPr>
        <p:spPr>
          <a:xfrm>
            <a:off x="4069080" y="4892040"/>
            <a:ext cx="2231136" cy="594360"/>
          </a:xfrm>
          <a:prstGeom prst="roundRect">
            <a:avLst>
              <a:gd name="adj" fmla="val 49231"/>
            </a:avLst>
          </a:prstGeom>
          <a:solidFill>
            <a:srgbClr val="1E2130"/>
          </a:solidFill>
          <a:ln w="12700">
            <a:solidFill>
              <a:srgbClr val="E0A9A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9">
            <a:extLst>
              <a:ext uri="{FF2B5EF4-FFF2-40B4-BE49-F238E27FC236}">
                <a16:creationId xmlns:a16="http://schemas.microsoft.com/office/drawing/2014/main" id="{9709E503-8102-29C7-AB23-1C22028DADEC}"/>
              </a:ext>
            </a:extLst>
          </p:cNvPr>
          <p:cNvSpPr/>
          <p:nvPr/>
        </p:nvSpPr>
        <p:spPr>
          <a:xfrm>
            <a:off x="4069080" y="4892040"/>
            <a:ext cx="22311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중복어 테스트</a:t>
            </a:r>
            <a:endParaRPr lang="en-US" sz="1500" dirty="0"/>
          </a:p>
        </p:txBody>
      </p:sp>
      <p:sp>
        <p:nvSpPr>
          <p:cNvPr id="35" name="Text 10">
            <a:extLst>
              <a:ext uri="{FF2B5EF4-FFF2-40B4-BE49-F238E27FC236}">
                <a16:creationId xmlns:a16="http://schemas.microsoft.com/office/drawing/2014/main" id="{79B44568-7B61-8B1F-9BFB-8EDF1A82BE58}"/>
              </a:ext>
            </a:extLst>
          </p:cNvPr>
          <p:cNvSpPr/>
          <p:nvPr/>
        </p:nvSpPr>
        <p:spPr>
          <a:xfrm>
            <a:off x="777240" y="576072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자, 이제 </a:t>
            </a:r>
            <a:r>
              <a:rPr lang="en-US" sz="26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진짜 디테일</a:t>
            </a:r>
            <a:r>
              <a:rPr lang="en-US" sz="26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 들어갑니다.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35640223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A33C4E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17320" y="41148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최적 텀카운트 &amp; 중복 횟수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1E2130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868680" y="1673352"/>
            <a:ext cx="621792" cy="621792"/>
          </a:xfrm>
          <a:prstGeom prst="ellipse">
            <a:avLst/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1819656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1417320"/>
            <a:ext cx="9692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목표
</a:t>
            </a:r>
            <a:r>
              <a:rPr lang="en-US" sz="15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대표 키워드를 기준으로 최적 텀카운트와 중복어 허용 범위를 찾아 상품명을 정밀 최적화한다.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548640" y="2880360"/>
            <a:ext cx="384048" cy="384048"/>
          </a:xfrm>
          <a:prstGeom prst="ellipse">
            <a:avLst/>
          </a:prstGeom>
          <a:solidFill>
            <a:srgbClr val="2A2D3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971800"/>
            <a:ext cx="201168" cy="20116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69848" y="2843784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내용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548640" y="3383280"/>
            <a:ext cx="108813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lnSpc>
                <a:spcPct val="120000"/>
              </a:lnSpc>
              <a:spcAft>
                <a:spcPts val="1100"/>
              </a:spcAft>
              <a:buSzPct val="100000"/>
              <a:buNone/>
            </a:pPr>
            <a:r>
              <a:rPr sz="1450" b="1" dirty="0">
                <a:solidFill>
                  <a:srgbClr val="E0A9A2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450" b="0" dirty="0" err="1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대표</a:t>
            </a:r>
            <a:r>
              <a:rPr sz="1450" b="0" dirty="0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50" b="0" dirty="0" err="1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키워드</a:t>
            </a:r>
            <a:r>
              <a:rPr sz="1450" b="0" dirty="0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50" b="0" dirty="0" err="1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찾기</a:t>
            </a:r>
            <a:r>
              <a:rPr sz="1450" b="0" dirty="0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(</a:t>
            </a:r>
            <a:r>
              <a:rPr lang="en-US" sz="1450" b="0" dirty="0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3</a:t>
            </a:r>
            <a:r>
              <a:rPr sz="1450" b="0" dirty="0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~500위권) → </a:t>
            </a:r>
            <a:r>
              <a:rPr sz="1450" b="0" dirty="0" err="1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기준</a:t>
            </a:r>
            <a:r>
              <a:rPr sz="1450" b="0" dirty="0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50" b="0" dirty="0" err="1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순위</a:t>
            </a:r>
            <a:r>
              <a:rPr sz="1450" b="0" dirty="0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50" b="0" dirty="0" err="1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확인</a:t>
            </a:r>
            <a:endParaRPr lang="en-US" sz="1350" dirty="0"/>
          </a:p>
          <a:p>
            <a:pPr>
              <a:lnSpc>
                <a:spcPct val="120000"/>
              </a:lnSpc>
              <a:spcAft>
                <a:spcPts val="1100"/>
              </a:spcAft>
              <a:buNone/>
            </a:pPr>
            <a:r>
              <a:rPr lang="en-US" altLang="ko-KR" sz="1450" b="1" dirty="0">
                <a:solidFill>
                  <a:srgbClr val="E0A9A2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lang="ko-KR" altLang="en-US" sz="1450" b="0" dirty="0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최적 </a:t>
            </a:r>
            <a:r>
              <a:rPr lang="ko-KR" altLang="en-US" sz="1450" b="0" dirty="0" err="1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텀카운트</a:t>
            </a:r>
            <a:r>
              <a:rPr lang="ko-KR" altLang="en-US" sz="1450" b="0" dirty="0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 찾기</a:t>
            </a:r>
          </a:p>
          <a:p>
            <a:pPr>
              <a:lnSpc>
                <a:spcPct val="120000"/>
              </a:lnSpc>
              <a:spcAft>
                <a:spcPts val="1100"/>
              </a:spcAft>
              <a:buNone/>
            </a:pPr>
            <a:r>
              <a:rPr lang="en-US" altLang="ko-KR" sz="1450" b="1" dirty="0">
                <a:solidFill>
                  <a:srgbClr val="E0A9A2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lang="ko-KR" altLang="en-US" sz="1450" b="0" dirty="0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찾은 최적 </a:t>
            </a:r>
            <a:r>
              <a:rPr lang="ko-KR" altLang="en-US" sz="1450" b="0" dirty="0" err="1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텀카운트로</a:t>
            </a:r>
            <a:r>
              <a:rPr lang="ko-KR" altLang="en-US" sz="1450" b="0" dirty="0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 중소형 키워드 </a:t>
            </a:r>
            <a:r>
              <a:rPr lang="ko-KR" altLang="en-US" sz="1450" b="0" dirty="0" err="1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중복어</a:t>
            </a:r>
            <a:r>
              <a:rPr lang="ko-KR" altLang="en-US" sz="1450" b="0" dirty="0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 사용 가능 여부 테스트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개념부터 배우자!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텀카운트(Term Count)란?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91672" cy="1005840"/>
          </a:xfrm>
          <a:prstGeom prst="roundRect">
            <a:avLst>
              <a:gd name="adj" fmla="val 7273"/>
            </a:avLst>
          </a:prstGeom>
          <a:solidFill>
            <a:srgbClr val="1E2130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68680" y="146304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 엔진은 상품명을 단순 </a:t>
            </a:r>
            <a:r>
              <a:rPr lang="en-US" sz="1600" b="1" dirty="0">
                <a:solidFill>
                  <a:srgbClr val="989A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'글자 수(49자)'</a:t>
            </a:r>
            <a:r>
              <a:rPr lang="en-US" sz="160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아니라, 엔진 기준으로 쪼갠 </a:t>
            </a:r>
            <a:r>
              <a:rPr lang="en-US" sz="16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'단어(텀)의 개수'</a:t>
            </a:r>
            <a:r>
              <a:rPr lang="en-US" sz="160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 인식합니다.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" y="2788920"/>
            <a:ext cx="2834640" cy="868680"/>
          </a:xfrm>
          <a:prstGeom prst="roundRect">
            <a:avLst>
              <a:gd name="adj" fmla="val 8421"/>
            </a:avLst>
          </a:prstGeom>
          <a:solidFill>
            <a:srgbClr val="23263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77240" y="278892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서랍장겸화장대</a:t>
            </a:r>
            <a:endParaRPr lang="en-US" sz="19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4760" y="3090672"/>
            <a:ext cx="292608" cy="29260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434840" y="2907792"/>
            <a:ext cx="1700784" cy="640080"/>
          </a:xfrm>
          <a:prstGeom prst="roundRect">
            <a:avLst>
              <a:gd name="adj" fmla="val 50000"/>
            </a:avLst>
          </a:prstGeom>
          <a:solidFill>
            <a:srgbClr val="232634"/>
          </a:solidFill>
          <a:ln w="12700">
            <a:solidFill>
              <a:srgbClr val="E0A9A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4434840" y="2907792"/>
            <a:ext cx="1700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서랍장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318504" y="2907792"/>
            <a:ext cx="932688" cy="640080"/>
          </a:xfrm>
          <a:prstGeom prst="roundRect">
            <a:avLst>
              <a:gd name="adj" fmla="val 50000"/>
            </a:avLst>
          </a:prstGeom>
          <a:solidFill>
            <a:srgbClr val="232634"/>
          </a:solidFill>
          <a:ln w="12700">
            <a:solidFill>
              <a:srgbClr val="E0A9A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6318504" y="2907792"/>
            <a:ext cx="9326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겸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434072" y="2907792"/>
            <a:ext cx="1700784" cy="640080"/>
          </a:xfrm>
          <a:prstGeom prst="roundRect">
            <a:avLst>
              <a:gd name="adj" fmla="val 50000"/>
            </a:avLst>
          </a:prstGeom>
          <a:solidFill>
            <a:srgbClr val="232634"/>
          </a:solidFill>
          <a:ln w="12700">
            <a:solidFill>
              <a:srgbClr val="E0A9A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7434072" y="2907792"/>
            <a:ext cx="1700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화장대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9409176" y="290779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 3개의 텀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548640" y="4069080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1E2130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315968"/>
            <a:ext cx="329184" cy="32918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371600" y="406908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허수 텀   </a:t>
            </a:r>
            <a:r>
              <a:rPr lang="en-US" sz="14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'예쁜' 같이 엔진이 무의미하다고 판단하는 수식어는 카운트에 잡히지 않습니다.</a:t>
            </a:r>
            <a:endParaRPr lang="en-US" sz="1450" dirty="0"/>
          </a:p>
        </p:txBody>
      </p:sp>
      <p:sp>
        <p:nvSpPr>
          <p:cNvPr id="19" name="Shape 15"/>
          <p:cNvSpPr/>
          <p:nvPr/>
        </p:nvSpPr>
        <p:spPr>
          <a:xfrm>
            <a:off x="548640" y="5074920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1E2130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68" y="5330952"/>
            <a:ext cx="310896" cy="31089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371600" y="507492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 방법   </a:t>
            </a:r>
            <a:r>
              <a:rPr lang="en-US" sz="14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상품명을 따옴표("")로 묶어 '이름으로만 검색' → 개발자도구(F12) 네트워크 탭에서 확인</a:t>
            </a:r>
            <a:endParaRPr lang="en-US" sz="14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텀카운트 · 개념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텀카운트 패널티란?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989A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네이버의 각 '최하위 세부 카테고리'에는 허용하는 텀카운트의 뚜렷한 한계치가 있습니다.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310128" cy="2103120"/>
          </a:xfrm>
          <a:prstGeom prst="roundRect">
            <a:avLst>
              <a:gd name="adj" fmla="val 4348"/>
            </a:avLst>
          </a:prstGeom>
          <a:solidFill>
            <a:srgbClr val="1E2130"/>
          </a:solidFill>
          <a:ln w="17780">
            <a:solidFill>
              <a:srgbClr val="A33C4E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22960" y="2468880"/>
            <a:ext cx="2761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A33C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한계치 초과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3063240"/>
            <a:ext cx="27614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단어를 무작정</a:t>
            </a:r>
            <a:endParaRPr lang="en-US" sz="14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많이 구겨 넣음</a:t>
            </a:r>
            <a:endParaRPr lang="en-US" sz="14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7056" y="3035808"/>
            <a:ext cx="210312" cy="32918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105656" y="2148840"/>
            <a:ext cx="3310128" cy="2103120"/>
          </a:xfrm>
          <a:prstGeom prst="roundRect">
            <a:avLst>
              <a:gd name="adj" fmla="val 4348"/>
            </a:avLst>
          </a:prstGeom>
          <a:solidFill>
            <a:srgbClr val="1E2130"/>
          </a:solidFill>
          <a:ln w="17780">
            <a:solidFill>
              <a:srgbClr val="E0A9A2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4379976" y="2468880"/>
            <a:ext cx="2761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적합도 점수 하락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379976" y="3063240"/>
            <a:ext cx="27614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검색어와의</a:t>
            </a:r>
            <a:endParaRPr lang="en-US" sz="14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적합도 점수가 깎임</a:t>
            </a:r>
            <a:endParaRPr lang="en-US" sz="14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4072" y="3035808"/>
            <a:ext cx="210312" cy="329184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7662672" y="2148840"/>
            <a:ext cx="3310128" cy="2103120"/>
          </a:xfrm>
          <a:prstGeom prst="roundRect">
            <a:avLst>
              <a:gd name="adj" fmla="val 4348"/>
            </a:avLst>
          </a:prstGeom>
          <a:solidFill>
            <a:srgbClr val="1E2130"/>
          </a:solidFill>
          <a:ln w="17780">
            <a:solidFill>
              <a:srgbClr val="A33C4E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0"/>
          <p:cNvSpPr/>
          <p:nvPr/>
        </p:nvSpPr>
        <p:spPr>
          <a:xfrm>
            <a:off x="7936992" y="2468880"/>
            <a:ext cx="2761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A33C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노출 순위 하락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7936992" y="3063240"/>
            <a:ext cx="27614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 노출 순위가</a:t>
            </a:r>
            <a:endParaRPr lang="en-US" sz="14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크게 떨어짐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548640" y="4663440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1E2130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910328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71600" y="466344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정리   </a:t>
            </a:r>
            <a:r>
              <a:rPr lang="en-US" sz="14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한계를 넘겨 단어를 많이 넣을수록 오히려 순위가 떨어지는 현상 = </a:t>
            </a:r>
            <a:r>
              <a:rPr lang="en-US" sz="145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'텀카운트 패널티'</a:t>
            </a:r>
            <a:endParaRPr lang="en-US" sz="14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텀카운트 · 개념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최적 텀카운트란?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91672" cy="1188720"/>
          </a:xfrm>
          <a:prstGeom prst="roundRect">
            <a:avLst>
              <a:gd name="adj" fmla="val 7692"/>
            </a:avLst>
          </a:prstGeom>
          <a:solidFill>
            <a:srgbClr val="2A1B1E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914400" y="1508760"/>
            <a:ext cx="10332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패널티 없이 상품명에 꽉 채워 넣을 수 있는  </a:t>
            </a:r>
            <a:r>
              <a:rPr lang="en-US" sz="21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'최대 키워드 개수의 한계선'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914400" y="3657600"/>
            <a:ext cx="6400800" cy="640080"/>
          </a:xfrm>
          <a:prstGeom prst="roundRect">
            <a:avLst>
              <a:gd name="adj" fmla="val 14286"/>
            </a:avLst>
          </a:prstGeom>
          <a:solidFill>
            <a:srgbClr val="5FA89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7315200" y="3657600"/>
            <a:ext cx="3931920" cy="640080"/>
          </a:xfrm>
          <a:prstGeom prst="roundRect">
            <a:avLst>
              <a:gd name="adj" fmla="val 14286"/>
            </a:avLst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7205472" y="3383280"/>
            <a:ext cx="128016" cy="1188720"/>
          </a:xfrm>
          <a:prstGeom prst="roundRect">
            <a:avLst/>
          </a:prstGeom>
          <a:solidFill>
            <a:srgbClr val="E0A9A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914400" y="437083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FA8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 구간 — 키워드 더 넣어도 OK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0" y="437083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33C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패널티 구간 — 순위 하락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40680" y="29260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최적 텀카운트 (한계선)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4800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89A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텀 적음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418320" y="4800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89A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텀 많음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54406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989A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딱 이 한계선까지 유효 키워드를 최대한 배치하는 것이 핵심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텀카운트 · 테스트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최적 텀카운트 찾는 법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91672" cy="731520"/>
          </a:xfrm>
          <a:prstGeom prst="roundRect">
            <a:avLst>
              <a:gd name="adj" fmla="val 10000"/>
            </a:avLst>
          </a:prstGeom>
          <a:solidFill>
            <a:srgbClr val="1E2130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777240" y="1627632"/>
            <a:ext cx="402336" cy="402336"/>
          </a:xfrm>
          <a:prstGeom prst="ellipse">
            <a:avLst/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77240" y="16276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25880" y="1463040"/>
            <a:ext cx="10131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3~500위권 </a:t>
            </a:r>
            <a:r>
              <a:rPr lang="en-US" sz="135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'대표 키워드'</a:t>
            </a:r>
            <a:r>
              <a:rPr lang="en-US" sz="13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 상품 등록 → 2~30분 대기 후 순위 확인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11091672" cy="731520"/>
          </a:xfrm>
          <a:prstGeom prst="roundRect">
            <a:avLst>
              <a:gd name="adj" fmla="val 10000"/>
            </a:avLst>
          </a:prstGeom>
          <a:solidFill>
            <a:srgbClr val="1E2130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777240" y="2496312"/>
            <a:ext cx="402336" cy="402336"/>
          </a:xfrm>
          <a:prstGeom prst="ellipse">
            <a:avLst/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777240" y="24963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25880" y="2331720"/>
            <a:ext cx="10131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텀카운트 </a:t>
            </a:r>
            <a:r>
              <a:rPr lang="en-US" sz="135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r>
              <a:rPr lang="en-US" sz="13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 순위 확인 </a:t>
            </a:r>
            <a:r>
              <a:rPr lang="en-US" sz="1350" dirty="0">
                <a:solidFill>
                  <a:srgbClr val="989A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(기준점)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291840"/>
            <a:ext cx="5449824" cy="1783080"/>
          </a:xfrm>
          <a:prstGeom prst="roundRect">
            <a:avLst>
              <a:gd name="adj" fmla="val 5128"/>
            </a:avLst>
          </a:prstGeom>
          <a:solidFill>
            <a:srgbClr val="1E2130"/>
          </a:solidFill>
          <a:ln w="16510">
            <a:solidFill>
              <a:srgbClr val="5FA894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868680" y="352044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5FA8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 · ‘</a:t>
            </a:r>
            <a:r>
              <a:rPr lang="ko-KR" altLang="en-US" sz="1500" b="1" dirty="0">
                <a:solidFill>
                  <a:srgbClr val="5FA8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대표 키워드</a:t>
            </a:r>
            <a:r>
              <a:rPr lang="en-US" altLang="ko-KR" sz="1500" b="1" dirty="0">
                <a:solidFill>
                  <a:srgbClr val="5FA8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’</a:t>
            </a:r>
            <a:r>
              <a:rPr lang="ko-KR" altLang="en-US" sz="1500" b="1" dirty="0">
                <a:solidFill>
                  <a:srgbClr val="5FA8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와 </a:t>
            </a:r>
            <a:r>
              <a:rPr lang="en-US" sz="1500" b="1" dirty="0" err="1">
                <a:solidFill>
                  <a:srgbClr val="5FA8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순위가</a:t>
            </a:r>
            <a:r>
              <a:rPr lang="en-US" sz="1500" b="1" dirty="0">
                <a:solidFill>
                  <a:srgbClr val="5FA8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동일하면
</a:t>
            </a:r>
            <a:r>
              <a:rPr lang="en-US" sz="13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텀카운트를 </a:t>
            </a:r>
            <a:r>
              <a:rPr lang="en-US" sz="135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· 9로 늘리며</a:t>
            </a:r>
            <a:r>
              <a:rPr lang="en-US" sz="13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순위가 떨어지는 지점을 </a:t>
            </a:r>
            <a:r>
              <a:rPr lang="en-US" sz="1350" dirty="0" err="1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찾기</a:t>
            </a:r>
            <a:r>
              <a:rPr lang="en-US" sz="13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</a:t>
            </a:r>
            <a:r>
              <a:rPr lang="en-US" sz="135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떨어지기 직전</a:t>
            </a:r>
            <a:r>
              <a:rPr lang="en-US" sz="13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최적 텀카운트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190488" y="3291840"/>
            <a:ext cx="5449824" cy="1783080"/>
          </a:xfrm>
          <a:prstGeom prst="roundRect">
            <a:avLst>
              <a:gd name="adj" fmla="val 5128"/>
            </a:avLst>
          </a:prstGeom>
          <a:solidFill>
            <a:srgbClr val="1E2130"/>
          </a:solidFill>
          <a:ln w="16510">
            <a:solidFill>
              <a:srgbClr val="A33C4E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510528" y="352044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 · ‘</a:t>
            </a:r>
            <a:r>
              <a:rPr lang="ko-KR" altLang="en-US" sz="15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대표 키워드</a:t>
            </a:r>
            <a:r>
              <a:rPr lang="en-US" altLang="ko-KR" sz="15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’ </a:t>
            </a:r>
            <a:r>
              <a:rPr lang="ko-KR" altLang="en-US" sz="15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순위보다 </a:t>
            </a:r>
            <a:r>
              <a:rPr lang="en-US" sz="1500" b="1" dirty="0" err="1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떨어지면</a:t>
            </a:r>
            <a:r>
              <a:rPr lang="en-US" sz="15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
</a:t>
            </a:r>
            <a:r>
              <a:rPr lang="en-US" sz="13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텀카운트를 </a:t>
            </a:r>
            <a:r>
              <a:rPr lang="en-US" sz="135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· 5로 줄이며</a:t>
            </a:r>
            <a:r>
              <a:rPr lang="en-US" sz="13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대표 키워드와 </a:t>
            </a:r>
            <a:r>
              <a:rPr lang="en-US" sz="135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동일한 순위가 나오는 지점</a:t>
            </a:r>
            <a:r>
              <a:rPr lang="en-US" sz="13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최적 텀카운트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5257800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1E2130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5504688"/>
            <a:ext cx="329184" cy="329184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371600" y="52578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 err="1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주의</a:t>
            </a:r>
            <a:r>
              <a:rPr lang="en-US" sz="145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</a:t>
            </a:r>
            <a:r>
              <a:rPr lang="en-US" sz="14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최적 텀카운트는 </a:t>
            </a:r>
            <a:r>
              <a:rPr lang="en-US" sz="145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최하위 세부 카테고리마다 전부 다릅니다</a:t>
            </a:r>
            <a:r>
              <a:rPr lang="en-US" sz="14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→ 새 카테고리마다 반드시 테스트!</a:t>
            </a:r>
            <a:endParaRPr lang="en-US" sz="14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5"/>
          <p:cNvSpPr/>
          <p:nvPr/>
        </p:nvSpPr>
        <p:spPr>
          <a:xfrm>
            <a:off x="7452360" y="1554480"/>
            <a:ext cx="384048" cy="384048"/>
          </a:xfrm>
          <a:prstGeom prst="ellipse">
            <a:avLst/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1645920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973568" y="1517904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5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</a:rPr>
              <a:t>실습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7470648" y="2194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7818120" y="2157984"/>
            <a:ext cx="38404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350" dirty="0">
                <a:solidFill>
                  <a:schemeClr val="bg1"/>
                </a:solidFill>
              </a:rPr>
              <a:t>등록 상품 </a:t>
            </a:r>
            <a:r>
              <a:rPr lang="en-US" altLang="ko-KR" sz="1350" dirty="0">
                <a:solidFill>
                  <a:schemeClr val="bg1"/>
                </a:solidFill>
              </a:rPr>
              <a:t>1</a:t>
            </a:r>
            <a:r>
              <a:rPr lang="ko-KR" altLang="en-US" sz="1350" dirty="0">
                <a:solidFill>
                  <a:schemeClr val="bg1"/>
                </a:solidFill>
              </a:rPr>
              <a:t>만</a:t>
            </a:r>
            <a:r>
              <a:rPr lang="en-US" altLang="ko-KR" sz="1350" dirty="0">
                <a:solidFill>
                  <a:schemeClr val="bg1"/>
                </a:solidFill>
              </a:rPr>
              <a:t>~2</a:t>
            </a:r>
            <a:r>
              <a:rPr lang="ko-KR" altLang="en-US" sz="1350" dirty="0">
                <a:solidFill>
                  <a:schemeClr val="bg1"/>
                </a:solidFill>
              </a:rPr>
              <a:t>만개 정도인 키워드를 대표 키워드로 하고 순위 테스트 해보기</a:t>
            </a:r>
            <a:endParaRPr lang="en-US" altLang="ko-KR" sz="1350" dirty="0">
              <a:solidFill>
                <a:schemeClr val="bg1"/>
              </a:solidFill>
            </a:endParaRPr>
          </a:p>
        </p:txBody>
      </p:sp>
      <p:sp>
        <p:nvSpPr>
          <p:cNvPr id="13" name="Text 9"/>
          <p:cNvSpPr/>
          <p:nvPr/>
        </p:nvSpPr>
        <p:spPr>
          <a:xfrm>
            <a:off x="7470648" y="30358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7818120" y="2999232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350" dirty="0">
                <a:solidFill>
                  <a:schemeClr val="bg1"/>
                </a:solidFill>
              </a:rPr>
              <a:t>순위가 </a:t>
            </a:r>
            <a:r>
              <a:rPr lang="en-US" altLang="ko-KR" sz="1350" dirty="0">
                <a:solidFill>
                  <a:schemeClr val="bg1"/>
                </a:solidFill>
              </a:rPr>
              <a:t>3~500</a:t>
            </a:r>
            <a:r>
              <a:rPr lang="ko-KR" altLang="en-US" sz="1350" dirty="0">
                <a:solidFill>
                  <a:schemeClr val="bg1"/>
                </a:solidFill>
              </a:rPr>
              <a:t>위 정도인 키워드를 찾아서</a:t>
            </a:r>
            <a:endParaRPr lang="en-US" altLang="ko-KR" sz="1350" dirty="0">
              <a:solidFill>
                <a:schemeClr val="bg1"/>
              </a:solidFill>
            </a:endParaRPr>
          </a:p>
          <a:p>
            <a:pPr marL="0" indent="0" algn="l">
              <a:buNone/>
            </a:pPr>
            <a:r>
              <a:rPr lang="ko-KR" altLang="en-US" sz="1350" dirty="0">
                <a:solidFill>
                  <a:schemeClr val="bg1"/>
                </a:solidFill>
              </a:rPr>
              <a:t>그 키워드를 대표 키워드로 두고</a:t>
            </a:r>
            <a:endParaRPr lang="en-US" altLang="ko-KR" sz="1350" dirty="0">
              <a:solidFill>
                <a:schemeClr val="bg1"/>
              </a:solidFill>
            </a:endParaRPr>
          </a:p>
          <a:p>
            <a:pPr marL="0" indent="0" algn="l">
              <a:buNone/>
            </a:pPr>
            <a:r>
              <a:rPr lang="ko-KR" altLang="en-US" sz="1350" dirty="0">
                <a:solidFill>
                  <a:schemeClr val="bg1"/>
                </a:solidFill>
              </a:rPr>
              <a:t>최적 </a:t>
            </a:r>
            <a:r>
              <a:rPr lang="ko-KR" altLang="en-US" sz="1350" dirty="0" err="1">
                <a:solidFill>
                  <a:schemeClr val="bg1"/>
                </a:solidFill>
              </a:rPr>
              <a:t>텀카운트를</a:t>
            </a:r>
            <a:r>
              <a:rPr lang="ko-KR" altLang="en-US" sz="1350" dirty="0">
                <a:solidFill>
                  <a:schemeClr val="bg1"/>
                </a:solidFill>
              </a:rPr>
              <a:t> 찾아본다</a:t>
            </a:r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15" name="Text 11"/>
          <p:cNvSpPr/>
          <p:nvPr/>
        </p:nvSpPr>
        <p:spPr>
          <a:xfrm>
            <a:off x="7470648" y="38770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7818120" y="384048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350" dirty="0">
                <a:solidFill>
                  <a:schemeClr val="bg1"/>
                </a:solidFill>
              </a:rPr>
              <a:t>구글 시트에 테스트 결과 기입하기</a:t>
            </a:r>
            <a:endParaRPr lang="en-US" altLang="ko-KR" sz="1350" dirty="0">
              <a:solidFill>
                <a:schemeClr val="bg1"/>
              </a:solidFill>
            </a:endParaRPr>
          </a:p>
          <a:p>
            <a:pPr marL="0" indent="0" algn="l">
              <a:buNone/>
            </a:pPr>
            <a:r>
              <a:rPr lang="ko-KR" altLang="en-US" sz="1350" dirty="0" err="1">
                <a:solidFill>
                  <a:schemeClr val="bg1"/>
                </a:solidFill>
              </a:rPr>
              <a:t>시트명</a:t>
            </a:r>
            <a:r>
              <a:rPr lang="ko-KR" altLang="en-US" sz="1350" dirty="0">
                <a:solidFill>
                  <a:schemeClr val="bg1"/>
                </a:solidFill>
              </a:rPr>
              <a:t> </a:t>
            </a:r>
            <a:r>
              <a:rPr lang="en-US" altLang="ko-KR" sz="1350" dirty="0">
                <a:solidFill>
                  <a:schemeClr val="bg1"/>
                </a:solidFill>
              </a:rPr>
              <a:t>[ 02 </a:t>
            </a:r>
            <a:r>
              <a:rPr lang="ko-KR" altLang="en-US" sz="1350" dirty="0">
                <a:solidFill>
                  <a:schemeClr val="bg1"/>
                </a:solidFill>
              </a:rPr>
              <a:t>최적 </a:t>
            </a:r>
            <a:r>
              <a:rPr lang="ko-KR" altLang="en-US" sz="1350" dirty="0" err="1">
                <a:solidFill>
                  <a:schemeClr val="bg1"/>
                </a:solidFill>
              </a:rPr>
              <a:t>텀카운트</a:t>
            </a:r>
            <a:r>
              <a:rPr lang="ko-KR" altLang="en-US" sz="1350" dirty="0">
                <a:solidFill>
                  <a:schemeClr val="bg1"/>
                </a:solidFill>
              </a:rPr>
              <a:t> 찾기 </a:t>
            </a:r>
            <a:r>
              <a:rPr lang="en-US" altLang="ko-KR" sz="1350" dirty="0">
                <a:solidFill>
                  <a:schemeClr val="bg1"/>
                </a:solidFill>
              </a:rPr>
              <a:t>&amp; </a:t>
            </a:r>
            <a:r>
              <a:rPr lang="ko-KR" altLang="en-US" sz="1350" dirty="0">
                <a:solidFill>
                  <a:schemeClr val="bg1"/>
                </a:solidFill>
              </a:rPr>
              <a:t>키워드 배열</a:t>
            </a:r>
            <a:r>
              <a:rPr lang="en-US" altLang="ko-KR" sz="1350" dirty="0">
                <a:solidFill>
                  <a:schemeClr val="bg1"/>
                </a:solidFill>
              </a:rPr>
              <a:t>]</a:t>
            </a:r>
          </a:p>
          <a:p>
            <a:pPr marL="0" indent="0" algn="l">
              <a:buNone/>
            </a:pPr>
            <a:endParaRPr lang="en-US" altLang="ko-KR" sz="1350" dirty="0">
              <a:solidFill>
                <a:schemeClr val="bg1"/>
              </a:solidFill>
            </a:endParaRPr>
          </a:p>
          <a:p>
            <a:pPr marL="0" indent="0" algn="l">
              <a:buNone/>
            </a:pPr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27" name="Text 14">
            <a:extLst>
              <a:ext uri="{FF2B5EF4-FFF2-40B4-BE49-F238E27FC236}">
                <a16:creationId xmlns:a16="http://schemas.microsoft.com/office/drawing/2014/main" id="{F3FCD608-26CC-9134-0506-31608B0D4754}"/>
              </a:ext>
            </a:extLst>
          </p:cNvPr>
          <p:cNvSpPr/>
          <p:nvPr/>
        </p:nvSpPr>
        <p:spPr>
          <a:xfrm>
            <a:off x="7818120" y="468172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44394617-55CA-8428-DC05-0218479CAD34}"/>
              </a:ext>
            </a:extLst>
          </p:cNvPr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A33C4E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F865291-691C-4E54-A6E7-55216279B0AA}"/>
              </a:ext>
            </a:extLst>
          </p:cNvPr>
          <p:cNvSpPr/>
          <p:nvPr/>
        </p:nvSpPr>
        <p:spPr>
          <a:xfrm>
            <a:off x="548640" y="4114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DD4F614-EA88-829C-5781-B55C489DE79C}"/>
              </a:ext>
            </a:extLst>
          </p:cNvPr>
          <p:cNvSpPr/>
          <p:nvPr/>
        </p:nvSpPr>
        <p:spPr>
          <a:xfrm>
            <a:off x="1417320" y="41148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최적 </a:t>
            </a:r>
            <a:r>
              <a:rPr lang="en-US" sz="3000" b="1" dirty="0" err="1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텀카운트</a:t>
            </a:r>
            <a:r>
              <a:rPr lang="en-US" sz="30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30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찾기 실습</a:t>
            </a:r>
            <a:endParaRPr lang="en-US" sz="3000" dirty="0"/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15B4922F-4A48-5698-B2A5-D61607C68323}"/>
              </a:ext>
            </a:extLst>
          </p:cNvPr>
          <p:cNvGrpSpPr/>
          <p:nvPr/>
        </p:nvGrpSpPr>
        <p:grpSpPr>
          <a:xfrm>
            <a:off x="891540" y="1746504"/>
            <a:ext cx="5410669" cy="3010161"/>
            <a:chOff x="891540" y="1746504"/>
            <a:chExt cx="5410669" cy="3010161"/>
          </a:xfrm>
        </p:grpSpPr>
        <p:pic>
          <p:nvPicPr>
            <p:cNvPr id="32" name="그림 31">
              <a:extLst>
                <a:ext uri="{FF2B5EF4-FFF2-40B4-BE49-F238E27FC236}">
                  <a16:creationId xmlns:a16="http://schemas.microsoft.com/office/drawing/2014/main" id="{82B9A048-CAA2-054A-62A7-410E8F5A39D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91540" y="1746504"/>
              <a:ext cx="5410669" cy="3010161"/>
            </a:xfrm>
            <a:prstGeom prst="rect">
              <a:avLst/>
            </a:prstGeom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CA9D738A-9573-CAB9-7BCD-DB0813563319}"/>
                </a:ext>
              </a:extLst>
            </p:cNvPr>
            <p:cNvSpPr/>
            <p:nvPr/>
          </p:nvSpPr>
          <p:spPr>
            <a:xfrm>
              <a:off x="1234440" y="3300287"/>
              <a:ext cx="3990703" cy="315482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30" name="그래픽 29" descr="단색으로 채워진 웃는 얼굴 단색으로 채워진">
            <a:hlinkClick r:id="rId5"/>
            <a:extLst>
              <a:ext uri="{FF2B5EF4-FFF2-40B4-BE49-F238E27FC236}">
                <a16:creationId xmlns:a16="http://schemas.microsoft.com/office/drawing/2014/main" id="{AB307B83-B402-FD54-377C-D304A37C186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18120" y="4357688"/>
            <a:ext cx="461916" cy="461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7017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5"/>
          <p:cNvSpPr/>
          <p:nvPr/>
        </p:nvSpPr>
        <p:spPr>
          <a:xfrm>
            <a:off x="7452360" y="1554480"/>
            <a:ext cx="384048" cy="384048"/>
          </a:xfrm>
          <a:prstGeom prst="ellipse">
            <a:avLst/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1645920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973568" y="1517904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5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</a:rPr>
              <a:t>테스트 유의사항</a:t>
            </a:r>
            <a:r>
              <a:rPr lang="en-US" altLang="ko-KR" sz="15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</a:rPr>
              <a:t>!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7470648" y="2194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7818120" y="2157984"/>
            <a:ext cx="38404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ko-KR" sz="1350" dirty="0">
                <a:solidFill>
                  <a:srgbClr val="E0A9A2"/>
                </a:solidFill>
              </a:rPr>
              <a:t>“</a:t>
            </a:r>
            <a:r>
              <a:rPr lang="ko-KR" altLang="en-US" sz="1350" dirty="0">
                <a:solidFill>
                  <a:srgbClr val="E0A9A2"/>
                </a:solidFill>
              </a:rPr>
              <a:t>검색어</a:t>
            </a:r>
            <a:r>
              <a:rPr lang="en-US" altLang="ko-KR" sz="1350" dirty="0">
                <a:solidFill>
                  <a:srgbClr val="E0A9A2"/>
                </a:solidFill>
              </a:rPr>
              <a:t>” </a:t>
            </a:r>
            <a:r>
              <a:rPr lang="ko-KR" altLang="en-US" sz="1350" dirty="0">
                <a:solidFill>
                  <a:srgbClr val="E0A9A2"/>
                </a:solidFill>
              </a:rPr>
              <a:t>로만 검색하기</a:t>
            </a:r>
            <a:endParaRPr lang="en-US" altLang="ko-KR" sz="1350" dirty="0">
              <a:solidFill>
                <a:srgbClr val="E0A9A2"/>
              </a:solidFill>
            </a:endParaRPr>
          </a:p>
          <a:p>
            <a:endParaRPr lang="en-US" altLang="ko-KR" sz="1350" dirty="0">
              <a:solidFill>
                <a:schemeClr val="bg1"/>
              </a:solidFill>
            </a:endParaRPr>
          </a:p>
          <a:p>
            <a:r>
              <a:rPr lang="ko-KR" altLang="en-US" sz="1350" dirty="0">
                <a:solidFill>
                  <a:schemeClr val="bg1"/>
                </a:solidFill>
              </a:rPr>
              <a:t>꼭 클릭해서 테스트하고자 하는 키워드 결과값 정확히 확인하기</a:t>
            </a:r>
            <a:endParaRPr lang="en-US" altLang="ko-KR" sz="1350" dirty="0">
              <a:solidFill>
                <a:schemeClr val="bg1"/>
              </a:solidFill>
            </a:endParaRPr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44394617-55CA-8428-DC05-0218479CAD34}"/>
              </a:ext>
            </a:extLst>
          </p:cNvPr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A33C4E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F865291-691C-4E54-A6E7-55216279B0AA}"/>
              </a:ext>
            </a:extLst>
          </p:cNvPr>
          <p:cNvSpPr/>
          <p:nvPr/>
        </p:nvSpPr>
        <p:spPr>
          <a:xfrm>
            <a:off x="548640" y="4114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DD4F614-EA88-829C-5781-B55C489DE79C}"/>
              </a:ext>
            </a:extLst>
          </p:cNvPr>
          <p:cNvSpPr/>
          <p:nvPr/>
        </p:nvSpPr>
        <p:spPr>
          <a:xfrm>
            <a:off x="1417320" y="41148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 err="1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최적</a:t>
            </a:r>
            <a:r>
              <a:rPr lang="en-US" sz="30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3000" b="1" dirty="0" err="1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텀카운트</a:t>
            </a:r>
            <a:r>
              <a:rPr lang="en-US" sz="30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30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찾기</a:t>
            </a:r>
            <a:endParaRPr lang="en-US" sz="3000" dirty="0"/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BC259D68-7FE8-3A78-9B2C-0C5BAAF9340D}"/>
              </a:ext>
            </a:extLst>
          </p:cNvPr>
          <p:cNvGrpSpPr/>
          <p:nvPr/>
        </p:nvGrpSpPr>
        <p:grpSpPr>
          <a:xfrm>
            <a:off x="663025" y="1645920"/>
            <a:ext cx="6131314" cy="1432684"/>
            <a:chOff x="663025" y="1645920"/>
            <a:chExt cx="6131314" cy="1432684"/>
          </a:xfrm>
        </p:grpSpPr>
        <p:pic>
          <p:nvPicPr>
            <p:cNvPr id="20" name="그림 19">
              <a:extLst>
                <a:ext uri="{FF2B5EF4-FFF2-40B4-BE49-F238E27FC236}">
                  <a16:creationId xmlns:a16="http://schemas.microsoft.com/office/drawing/2014/main" id="{0A544F51-725B-D8C4-94F1-A511E6DE0E1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r="26591"/>
            <a:stretch>
              <a:fillRect/>
            </a:stretch>
          </p:blipFill>
          <p:spPr>
            <a:xfrm>
              <a:off x="663025" y="1645920"/>
              <a:ext cx="6131314" cy="1432684"/>
            </a:xfrm>
            <a:prstGeom prst="rect">
              <a:avLst/>
            </a:prstGeom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CA9D738A-9573-CAB9-7BCD-DB0813563319}"/>
                </a:ext>
              </a:extLst>
            </p:cNvPr>
            <p:cNvSpPr/>
            <p:nvPr/>
          </p:nvSpPr>
          <p:spPr>
            <a:xfrm>
              <a:off x="3173064" y="2659246"/>
              <a:ext cx="1896649" cy="315482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991616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A33C4E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17320" y="41148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Daily 순위 추적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1E2130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868680" y="1673352"/>
            <a:ext cx="621792" cy="621792"/>
          </a:xfrm>
          <a:prstGeom prst="ellipse">
            <a:avLst/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1819656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1417320"/>
            <a:ext cx="9692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목표
</a:t>
            </a:r>
            <a:r>
              <a:rPr lang="en-US" sz="15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등록한 상품의 순위를 매일 추적해 최적화 결과를 검증하고 관리한다.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48640" y="2880360"/>
            <a:ext cx="384048" cy="384048"/>
          </a:xfrm>
          <a:prstGeom prst="ellipse">
            <a:avLst/>
          </a:prstGeom>
          <a:solidFill>
            <a:srgbClr val="2A2D3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971800"/>
            <a:ext cx="201168" cy="20116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69848" y="2843784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내용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548640" y="3383280"/>
            <a:ext cx="108813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lnSpc>
                <a:spcPct val="120000"/>
              </a:lnSpc>
              <a:spcAft>
                <a:spcPts val="1100"/>
              </a:spcAft>
              <a:buSzPct val="100000"/>
              <a:buNone/>
            </a:pPr>
            <a:r>
              <a:rPr sz="1450" b="1" dirty="0">
                <a:solidFill>
                  <a:srgbClr val="E0A9A2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450" b="0" dirty="0" err="1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셀링하니에</a:t>
            </a:r>
            <a:r>
              <a:rPr sz="1450" b="0" dirty="0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50" b="0" dirty="0" err="1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추적</a:t>
            </a:r>
            <a:r>
              <a:rPr sz="1450" b="0" dirty="0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50" b="0" dirty="0" err="1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키워드</a:t>
            </a:r>
            <a:r>
              <a:rPr sz="1450" b="0" dirty="0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50" b="0" dirty="0" err="1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등록</a:t>
            </a:r>
            <a:endParaRPr lang="en-US" sz="1350" dirty="0"/>
          </a:p>
          <a:p>
            <a:pPr>
              <a:lnSpc>
                <a:spcPct val="120000"/>
              </a:lnSpc>
              <a:spcAft>
                <a:spcPts val="1100"/>
              </a:spcAft>
              <a:buNone/>
            </a:pPr>
            <a:r>
              <a:rPr sz="1450" b="1" dirty="0">
                <a:solidFill>
                  <a:srgbClr val="E0A9A2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lang="ko-KR" altLang="en-US" sz="1450" b="0" dirty="0" err="1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셀링하니</a:t>
            </a:r>
            <a:r>
              <a:rPr lang="ko-KR" altLang="en-US" sz="1450" b="0" dirty="0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 추천인 코드 </a:t>
            </a:r>
            <a:r>
              <a:rPr lang="en-US" altLang="ko-KR" sz="1450" dirty="0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: </a:t>
            </a:r>
            <a:r>
              <a:rPr lang="ko-KR" altLang="en-US" sz="1450" dirty="0" err="1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용팀장</a:t>
            </a:r>
            <a:endParaRPr lang="en-US" altLang="ko-KR" sz="1450" b="0" dirty="0">
              <a:solidFill>
                <a:srgbClr val="C9CBD4"/>
              </a:solidFill>
              <a:latin typeface="맑은 고딕"/>
              <a:ea typeface="맑은 고딕"/>
              <a:cs typeface="맑은 고딕"/>
            </a:endParaRPr>
          </a:p>
          <a:p>
            <a:pPr>
              <a:lnSpc>
                <a:spcPct val="120000"/>
              </a:lnSpc>
              <a:spcAft>
                <a:spcPts val="1100"/>
              </a:spcAft>
              <a:buNone/>
            </a:pPr>
            <a:r>
              <a:rPr lang="en-US" altLang="ko-KR" sz="1450" b="1" dirty="0">
                <a:solidFill>
                  <a:srgbClr val="E0A9A2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lang="en-US" altLang="ko-KR" sz="1450" dirty="0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daily </a:t>
            </a:r>
            <a:r>
              <a:rPr lang="ko-KR" altLang="en-US" sz="1450" dirty="0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순위 추적 </a:t>
            </a:r>
            <a:r>
              <a:rPr lang="en-US" altLang="ko-KR" sz="1450" dirty="0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— </a:t>
            </a:r>
            <a:r>
              <a:rPr lang="ko-KR" altLang="en-US" sz="1450" dirty="0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키워드별 순위를 매일 확인해 상품명 최적화 검증</a:t>
            </a:r>
          </a:p>
          <a:p>
            <a:pPr>
              <a:lnSpc>
                <a:spcPct val="120000"/>
              </a:lnSpc>
              <a:spcAft>
                <a:spcPts val="1100"/>
              </a:spcAft>
              <a:buNone/>
            </a:pPr>
            <a:endParaRPr lang="ko-KR" altLang="en-US" sz="1450" b="0" dirty="0">
              <a:solidFill>
                <a:srgbClr val="C9CBD4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646</TotalTime>
  <Words>2122</Words>
  <Application>Microsoft Office PowerPoint</Application>
  <PresentationFormat>와이드스크린</PresentationFormat>
  <Paragraphs>395</Paragraphs>
  <Slides>28</Slides>
  <Notes>28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31" baseType="lpstr">
      <vt:lpstr>맑은 고딕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네이버 1페이지 점령 - 1주차</dc:title>
  <dc:subject>PptxGenJS Presentation</dc:subject>
  <dc:creator>용감한 용팀장</dc:creator>
  <cp:lastModifiedBy>용 최</cp:lastModifiedBy>
  <cp:revision>24</cp:revision>
  <dcterms:created xsi:type="dcterms:W3CDTF">2026-06-12T02:15:20Z</dcterms:created>
  <dcterms:modified xsi:type="dcterms:W3CDTF">2026-06-12T15:17:31Z</dcterms:modified>
</cp:coreProperties>
</file>