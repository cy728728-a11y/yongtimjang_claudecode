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292" r:id="rId49"/>
    <p:sldId id="293" r:id="rId50"/>
    <p:sldId id="294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F4A86167-AC27-4299-87BB-E282C3EAA034}"/>
    <pc:docChg chg="modSld">
      <pc:chgData name="용 최" userId="1589a7fea772e98f" providerId="LiveId" clId="{F4A86167-AC27-4299-87BB-E282C3EAA034}" dt="2026-07-11T03:22:49.587" v="3" actId="1076"/>
      <pc:docMkLst>
        <pc:docMk/>
      </pc:docMkLst>
      <pc:sldChg chg="modSp mod">
        <pc:chgData name="용 최" userId="1589a7fea772e98f" providerId="LiveId" clId="{F4A86167-AC27-4299-87BB-E282C3EAA034}" dt="2026-07-11T01:46:22.900" v="1" actId="14100"/>
        <pc:sldMkLst>
          <pc:docMk/>
          <pc:sldMk cId="0" sldId="270"/>
        </pc:sldMkLst>
        <pc:picChg chg="mod">
          <ac:chgData name="용 최" userId="1589a7fea772e98f" providerId="LiveId" clId="{F4A86167-AC27-4299-87BB-E282C3EAA034}" dt="2026-07-11T01:46:22.900" v="1" actId="14100"/>
          <ac:picMkLst>
            <pc:docMk/>
            <pc:sldMk cId="0" sldId="270"/>
            <ac:picMk id="21" creationId="{47784F90-37DC-4AEE-67CD-A7E55302F332}"/>
          </ac:picMkLst>
        </pc:picChg>
      </pc:sldChg>
      <pc:sldChg chg="addSp modSp mod">
        <pc:chgData name="용 최" userId="1589a7fea772e98f" providerId="LiveId" clId="{F4A86167-AC27-4299-87BB-E282C3EAA034}" dt="2026-07-11T03:22:49.587" v="3" actId="1076"/>
        <pc:sldMkLst>
          <pc:docMk/>
          <pc:sldMk cId="0" sldId="304"/>
        </pc:sldMkLst>
        <pc:picChg chg="add mod">
          <ac:chgData name="용 최" userId="1589a7fea772e98f" providerId="LiveId" clId="{F4A86167-AC27-4299-87BB-E282C3EAA034}" dt="2026-07-11T03:22:49.587" v="3" actId="1076"/>
          <ac:picMkLst>
            <pc:docMk/>
            <pc:sldMk cId="0" sldId="304"/>
            <ac:picMk id="22" creationId="{FF393858-FD7D-A2B5-9CB2-0DA4160446F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Uqnhs9rAEErqdHlNR5FP4TuwOKnXmj1XSqb6Oj8vQI/edit?gid=0#gid=0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실전반  ·  5주차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팔리고 난 뒤가
</a:t>
            </a:r>
            <a:r>
              <a:rPr lang="en-US" sz="4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시작이다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· 반품 · 주문처리 · </a:t>
            </a:r>
            <a:r>
              <a:rPr lang="en-US" sz="1600" dirty="0" err="1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로고&amp;배너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5주차 한눈에 보기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2602154" cy="2148840"/>
          </a:xfrm>
          <a:prstGeom prst="roundRect">
            <a:avLst>
              <a:gd name="adj" fmla="val 340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67512" y="1627632"/>
            <a:ext cx="475488" cy="47548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67512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7512" y="2267712"/>
            <a:ext cx="2090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SMemo 설치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7512" y="2761488"/>
            <a:ext cx="20900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응대 필수 도구 세팅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3674" y="1371600"/>
            <a:ext cx="2602154" cy="2148840"/>
          </a:xfrm>
          <a:prstGeom prst="roundRect">
            <a:avLst>
              <a:gd name="adj" fmla="val 340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589706" y="1627632"/>
            <a:ext cx="475488" cy="47548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89706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9706" y="2267712"/>
            <a:ext cx="2090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매뉴얼 공개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89706" y="2761488"/>
            <a:ext cx="20900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직원 교육자료 원문 그대로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5868" y="1371600"/>
            <a:ext cx="2602154" cy="2148840"/>
          </a:xfrm>
          <a:prstGeom prst="roundRect">
            <a:avLst>
              <a:gd name="adj" fmla="val 340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11900" y="1627632"/>
            <a:ext cx="475488" cy="47548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1190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1900" y="2267712"/>
            <a:ext cx="2090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반품·교환 처리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11900" y="2761488"/>
            <a:ext cx="20900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자동회수 방지 + 케이스별 판단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78061" y="1371600"/>
            <a:ext cx="2602154" cy="2148840"/>
          </a:xfrm>
          <a:prstGeom prst="roundRect">
            <a:avLst>
              <a:gd name="adj" fmla="val 340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434093" y="1627632"/>
            <a:ext cx="475488" cy="47548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434093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34093" y="2267712"/>
            <a:ext cx="2090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아바닛 완전정복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434093" y="2761488"/>
            <a:ext cx="20900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주문수집 → 배송신청서 원스톱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72577" y="3886200"/>
            <a:ext cx="2602154" cy="2148840"/>
          </a:xfrm>
          <a:prstGeom prst="roundRect">
            <a:avLst>
              <a:gd name="adj" fmla="val 340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128609" y="4142232"/>
            <a:ext cx="475488" cy="47548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128609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28609" y="4782312"/>
            <a:ext cx="2090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로고 &amp; 배너 실습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128609" y="5276088"/>
            <a:ext cx="20900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프롬프트로 만들고 직접 등록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94771" y="3886200"/>
            <a:ext cx="2602154" cy="2148840"/>
          </a:xfrm>
          <a:prstGeom prst="roundRect">
            <a:avLst>
              <a:gd name="adj" fmla="val 340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050803" y="4142232"/>
            <a:ext cx="475488" cy="47548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50803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50803" y="4782312"/>
            <a:ext cx="2090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능력 업그레이드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050803" y="5276088"/>
            <a:ext cx="20900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파워등급 이상 마켓 1,000개 공유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16965" y="3886200"/>
            <a:ext cx="2602154" cy="2148840"/>
          </a:xfrm>
          <a:prstGeom prst="roundRect">
            <a:avLst>
              <a:gd name="adj" fmla="val 340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972996" y="4142232"/>
            <a:ext cx="475488" cy="47548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972996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72996" y="4782312"/>
            <a:ext cx="2090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 스터디 안내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972996" y="5276088"/>
            <a:ext cx="20900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첫째주 일요일 · 3개월 단위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SMemo(에스메모) 설치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응대에 항상 쓰는 메모 프로그램 — 강의 시작 전에 미리 설치해둡니다.</a:t>
            </a:r>
            <a:endParaRPr lang="en-US" sz="1350" dirty="0"/>
          </a:p>
        </p:txBody>
      </p:sp>
      <p:pic>
        <p:nvPicPr>
          <p:cNvPr id="6" name="Image 0" descr="/home/claude/wk5/178366186106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6035040" cy="29748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09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smemo.co.kr  →  [PC 다운로드]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554480"/>
            <a:ext cx="5013655" cy="1920240"/>
          </a:xfrm>
          <a:prstGeom prst="roundRect">
            <a:avLst>
              <a:gd name="adj" fmla="val 381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95160" y="169164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방법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95160" y="2103120"/>
            <a:ext cx="4556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공식 사이트 접속  smemo.co.kr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[PC 다운로드] 클릭 → 설치 파일 실행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안내에 따라 설치 완료  (무설치 버전도 있음)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3657600"/>
            <a:ext cx="5013655" cy="2286000"/>
          </a:xfrm>
          <a:prstGeom prst="roundRect">
            <a:avLst>
              <a:gd name="adj" fmla="val 3200"/>
            </a:avLst>
          </a:prstGeom>
          <a:solidFill>
            <a:srgbClr val="1E21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995160" y="379476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용팀장이 실제로 쓰는 방식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95160" y="4206240"/>
            <a:ext cx="45564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메모가 항상 화면 가장 위에 떠 있음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알트+탭으로 창을 왔다갔다 하며 확인할 필요 없음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업무가 끝나면 메모만 꺼버리면 끝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필요할 때 그때그때 캡쳐해서 복붙 가능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rgbClr val="141621"/>
          </a:solidFill>
          <a:ln w="3175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매뉴얼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직원 교육자료, 원문 </a:t>
            </a:r>
            <a:r>
              <a:rPr lang="en-US" sz="2200" b="1" dirty="0" err="1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</a:t>
            </a:r>
            <a:r>
              <a:rPr lang="en-US" sz="2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공개합니다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자료는 용팀장이 실제로 CS 직원 교육에 사용했던 매뉴얼입니다.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지금도 스토어에서 그대로 돌아가고 있고, 스토어명만 바꾸면 여러분 CS 담당자에게 바로 넘길 수 </a:t>
            </a:r>
            <a:r>
              <a:rPr lang="en-US" sz="15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있습니다</a:t>
            </a: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600"/>
              </a:lnSpc>
            </a:pPr>
            <a:r>
              <a:rPr lang="en-US" sz="1500" dirty="0">
                <a:solidFill>
                  <a:schemeClr val="bg1"/>
                </a:solidFill>
              </a:rPr>
              <a:t>https://www.notion.so/CS-27124bc4fd67807e94e7f96742f31aa5?source=copy_link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운영 기본 — 전화는 </a:t>
            </a:r>
            <a:r>
              <a:rPr lang="en-US" sz="2600" b="1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받지</a:t>
            </a: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않는다</a:t>
            </a: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융통성 있게 운영</a:t>
            </a:r>
            <a:r>
              <a:rPr lang="en-US" altLang="ko-KR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운영시간과 채널을 정해두면, CS가 하루를 잡아먹지 않습니다.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5524348" cy="4297680"/>
          </a:xfrm>
          <a:prstGeom prst="roundRect">
            <a:avLst>
              <a:gd name="adj" fmla="val 170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691640"/>
            <a:ext cx="5012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원칙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2194560"/>
            <a:ext cx="501228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시간: 오전 10시 ~ 오후 4시 (주말·공휴일 제외)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전화는 받지 않음 → 1~2번 울리면 자동 문자 발송 (Auto SMS Reply 앱)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 응대가 주요 채널 + 스마트스토어 문의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모르는 내용 → "확인 후 다시 연락드리겠습니다"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환불·재발송·금액 건 → 초반엔 대표 확인, 익숙해지면 자체 판단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5868" y="1508760"/>
            <a:ext cx="5524348" cy="4297680"/>
          </a:xfrm>
          <a:prstGeom prst="roundRect">
            <a:avLst>
              <a:gd name="adj" fmla="val 1702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11900" y="1691640"/>
            <a:ext cx="5012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자동문자 예시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1900" y="2194560"/>
            <a:ext cx="501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(운영시간 내)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1900" y="2514600"/>
            <a:ext cx="5012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"안녕하세요. ○○스토어입니다. 현재 통화가 어려워 문자로 응대하고 있습니다. 제품 문의인 경우 해당제품 URL 링크와 문의사항을 문자로 남겨주시면 빠르게 답변드리겠습니다."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1900" y="3840480"/>
            <a:ext cx="501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(운영시간 외)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11900" y="4160520"/>
            <a:ext cx="5012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"안녕하세요. ○○스토어입니다. CS 운영시간은 오전 10시~오후 4시입니다. 남겨주신 문의는 운영시간에 순차적으로 답변드리겠습니다."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598932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598932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꼭 통화를 원하는 고객 → 담당자가 직접 응대  /  곤란하거나 민감한 경우 → 대표에게 연결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CS는 세 가지 시점으로 나뉜다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문의가 오면 먼저 어느 시점인지부터 분류합니다.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3576218" cy="3291840"/>
          </a:xfrm>
          <a:prstGeom prst="roundRect">
            <a:avLst>
              <a:gd name="adj" fmla="val 2778"/>
            </a:avLst>
          </a:prstGeom>
          <a:solidFill>
            <a:srgbClr val="1E2130"/>
          </a:solidFill>
          <a:ln w="1905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788109" y="2194560"/>
            <a:ext cx="822960" cy="82296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88109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배송비 · 옵션 선택 · 대량 구매</a:t>
            </a:r>
            <a:endParaRPr lang="en-US" sz="125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세금계산서 · 견적서 · 제품 특징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07738" y="1828800"/>
            <a:ext cx="3576218" cy="3291840"/>
          </a:xfrm>
          <a:prstGeom prst="roundRect">
            <a:avLst>
              <a:gd name="adj" fmla="val 2778"/>
            </a:avLst>
          </a:prstGeom>
          <a:solidFill>
            <a:srgbClr val="1E2130"/>
          </a:solidFill>
          <a:ln w="1905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684368" y="2194560"/>
            <a:ext cx="822960" cy="822960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8436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90618" y="32004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36338" y="379476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기간 · 배송지 변경</a:t>
            </a:r>
            <a:endParaRPr lang="en-US" sz="125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지연 · 취소 요청 · 배송준비중 표시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03997" y="1828800"/>
            <a:ext cx="3576218" cy="3291840"/>
          </a:xfrm>
          <a:prstGeom prst="roundRect">
            <a:avLst>
              <a:gd name="adj" fmla="val 2778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80626" y="2194560"/>
            <a:ext cx="822960" cy="822960"/>
          </a:xfrm>
          <a:prstGeom prst="ellipse">
            <a:avLst/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80626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86877" y="32004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32597" y="379476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파손 · 불량 · 누락 · 오배송</a:t>
            </a:r>
            <a:endParaRPr lang="en-US" sz="125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교환 · 반품 · AS 요청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557784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557784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시점만 정확히 분류해도 응대 템플릿의 80%가 결정됩니다 — 뒤에 나오는 문자 템플릿도 이 3분류로 정리되어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전 문의 ①  옵션·배송비·대량구매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 선택이 안 돼요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371600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불사자에서 옵션 수정 → ② 수정 상품 재업로드 → ③ 고객에게 마케팅 링크 발송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340864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배송비 있나요?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2340864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 시 사전 공지 / 없으면 "추가 배송비 없습니다. 안심하고 주문해주세요."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310128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사이즈 있나요?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3310128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가능한 상품 링크로 안내(마케팅 링크)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279392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27939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구매 가능한가요? (예: 40개)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4279392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"확인 후 안내드리겠습니다" 먼저 → 초반엔 대표 확인, 익숙해지면 직접 확인 → 결제 원하면 마케팅 링크 생성해 전달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5248656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524865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제품 재고 있나요? (문의가 애매할 때)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5248656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"확인을 위해 제품 URL 링크를 문자로 보내주시면 빠르게 안내드리겠습니다."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전 문의 ②  세금계산서·견적서·발송문의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세금계산서 문의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41732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재고 확인 → ② "발행 가능합니다. 사업자등록증 사본과 발행용 이메일 주소를 문자로 보내주세요."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견적서 문의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260604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"견적서 발행 가능합니다. 받으실 이메일 주소를 알려주세요." → 초반엔 대표에게 작성법 문의, 이후 직접 작성·발송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79476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특징 문의 (사이즈·재질·기능)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379476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불사자에서 제품 검색 → 판매자 확인 → ② 알리왕왕으로 판매자에게 직접 문의 → ③ 받은 답변을 고객에게 전달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98348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발송 되나요?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498348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"저희는 중간 판매자로서 거래처 상황에 따라 발송 일정이 달라집니다. 현재 거래처 창고 검수 중이라 해외발주로만 진행 가능하며, 배송기간은 약 2주 정도 소요됩니다."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후 문의 — 배송 관련이 대부분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얼마나 걸리나요?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41732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 내 배송 중 → "거래처에서 출고되어 중국 내 배송 중입니다"  /  통관 중 → "현재 통관 절차 진행 중입니다. 완료 후 국내 배송 예정입니다"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배송지 변경 가능한가요?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260604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배대지에서 출고 전까지만 가능 — 출고 여부 확인 후 안내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79476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배송이 너무 늦어요 / 취소할래요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379476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정중히 사과 → "곧 발송될 예정이며, 원하시면 취소 가능합니다"  /  장기 지연 시 할인·쿠폰 제안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98348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아직도 배송준비중이라고 떠요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498348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주문처리 정상 여부 확인 → ② "정상 발주 처리되었습니다. 네이버 시스템 특성상 국내 택배로 전달되기 전까지는 계속 배송준비중으로 표시됩니다."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후 문의 — 사진부터 확보한다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68735" cy="960120"/>
          </a:xfrm>
          <a:prstGeom prst="roundRect">
            <a:avLst>
              <a:gd name="adj" fmla="val 571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파손 / 불량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86200" y="1417320"/>
            <a:ext cx="7665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요청 → 사용 가능하면 30% 할인 제안 / 사용 불가면 환불 + 자체 폐기 요청(폐기비용 발생 시 지원) — 초반엔 대표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11368735" cy="960120"/>
          </a:xfrm>
          <a:prstGeom prst="roundRect">
            <a:avLst>
              <a:gd name="adj" fmla="val 571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/ 오배송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86200" y="2514600"/>
            <a:ext cx="7665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요청 후 확인 → 재발송 or 환불 처리 (해당 제품 삭제)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611880"/>
            <a:ext cx="11368735" cy="960120"/>
          </a:xfrm>
          <a:prstGeom prst="roundRect">
            <a:avLst>
              <a:gd name="adj" fmla="val 571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교환 / 반품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3611880"/>
            <a:ext cx="7665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구매자 과실 → 반품비 고객 부담  /  판매자 과실 → 무상 처리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709160"/>
            <a:ext cx="11368735" cy="960120"/>
          </a:xfrm>
          <a:prstGeom prst="roundRect">
            <a:avLst>
              <a:gd name="adj" fmla="val 571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요청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4709160"/>
            <a:ext cx="7665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구매대행 상품이라 AS 불가 → "네이버/구글에서 '직구 수리' 검색 시 수리업체 확인 가능" 안내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589788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589788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파손·환불 건은 반드시 사진 확보 후 처리 — 배대지 보험 청구·타오바오 판매자 협의의 근거 자료가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상황 대응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통관부호 요청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86200" y="1371600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아바닛으로 1차·2차 자동문자 → 회신 없으면 직접 발송  /  모른다는 고객 → 관세청(unipass.customs.go.kr) 무료 발급 안내, 급하면 대표 통관번호로 임시 처리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359152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관부가세 문의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86200" y="2359152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150불 이상 시 발생 가능 → 네이버 관부가세 계산기 안내  /  원칙은 한국 마켓 금액 기준이지만 실무상 타오바오 결제금액 기준(약 1,000위안)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346704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346704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품절 / 삭제 / 배송 문제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86200" y="3346704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타오바오 품절·삭제 시 → 동일 제품을 찾아보고, 없으면 환불  /  일부 파손 → 할인 or 재발송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334256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334256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재고 있나요?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86200" y="4334256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직구로만 진행, 국내 재고 없음 안내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5321808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5321808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경동택배 추가 운임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86200" y="5321808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부피/무게 초과 시 발생 가능 → 사전 안내  /  불만 시 일부 보상 가능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담당자 체크리스트 — 그대로 인수인계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체크리스트 + 프리랜서 근로계약서 샘플이면 CS 외주를 바로 맡길 수 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5524348" cy="4434840"/>
          </a:xfrm>
          <a:prstGeom prst="roundRect">
            <a:avLst>
              <a:gd name="adj" fmla="val 164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49757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오전 10시: 문자/사이트 문의 확인 시작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문의 유형 분류 (주문 전 / 주문 후 / 도착 후)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처리 가능 건 → 즉시 답변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환불·재발송·금액 건 → 초반엔 대표 확인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옵션 누락: 불사자 수정 → 재업로드 → 링크 발송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문의가 애매하면 반드시 URL 요청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세금계산서: 재고 확인 → 사업자등록증+이메일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견적서: 이메일 확보 → 초반엔 대표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600200"/>
            <a:ext cx="5524348" cy="4434840"/>
          </a:xfrm>
          <a:prstGeom prst="roundRect">
            <a:avLst>
              <a:gd name="adj" fmla="val 164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30188" y="1828800"/>
            <a:ext cx="49757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제품 특징: 불사자 검색 → 알리왕왕 문의 → 전달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"오늘 발송?" → 해외발주만 가능, 약 2주 안내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배송준비중 문의 → 네이버 시스템 특성 안내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대량 주문 → 일단 확인 후 안내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통관번호 미보유 → 관세청 발급 안내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파손/환불 건 → 반드시 사진 확보 후 처리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오후 4시 이후 문의 → 다음날 오전 순차 처리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통화 원하는 고객 → 직접 응대, 곤란하면 대표 연결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문자 템플릿 모음 — 전체 배포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복붙용 템플릿 전체를 자료로 드립니다. SMemo에 상황별로 저장해두고 쓰세요.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874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응대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 · 확인 후 안내 · 문자 유도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99432" y="1874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요청 · 옵션 수정 · 배송비 · 대량주문 · 세금계산서 · 견적서 · 발송 문의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31352" y="1874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31352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배송기간 · 배송지 변경 · 배송준비중 · 지연/취소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7512" y="4160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" y="4663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파손/불량 · 누락/오배송 · 교환/반품 · 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99432" y="4160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상황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99432" y="4663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통관부호 · 관부가세 · 국내재고 · 경동택배 운임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7532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3263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531352" y="4160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 문서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31352" y="4663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지재권 소명문 · 분실 환불 안내문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594360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594360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배포자료: CS 매뉴얼 전문(노션) · CS 문자 템플릿 모음 · 엔잡곰 CS 멘트집 · 프리랜서 근로계약서 샘플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 자동회수부터 막아라 (필수 세팅)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안 해두면 반품 접수 즉시 자동 회수 — 협의할 틈도 없이 손해가 확정됩니다.</a:t>
            </a:r>
            <a:endParaRPr lang="en-US" sz="1350" dirty="0"/>
          </a:p>
        </p:txBody>
      </p:sp>
      <p:pic>
        <p:nvPicPr>
          <p:cNvPr id="6" name="Image 0" descr="/home/claude/wk5/178358747194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6949440" cy="30898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600200"/>
            <a:ext cx="4099255" cy="3291840"/>
          </a:xfrm>
          <a:prstGeom prst="roundRect">
            <a:avLst>
              <a:gd name="adj" fmla="val 22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909560" y="178308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방법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09560" y="2240280"/>
            <a:ext cx="36420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판매자센터 → 고객센터 → 1:1 문의하기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유형: 판매관리 → 반품관리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제목: "자동수거 예외 처리 신청 요청"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본인 정보 기입 (스토어ID/스토어명/담당자명)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521208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94360" y="521208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사유: 상품별 출고지/반품지가 상이해 고객에게 이중 배송비가 부과되는 상황 방지 — 왼쪽 템플릿 그대로 접수하면 됩니다.</a:t>
            </a:r>
            <a:endParaRPr lang="en-US" sz="12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760ABB-4E60-7C95-53EE-F1067D0F4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850" y="1783080"/>
            <a:ext cx="2773976" cy="8444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반품은 3가지 유형으로 판단한다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3576218" cy="3931920"/>
          </a:xfrm>
          <a:prstGeom prst="roundRect">
            <a:avLst>
              <a:gd name="adj" fmla="val 2557"/>
            </a:avLst>
          </a:prstGeom>
          <a:solidFill>
            <a:srgbClr val="1E2130"/>
          </a:solidFill>
          <a:ln w="1905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변심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배송비 협의 후 진행</a:t>
            </a:r>
            <a:endParaRPr lang="en-US" sz="13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그대로 수령 유도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3429000"/>
            <a:ext cx="306415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고객이 반품비를 부담하고도 원하면 진행,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들으면 대부분 그대로 수령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3931920"/>
          </a:xfrm>
          <a:prstGeom prst="roundRect">
            <a:avLst>
              <a:gd name="adj" fmla="val 2557"/>
            </a:avLst>
          </a:prstGeom>
          <a:solidFill>
            <a:srgbClr val="1E2130"/>
          </a:solidFill>
          <a:ln w="1905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36338" y="18745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 파손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36338" y="2468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재발송(항공)이 우선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3770" y="3429000"/>
            <a:ext cx="306415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바퀴·손잡이·조립품 → 타오바오 판매자에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재발송 요청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미세 스크래치 → 일부 환불로 사용 유도 협의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03997" y="1600200"/>
            <a:ext cx="3576218" cy="3931920"/>
          </a:xfrm>
          <a:prstGeom prst="roundRect">
            <a:avLst>
              <a:gd name="adj" fmla="val 2557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32597" y="18745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파손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32597" y="2468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 대비 손익분기 판단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60029" y="3429000"/>
            <a:ext cx="306415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 남으면 → 재주문해서 재발송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 안 남으면 → 환불 + 폐기 안내</a:t>
            </a:r>
            <a:endParaRPr lang="en-US" sz="12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보험 약관 확인 (추가포장 필수)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580644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교환은 원칙적으로 불가 (재고 </a:t>
            </a:r>
            <a:r>
              <a:rPr lang="en-US" sz="1250" dirty="0" err="1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미보유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5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784F90-37DC-4AEE-67CD-A7E55302F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08" y="4814596"/>
            <a:ext cx="2475856" cy="14898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 요청 — 상품이 어디 있는지로 판단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 문의가 오면 "지금 상품이 어느 단계인가"부터 확인합니다.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11368735" cy="969264"/>
          </a:xfrm>
          <a:prstGeom prst="roundRect">
            <a:avLst>
              <a:gd name="adj" fmla="val 56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12648" y="1810512"/>
            <a:ext cx="457200" cy="457200"/>
          </a:xfrm>
          <a:prstGeom prst="ellipse">
            <a:avLst/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126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타오바오 주문 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1554480"/>
            <a:ext cx="6933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그냥 취소해주면 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660904"/>
            <a:ext cx="11368735" cy="969264"/>
          </a:xfrm>
          <a:prstGeom prst="roundRect">
            <a:avLst>
              <a:gd name="adj" fmla="val 56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12648" y="2916936"/>
            <a:ext cx="457200" cy="457200"/>
          </a:xfrm>
          <a:prstGeom prst="ellipse">
            <a:avLst/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2648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660904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후 · 발송 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60904"/>
            <a:ext cx="6933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타오바오에 취소 요청 → 취소되면 고객에게도 취소 안내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767328"/>
            <a:ext cx="11368735" cy="969264"/>
          </a:xfrm>
          <a:prstGeom prst="roundRect">
            <a:avLst>
              <a:gd name="adj" fmla="val 56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2648" y="4023360"/>
            <a:ext cx="457200" cy="457200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264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67328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중 (배대지~국내 이동)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3767328"/>
            <a:ext cx="6933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 배송비 협의 → 타오바오 판매자에게 반품지 주소 받아 배대지에 반품 접수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4873752"/>
            <a:ext cx="11368735" cy="969264"/>
          </a:xfrm>
          <a:prstGeom prst="roundRect">
            <a:avLst>
              <a:gd name="adj" fmla="val 56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12648" y="5129784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12648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873752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통관 중 / 국내 도착 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873752"/>
            <a:ext cx="6933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사실상 취소 불가 — 배송완료 후 반품 원할 시 왕복 국제배송비 별도 협의 (3만/6만원 고정 아님, 상황별 협의)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598932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" y="598932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반품 수거지를 비상주 사무실로 하는 것은 절대 금지 — 실제로 상품을 받을 수 있는 주소로 접수해야 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914400" cy="914400"/>
          </a:xfrm>
          <a:prstGeom prst="ellipse">
            <a:avLst/>
          </a:prstGeom>
          <a:solidFill>
            <a:srgbClr val="141621"/>
          </a:solidFill>
          <a:ln w="3175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아바닛(AVANIT) 완전정복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주문수집부터 배송신청서까지, 원스톱 자동화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해외구매대행 셀러 전용 주문·물류 자동화 솔루션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주문/CS 자동 수집 · 배송신청서 자동작성 · 통관부호 검증 · 해외 트래킹 자동수집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사이트: avanit-service.com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669280"/>
            <a:ext cx="7132320" cy="685800"/>
          </a:xfrm>
          <a:prstGeom prst="roundRect">
            <a:avLst>
              <a:gd name="adj" fmla="val 10667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51560" y="56692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추천인 코드 </a:t>
            </a:r>
            <a:r>
              <a:rPr lang="en-US" sz="16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YONG</a:t>
            </a: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입력 시 요금제 결제금액의 10% 마일리지 적립</a:t>
            </a:r>
            <a:endParaRPr lang="en-US" sz="1350" dirty="0"/>
          </a:p>
        </p:txBody>
      </p:sp>
      <p:pic>
        <p:nvPicPr>
          <p:cNvPr id="9" name="Image 0" descr="/home/claude/wk5/178358817994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66563"/>
            <a:ext cx="3383280" cy="44849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세팅 — 회원가입 후 [개인 설정]부터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avanit-service.com 회원가입 → 우측 상단 이름 클릭 → 개인 설정</a:t>
            </a:r>
            <a:endParaRPr lang="en-US" sz="1350" dirty="0"/>
          </a:p>
        </p:txBody>
      </p:sp>
      <p:pic>
        <p:nvPicPr>
          <p:cNvPr id="6" name="Image 0" descr="/home/claude/wk5/178358959594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08360"/>
            <a:ext cx="3291840" cy="36984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6240" y="1737360"/>
            <a:ext cx="7543800" cy="9144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43484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마진/환율/카드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9520" y="1737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마진 비율 · 환율 가중치 · 결제카드 등록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788920"/>
            <a:ext cx="7543800" cy="9144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43484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배송대행지 연동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8952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쓰는 배대지 미리 등록 → 주문 시 자동 매칭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3840480"/>
            <a:ext cx="7543800" cy="9144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3484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쇼핑몰 API 연동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589520" y="3840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중인 국내 마켓 전부 연동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06240" y="4892040"/>
            <a:ext cx="7543800" cy="9144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43484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개인 맞춤 설정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89520" y="4892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수집·발송 처리 방식을 성향대로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①  마진 / 환율 / 카드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화면과 동일하게 세팅하면 됩니다.</a:t>
            </a:r>
            <a:endParaRPr lang="en-US" sz="1350" dirty="0"/>
          </a:p>
        </p:txBody>
      </p:sp>
      <p:pic>
        <p:nvPicPr>
          <p:cNvPr id="6" name="Image 0" descr="/home/claude/wk5/178358967567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444" y="1554480"/>
            <a:ext cx="5825272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마진 비율: 0.15 (CNY/USD/JPY 동일)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 15% 이하 상품은 주문처리 때 한 번 더 체크 알림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변동 환율 가중치: 1.05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설정: 현금/기본카드 등록 (청구 기준일·월 한도)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후 [마진/환율/카드값 저장] 클릭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②  배송대행지 연동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쓰는 배대지를 연동해두면 주문처리가 편해집니다.</a:t>
            </a:r>
            <a:endParaRPr lang="en-US" sz="1350" dirty="0"/>
          </a:p>
        </p:txBody>
      </p:sp>
      <p:pic>
        <p:nvPicPr>
          <p:cNvPr id="6" name="Image 0" descr="/home/claude/wk5/178358977078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73" y="1554480"/>
            <a:ext cx="5805614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연동: 배대지 아이디/URL 등록 (예: 탁월한직구, 천조직구)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연동: 목록에서 즐겨찾기 + 운임표 확인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없는 배대지는 [배송대행지 추가 요청] 가능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③  쇼핑몰 API 연동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중인 국내 마켓을 전부 연동해둡니다.</a:t>
            </a:r>
            <a:endParaRPr lang="en-US" sz="1350" dirty="0"/>
          </a:p>
        </p:txBody>
      </p:sp>
      <p:pic>
        <p:nvPicPr>
          <p:cNvPr id="6" name="Image 0" descr="/home/claude/wk5/178358982626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16" y="1554480"/>
            <a:ext cx="7046529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[쇼핑몰 추가/수정] 버튼으로 마켓 등록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2차인증 성공 여부 리스트에서 바로 확인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그룹·별칭·사업자번호까지 한 화면 관리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③-1  쇼핑몰 추가 입력 항목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추가 팝업에서 정보를 모두 입력합니다.</a:t>
            </a:r>
            <a:endParaRPr lang="en-US" sz="1350" dirty="0"/>
          </a:p>
        </p:txBody>
      </p:sp>
      <p:pic>
        <p:nvPicPr>
          <p:cNvPr id="6" name="Image 0" descr="/home/claude/wk5/178358989127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39" y="1554480"/>
            <a:ext cx="2437784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종류: 스마트스토어 / 주 소싱처: 타오바오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 · 비밀번호 · 쇼핑몰 별칭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사업자번호 (세무신고 기재용)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API 연동용 판매자 ID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 ID/시크릿은 선택 (정산 API용)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[API 확인] → [추가 완료]</a:t>
            </a:r>
            <a:endParaRPr lang="en-US" sz="12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D3075AD-CABD-5DD6-10F3-EFA176FDD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175" y="4055201"/>
            <a:ext cx="3311057" cy="23913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2D6C72F-83EB-354B-6035-F0A8EDFBD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674" y="1043260"/>
            <a:ext cx="1286558" cy="27885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세팅 ④  개인 맞춤 설정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성향대로 세팅하면 됩니다.</a:t>
            </a:r>
            <a:endParaRPr lang="en-US" sz="1350" dirty="0"/>
          </a:p>
        </p:txBody>
      </p:sp>
      <p:pic>
        <p:nvPicPr>
          <p:cNvPr id="6" name="Image 0" descr="/home/claude/wk5/17835902702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14" y="1554480"/>
            <a:ext cx="6916332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세팅 (용팀장 기준)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주문 확인: 자동수집 → 주문확인 → 가송장처리 (평일 6시간 간격)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선송장 발송: 국내송장 입력 없이 아이콘 클릭 시 선송장 처리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발송 수정처리: 쇼핑몰 발송수정 직접 처리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알림톡: 신규주문 '주문 확인' 시 즉시 발송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①  쇼핑몰 주문 수집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→ [주문/CS 수집] — 연동된 쇼핑몰의 신규주문을 수집합니다.</a:t>
            </a:r>
            <a:endParaRPr lang="en-US" sz="1350" dirty="0"/>
          </a:p>
        </p:txBody>
      </p:sp>
      <p:pic>
        <p:nvPicPr>
          <p:cNvPr id="6" name="Image 0" descr="/home/claude/wk5/178359151737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24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수집(6시간 간격)을 켜놨어도, 주문 처리 전 수동 수집 1회 권장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방식이라 수집 속도가 빠름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수집된 주문의 취소/반품/교환 상태 변경은 1~2시간 간격 확인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②  발송대기 처리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신규주문 → 발송대기(주문확인)로 일괄 변경</a:t>
            </a:r>
            <a:endParaRPr lang="en-US" sz="1350" dirty="0"/>
          </a:p>
        </p:txBody>
      </p:sp>
      <p:pic>
        <p:nvPicPr>
          <p:cNvPr id="6" name="Image 0" descr="/home/claude/wk5/178359162036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35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필터 [신규주문] 선택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체크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[신규주문 확인] 아이콘 클릭 → 한번에 발송대기로 변경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③  가송장 처리 (배송중)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발송대기 → 배송중(가송장)으로 일괄 변경</a:t>
            </a:r>
            <a:endParaRPr lang="en-US" sz="1350" dirty="0"/>
          </a:p>
        </p:txBody>
      </p:sp>
      <p:pic>
        <p:nvPicPr>
          <p:cNvPr id="6" name="Image 0" descr="/home/claude/wk5/17835916808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250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필터 [발송대기] → 전체 체크 → [발송처리/수정] 아이콘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송장 미입력 상태에서 누르면 일괄 가송장으로 발송처리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필터/그룹 필터로 특정 마켓만 선택 처리도 가능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정책에 따라 선택적으로 사용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④  해외 주문 전 확인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썸네일 클릭 → 주문 이상 여부를 먼저 검토합니다.</a:t>
            </a:r>
            <a:endParaRPr lang="en-US" sz="1350" dirty="0"/>
          </a:p>
        </p:txBody>
      </p:sp>
      <p:pic>
        <p:nvPicPr>
          <p:cNvPr id="6" name="Image 0" descr="/home/claude/wk5/178359198394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190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좌: 내 상품 대표이미지 + 선택 옵션이미지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우: 전체 상세페이지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하단: 주문번호 · 상품명 · 상품금액 · 옵션명 · 등록된 옵션리스트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미끼상품 구매 방지 · 판가 적절성 · 통관 불가 이슈를 주문 전에 체크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⑤  타오바오에서 원가 상품 찾기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검색으로 같은 상품을 찾아 옵션 판매 여부를 확인합니다.</a:t>
            </a:r>
            <a:endParaRPr lang="en-US" sz="1350" dirty="0"/>
          </a:p>
        </p:txBody>
      </p:sp>
      <p:pic>
        <p:nvPicPr>
          <p:cNvPr id="6" name="Image 0" descr="/home/claude/wk5/178359215211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19" y="1691640"/>
            <a:ext cx="2902483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846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대표 이미지에 마우스 오버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[이미지 검색용 복사]</a:t>
            </a:r>
            <a:endParaRPr lang="en-US" sz="1200" dirty="0"/>
          </a:p>
        </p:txBody>
      </p:sp>
      <p:pic>
        <p:nvPicPr>
          <p:cNvPr id="8" name="Image 1" descr="/home/claude/wk5/1783592244651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011680"/>
            <a:ext cx="4937760" cy="4530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192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타오바오 검색창 카메라 아이콘 클릭</a:t>
            </a:r>
            <a:endParaRPr lang="en-US" sz="1200" dirty="0"/>
          </a:p>
        </p:txBody>
      </p:sp>
      <p:pic>
        <p:nvPicPr>
          <p:cNvPr id="10" name="Image 2" descr="/home/claude/wk5/1783592283423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691640"/>
            <a:ext cx="2560320" cy="28340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35440" y="4846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붙여넣기 → 이미지로 검색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11480" y="562356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594360" y="562356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검색 결과에서 저렴하고 구매건수 많은 상품 우선으로 클릭 → 해당 옵션을 실제로 판매하는지 확인 후 주문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⑥  타오바오 주문 → 아바닛으로 복사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맞는 옵션으로 주문한 뒤, 주문정보를 아바닛으로 가져옵니다.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148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타오바오 [내 주문내역] → 해당 주문의 [아바닛 주문 복사] 클릭</a:t>
            </a:r>
            <a:endParaRPr lang="en-US" sz="1250" dirty="0"/>
          </a:p>
        </p:txBody>
      </p:sp>
      <p:pic>
        <p:nvPicPr>
          <p:cNvPr id="8" name="Image 1" descr="/home/claude/wk5/178359265128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742" y="4937760"/>
            <a:ext cx="9736035" cy="1097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617220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아바닛으로 돌아와서 해당 주문건의 [주문대기] 클릭</a:t>
            </a:r>
            <a:endParaRPr lang="en-US" sz="12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FD5C40-E306-63C1-ECBB-154987047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32834"/>
            <a:ext cx="6858000" cy="23324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⑦  해외 주문 정보 입력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복사한 주문을 붙여넣으면 기본 정보가 자동으로 채워집니다.</a:t>
            </a:r>
            <a:endParaRPr lang="en-US" sz="1350" dirty="0"/>
          </a:p>
        </p:txBody>
      </p:sp>
      <p:pic>
        <p:nvPicPr>
          <p:cNvPr id="6" name="Image 0" descr="/home/claude/wk5/178359278851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06" y="1554480"/>
            <a:ext cx="7295147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붙여넣기 → 건별 정보(상품명/옵션명/단가/수량/배송비) 자동 입력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정보(배송대행지/운송방법/결제카드/통화)는 직접 선택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 예측용 주문금액·예상배송비 입력 가능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⑧  HS코드 입력 + 마진검토 + 저장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품목번호까지 넣고 마진 확인 후 완전저장합니다.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품목번호(HS CODE): AI 추천값 참고해 적당한 품목 입력 (예: 기타 컴퓨터부품)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[마진 검토] 클릭 → "적합 (15.9%)"처럼 실제 마진율 자동 계산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이하면 경고 — 판가/원가 다시 확인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없으면 [완전저장]</a:t>
            </a:r>
            <a:endParaRPr lang="en-US" sz="12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528358-AFF6-4C8C-6649-AFD8380B7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280618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⑨  배송신청서 전송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저장완료 상태가 되면 [배송신청서 전송]을 누릅니다.</a:t>
            </a:r>
            <a:endParaRPr lang="en-US" sz="1350" dirty="0"/>
          </a:p>
        </p:txBody>
      </p:sp>
      <p:pic>
        <p:nvPicPr>
          <p:cNvPr id="6" name="Image 0" descr="/home/claude/wk5/178359350505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11338560" cy="889299"/>
          </a:xfrm>
          <a:prstGeom prst="rect">
            <a:avLst/>
          </a:prstGeom>
        </p:spPr>
      </p:pic>
      <p:pic>
        <p:nvPicPr>
          <p:cNvPr id="7" name="Image 1" descr="/home/claude/wk5/1783593585129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540" y="2834640"/>
            <a:ext cx="547332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80960" y="2834640"/>
            <a:ext cx="4099255" cy="3566160"/>
          </a:xfrm>
          <a:prstGeom prst="roundRect">
            <a:avLst>
              <a:gd name="adj" fmla="val 205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7909560" y="301752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순서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909560" y="3474720"/>
            <a:ext cx="36420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배대지·배송방법 선택 (개인해운 평택/인천 등)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부가서비스 확인 후 원하는 항목 체크 (검수·포장보완·통관옵션 등)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예치금 자동결제 / 세금계산서 신청 체크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[배송신청서 전송] → "성공 1건/실패 0건" 확인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배대지에서 정상 접수 확인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후 배대지 사이트에서 접수신청·입고예정 상태와 트래킹번호까지 확인됩니다.</a:t>
            </a:r>
            <a:endParaRPr lang="en-US" sz="1350" dirty="0"/>
          </a:p>
        </p:txBody>
      </p:sp>
      <p:pic>
        <p:nvPicPr>
          <p:cNvPr id="6" name="Image 0" descr="/home/claude/wk5/178359364993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3291840" cy="25538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성공 안내</a:t>
            </a:r>
            <a:endParaRPr lang="en-US" sz="1250" dirty="0"/>
          </a:p>
        </p:txBody>
      </p:sp>
      <p:pic>
        <p:nvPicPr>
          <p:cNvPr id="8" name="Image 1" descr="/home/claude/wk5/178359371697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194560"/>
            <a:ext cx="7680960" cy="13430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주문목록 — 정상 접수 + 트래킹번호(CJ대한통운) 확인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주문처리 ⑩  물류흐름 자동 추적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해외택배·국내택배·통관 상태를 아바닛이 자동으로 업데이트합니다.</a:t>
            </a:r>
            <a:endParaRPr lang="en-US" sz="1350" dirty="0"/>
          </a:p>
        </p:txBody>
      </p:sp>
      <p:pic>
        <p:nvPicPr>
          <p:cNvPr id="6" name="Image 0" descr="/home/claude/wk5/178359378740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7315200" cy="39063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554480"/>
            <a:ext cx="3733495" cy="4892040"/>
          </a:xfrm>
          <a:prstGeom prst="roundRect">
            <a:avLst>
              <a:gd name="adj" fmla="val 195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75320" y="173736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75320" y="2240280"/>
            <a:ext cx="32762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해외주문 저장 후 1~2일마다 자동 물류 추적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[배송현황 조회] 또는 [고객수령일] 클릭 → 물류현황 상세보기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해외물류현황(중국 현지) + 국내물류현황(CJ 등) + 통관현황 한 화면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도착일 · 한국 입항일 · 통관 완료일 · 고객 수령일 자동 표시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CS처리 — 반품·취소·교환 + 문의관리까지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연동된 전체 마켓의 CS를 아바닛 한 곳에서 처리합니다.</a:t>
            </a:r>
            <a:endParaRPr lang="en-US" sz="1350" dirty="0"/>
          </a:p>
        </p:txBody>
      </p:sp>
      <p:pic>
        <p:nvPicPr>
          <p:cNvPr id="6" name="Image 0" descr="/home/claude/wk5/178359386820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0"/>
            <a:ext cx="5577840" cy="2121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023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반품/취소/교환 — 건별 상태변경 버튼 + CS접수 사유·증빙 자동 기록</a:t>
            </a:r>
            <a:endParaRPr lang="en-US" sz="1200" dirty="0"/>
          </a:p>
        </p:txBody>
      </p:sp>
      <p:pic>
        <p:nvPicPr>
          <p:cNvPr id="8" name="Image 1" descr="/home/claude/wk5/178359389690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45920"/>
            <a:ext cx="5486400" cy="21326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긴급/문의관리 — 전체 마켓 문의 통합, 원클릭 처리 + 답변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1480" y="484632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594360" y="484632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통관부호 요청도 아바닛이 1차·2차 자동문자 발송 — 회신 없을 때만 수동으로 보내면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입력 + 세무자료 다운로드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해외배송비·추가 비용을 입력해두면 세무자료 엑셀로 한번에 뽑힙니다.</a:t>
            </a:r>
            <a:endParaRPr lang="en-US" sz="1350" dirty="0"/>
          </a:p>
        </p:txBody>
      </p:sp>
      <p:pic>
        <p:nvPicPr>
          <p:cNvPr id="6" name="Image 0" descr="/home/claude/wk5/178359401133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0"/>
            <a:ext cx="7498080" cy="3327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64592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458200" y="1828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58200" y="2286000"/>
            <a:ext cx="3093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[배송비/비용] 버튼 → 실제배송비·관부가세·기타 지출/수입 입력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[세무자료 다운로드] → 입력한 비용이 전부 반영된 엑셀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배송신청서·신규주문·송장번호 등도 엑셀 업/다운로드 지원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576072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94360" y="576072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아바닛 가입 시 추천인 코드 "YONG" 입력 → 요금제 결제금액의 10% 마일리지 적립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92640" y="-548640"/>
            <a:ext cx="3108960" cy="3108960"/>
          </a:xfrm>
          <a:prstGeom prst="ellipse">
            <a:avLst/>
          </a:prstGeom>
          <a:solidFill>
            <a:srgbClr val="6D2E4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실전반 1기 · WEEK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&amp; 배너</a:t>
            </a:r>
            <a:endParaRPr lang="en-US" sz="4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등록 가이드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프롬프트로 만들고, 내 손으로 직접 스마트스토어에 올리기까지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1545336" cy="457200"/>
          </a:xfrm>
          <a:prstGeom prst="roundRect">
            <a:avLst>
              <a:gd name="adj" fmla="val 16000"/>
            </a:avLst>
          </a:prstGeom>
          <a:solidFill>
            <a:srgbClr val="161C4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작성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95728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96896" y="5212080"/>
            <a:ext cx="1856232" cy="457200"/>
          </a:xfrm>
          <a:prstGeom prst="roundRect">
            <a:avLst>
              <a:gd name="adj" fmla="val 16000"/>
            </a:avLst>
          </a:prstGeom>
          <a:solidFill>
            <a:srgbClr val="161C4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96896" y="521208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생성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1728" y="5212080"/>
            <a:ext cx="1545336" cy="457200"/>
          </a:xfrm>
          <a:prstGeom prst="roundRect">
            <a:avLst>
              <a:gd name="adj" fmla="val 16000"/>
            </a:avLst>
          </a:prstGeom>
          <a:solidFill>
            <a:srgbClr val="161C4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81728" y="52120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맞추기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496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55664" y="521208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161C4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55664" y="521208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등록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TODAY'S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오늘, 이 순서 그대로만 따라오면 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32888" cy="3291840"/>
          </a:xfrm>
          <a:prstGeom prst="roundRect">
            <a:avLst>
              <a:gd name="adj" fmla="val 3610"/>
            </a:avLst>
          </a:prstGeom>
          <a:solidFill>
            <a:srgbClr val="F7F4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작성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마켓명만 바꿔서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복사·붙여넣기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99816" y="33832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01568" y="2103120"/>
            <a:ext cx="2532888" cy="3291840"/>
          </a:xfrm>
          <a:prstGeom prst="roundRect">
            <a:avLst>
              <a:gd name="adj" fmla="val 3610"/>
            </a:avLst>
          </a:prstGeom>
          <a:solidFill>
            <a:srgbClr val="F7F4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30168" y="233172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30168" y="31546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생성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30168" y="37947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/ 제미나이에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입력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52744" y="33832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54496" y="2103120"/>
            <a:ext cx="2532888" cy="3291840"/>
          </a:xfrm>
          <a:prstGeom prst="roundRect">
            <a:avLst>
              <a:gd name="adj" fmla="val 3610"/>
            </a:avLst>
          </a:prstGeom>
          <a:solidFill>
            <a:srgbClr val="F7F4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83096" y="233172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83096" y="31546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맞추기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83096" y="37947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iloveimg.com에서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픽셀로 조정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05672" y="33832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07424" y="2103120"/>
            <a:ext cx="2532888" cy="3291840"/>
          </a:xfrm>
          <a:prstGeom prst="roundRect">
            <a:avLst>
              <a:gd name="adj" fmla="val 3610"/>
            </a:avLst>
          </a:prstGeom>
          <a:solidFill>
            <a:srgbClr val="F7F4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336024" y="233172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36024" y="31546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등록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36024" y="37947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스마트스토어센터에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후 저장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①로고  ②자유배너(모바일·PC) 두 가지를 실제로 등록까지 완료합니다.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프롬프트 — 마켓명만 바꿔서 사용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[마켓명] 두 군데만 내 스토어 이름으로 바꾸고, </a:t>
            </a:r>
            <a:r>
              <a:rPr lang="en-US" sz="1350" dirty="0" err="1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GPT에</a:t>
            </a: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붙여넣으세요</a:t>
            </a: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스타일대로 수정하셔도 좋습니다</a:t>
            </a:r>
            <a:r>
              <a:rPr lang="en-US" altLang="ko-KR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561320" cy="4434840"/>
          </a:xfrm>
          <a:prstGeom prst="roundRect">
            <a:avLst>
              <a:gd name="adj" fmla="val 1649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9966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need a clean, premium logo design for a Korean online shopping mall (Naver Smart Store).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name: [마켓명]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sell: 다양한 카테고리를 다루는 온라인 종합몰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Tone/slogan idea: 안심하고 맡기세요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design it like this: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The store name "[마켓명]" should be the dominant visual element, in bold, modern Korean lettering.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If it fits naturally, add the small phrase "안심하고 맡기세요" beneath it as a secondary line.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Include one simple, minimal icon or symbol that pairs well with the wordmark — subtle, not too literal.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Style: flat vector illustration, sharp clean lines, no photo-realistic elements, no mockups or frames.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Layout: centered, square (1:1) format, plenty of white space.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Background: white or a very light neutral tone.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Color palette: pick 2-3 colors that feel warm, kind, and trustworthy — soft blues, greens, or warm neutrals work well.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Keep it minimal — this needs to work small as a store profile icon, so avoid tiny detail or clutter.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output: a single square logo image, roughly 1300x1300px, high resolution.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 문장 하나만 내 느낌에 맞게 바꾸세요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슬로건을 바꾸면, 색깔도 AI가 알아서 자연스럽게 따라갑니다.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 추천 5가지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안심하고 맡기세요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3355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355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믿고 맡기는 선택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40142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868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014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정성으로 채우는 쇼핑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6725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672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오늘도 든든한 하루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53309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868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5330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편하게, 그리고 확실하게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897880" y="1965960"/>
            <a:ext cx="571500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느낌에 따라 색깔이 이렇게 바뀝니다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46520" y="3090672"/>
            <a:ext cx="365760" cy="365760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94944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· 신뢰 느낌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49440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 · 초록 · 뉴트럴 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8862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46520" y="414223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94944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트렌디 · 젊은 느낌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4944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원색 · 대비 강한 컬러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93776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446520" y="519379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949440" y="5029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느낌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49440" y="5349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· 골드 · 무채색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나오면 성공입니다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그대로 복사해서 GPT에 넣었을 때 실제로 나온 결과물입니다.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4206240" cy="4206240"/>
          </a:xfrm>
          <a:prstGeom prst="roundRect">
            <a:avLst>
              <a:gd name="adj" fmla="val 1304"/>
            </a:avLst>
          </a:prstGeom>
          <a:solidFill>
            <a:srgbClr val="F7F4F1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assets/logo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393192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94960" y="1965960"/>
            <a:ext cx="5852160" cy="4206240"/>
          </a:xfrm>
          <a:prstGeom prst="roundRect">
            <a:avLst>
              <a:gd name="adj" fmla="val 2174"/>
            </a:avLst>
          </a:prstGeom>
          <a:solidFill>
            <a:srgbClr val="F7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66928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체크포인트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6928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8076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마켓명 텍스트가 크고 또렷하게 보이는가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0" y="3364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80760" y="33649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슬로건이 작은 보조 문구로 잘 들어갔는가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0" y="39867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80760" y="39867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배경이 흰색/연한 톤으로 깔끔한가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0" y="46085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80760" y="460857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정사각형(1:1) 비율에 가까운가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0" y="5230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80760" y="52303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복잡하지 않고 아이콘 하나 정도인가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로고, 어디에 올릴까?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스토어관리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075688" y="1463040"/>
            <a:ext cx="18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21992" y="1463040"/>
            <a:ext cx="1453025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21992" y="1463040"/>
            <a:ext cx="151398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21613" y="1463040"/>
            <a:ext cx="18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67917" y="1463040"/>
            <a:ext cx="1682496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67917" y="14630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기본정보 관리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68701" y="1463040"/>
            <a:ext cx="18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5" y="1463040"/>
            <a:ext cx="1682496" cy="438912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715005" y="14630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정보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148840"/>
            <a:ext cx="6949440" cy="4069080"/>
          </a:xfrm>
          <a:prstGeom prst="roundRect">
            <a:avLst>
              <a:gd name="adj" fmla="val 1348"/>
            </a:avLst>
          </a:prstGeom>
          <a:solidFill>
            <a:srgbClr val="F7F4F1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assets/store_info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86000"/>
            <a:ext cx="6675120" cy="37947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26680" y="2148840"/>
            <a:ext cx="3931920" cy="406908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00100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여기예요 👇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001000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‘스토어 대표 이미지’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원형 자리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001000" y="3749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동그란 “+” 아이콘을 클릭해서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1300x1300으로 만든 로고 파일을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업로드하면 됩니다.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001000" y="51206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818388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스토어명은 1회만 수정 가능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이름부터 확정한 뒤 로고 제작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B25E5CF-B155-54B6-7F51-AFC035ECD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516" y="58783"/>
            <a:ext cx="1101381" cy="19115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업로드하면 바로 이렇게 됩니다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assets/logo_up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0"/>
            <a:ext cx="301752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직후 화면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94960" y="1920240"/>
            <a:ext cx="58521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6692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포인트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0" y="2743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89788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초록색 “검수중” 표시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897880" y="3182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정상적으로 접수되었다는 뜻입니다.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37947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89788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저장 버튼 클릭 필수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97880" y="4233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업로드만 하고 저장을 안 누르면 반영되지 않습니다.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48463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89788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승인까지 1~2 영업일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897880" y="5285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안 바뀌어도 정상이니 기다리면 됩니다.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규격 총정리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32004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 x 세로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용량 제한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(스토어 대표 이미지)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1300 x 1300 px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자유배너 · 모바일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750 x 240 px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1MB 이하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자유배너 · PC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1280 x 200 px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1MB 이하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GNB 로고 · 모바일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x 80 px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자유배너 프롬프트 — 모바일 / PC 따로 생성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배너는 비율이 완전히 달라서 반드시 각각 따로 만들어야 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5C8A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모바일용 (750 x 240)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0100" y="2410097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I need a clean, premium main banner design for a Korean online shopping mall (Naver Smart Store).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Store name: </a:t>
            </a:r>
            <a:r>
              <a:rPr lang="ko-KR" altLang="en-US" sz="800" dirty="0">
                <a:solidFill>
                  <a:schemeClr val="bg1"/>
                </a:solidFill>
              </a:rPr>
              <a:t>용감한 </a:t>
            </a:r>
            <a:r>
              <a:rPr lang="ko-KR" altLang="en-US" sz="800" dirty="0" err="1">
                <a:solidFill>
                  <a:schemeClr val="bg1"/>
                </a:solidFill>
              </a:rPr>
              <a:t>용팀장</a:t>
            </a:r>
            <a:endParaRPr lang="ko-KR" altLang="en-US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What we sell: </a:t>
            </a:r>
            <a:r>
              <a:rPr lang="ko-KR" altLang="en-US" sz="800" dirty="0">
                <a:solidFill>
                  <a:schemeClr val="bg1"/>
                </a:solidFill>
              </a:rPr>
              <a:t>다양한 카테고리를 다루는 온라인 </a:t>
            </a:r>
            <a:r>
              <a:rPr lang="ko-KR" altLang="en-US" sz="800" dirty="0" err="1">
                <a:solidFill>
                  <a:schemeClr val="bg1"/>
                </a:solidFill>
              </a:rPr>
              <a:t>종합몰</a:t>
            </a:r>
            <a:endParaRPr lang="ko-KR" altLang="en-US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Main message: </a:t>
            </a:r>
            <a:r>
              <a:rPr lang="ko-KR" altLang="en-US" sz="800" dirty="0">
                <a:solidFill>
                  <a:schemeClr val="bg1"/>
                </a:solidFill>
              </a:rPr>
              <a:t>안심하고 맡기는 쇼핑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Tone: warm, kind, trustworthy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IMPORTANT — Image dimensions: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output image MUST be exactly 750 pixels wide by 240 pixels tall.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This is a fixed-size banner, not a square or standard photo ratio — do not default to 1:1 or 4:3.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canvas ratio is very wide and short (approximately 3.1:1).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Please design it like this: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store name "</a:t>
            </a:r>
            <a:r>
              <a:rPr lang="ko-KR" altLang="en-US" sz="800" dirty="0">
                <a:solidFill>
                  <a:schemeClr val="bg1"/>
                </a:solidFill>
              </a:rPr>
              <a:t>용감한 </a:t>
            </a:r>
            <a:r>
              <a:rPr lang="ko-KR" altLang="en-US" sz="800" dirty="0" err="1">
                <a:solidFill>
                  <a:schemeClr val="bg1"/>
                </a:solidFill>
              </a:rPr>
              <a:t>용팀장</a:t>
            </a:r>
            <a:r>
              <a:rPr lang="en-US" altLang="ko-KR" sz="800" dirty="0">
                <a:solidFill>
                  <a:schemeClr val="bg1"/>
                </a:solidFill>
              </a:rPr>
              <a:t>" should be clearly visible and the most noticeable text.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Include the message "</a:t>
            </a:r>
            <a:r>
              <a:rPr lang="ko-KR" altLang="en-US" sz="800" dirty="0">
                <a:solidFill>
                  <a:schemeClr val="bg1"/>
                </a:solidFill>
              </a:rPr>
              <a:t>안심하고 맡기는 쇼핑</a:t>
            </a:r>
            <a:r>
              <a:rPr lang="en-US" altLang="ko-KR" sz="800" dirty="0">
                <a:solidFill>
                  <a:schemeClr val="bg1"/>
                </a:solidFill>
              </a:rPr>
              <a:t>" as supporting text, large and easy to read.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Add simple, relevant visual elements (icons or a subtle illustration) that match an online shopping/delivery theme — keep it clean, not busy.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Background: white or a soft light color that matches a warm, trustworthy tone (soft blue or green tones work well).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Keep text large and crisp — this will be shown small on a mobile screen, so avoid tiny or cluttered elements.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Style: flat, modern, vector-like, no photorealistic mockups.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Do not add any border, frame, mockup device, or extra padding outside the banner area.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Final output: exactly 750x240px, high resolution.</a:t>
            </a:r>
          </a:p>
        </p:txBody>
      </p:sp>
      <p:sp>
        <p:nvSpPr>
          <p:cNvPr id="11" name="Shape 9"/>
          <p:cNvSpPr/>
          <p:nvPr/>
        </p:nvSpPr>
        <p:spPr>
          <a:xfrm>
            <a:off x="5989320" y="1874520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989320" y="187452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89320" y="1874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PC용 (1280 x 200)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81059" y="2497182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I need a clean, premium main banner design for a Korean online shopping mall (Naver Smart Store).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Store name: </a:t>
            </a:r>
            <a:r>
              <a:rPr lang="ko-KR" altLang="en-US" sz="800" dirty="0">
                <a:solidFill>
                  <a:schemeClr val="bg1"/>
                </a:solidFill>
              </a:rPr>
              <a:t>용감한 </a:t>
            </a:r>
            <a:r>
              <a:rPr lang="ko-KR" altLang="en-US" sz="800" dirty="0" err="1">
                <a:solidFill>
                  <a:schemeClr val="bg1"/>
                </a:solidFill>
              </a:rPr>
              <a:t>용팀장</a:t>
            </a:r>
            <a:endParaRPr lang="ko-KR" altLang="en-US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What we sell: </a:t>
            </a:r>
            <a:r>
              <a:rPr lang="ko-KR" altLang="en-US" sz="800" dirty="0">
                <a:solidFill>
                  <a:schemeClr val="bg1"/>
                </a:solidFill>
              </a:rPr>
              <a:t>다양한 카테고리를 다루는 온라인 </a:t>
            </a:r>
            <a:r>
              <a:rPr lang="ko-KR" altLang="en-US" sz="800" dirty="0" err="1">
                <a:solidFill>
                  <a:schemeClr val="bg1"/>
                </a:solidFill>
              </a:rPr>
              <a:t>종합몰</a:t>
            </a:r>
            <a:endParaRPr lang="ko-KR" altLang="en-US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Main message: </a:t>
            </a:r>
            <a:r>
              <a:rPr lang="ko-KR" altLang="en-US" sz="800" dirty="0">
                <a:solidFill>
                  <a:schemeClr val="bg1"/>
                </a:solidFill>
              </a:rPr>
              <a:t>안심하고 맡기는 쇼핑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Tone: warm, kind, trustworthy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IMPORTANT — Image dimensions: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output image MUST be exactly 1280 pixels wide by 200 pixels tall.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This is a fixed-size banner, not a square or standard photo ratio — do not default to 1:1 or 4:3.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canvas ratio is very wide and thin (approximately 6.4:1).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Please design it like this: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store name "</a:t>
            </a:r>
            <a:r>
              <a:rPr lang="ko-KR" altLang="en-US" sz="800" dirty="0">
                <a:solidFill>
                  <a:schemeClr val="bg1"/>
                </a:solidFill>
              </a:rPr>
              <a:t>용감한 </a:t>
            </a:r>
            <a:r>
              <a:rPr lang="ko-KR" altLang="en-US" sz="800" dirty="0" err="1">
                <a:solidFill>
                  <a:schemeClr val="bg1"/>
                </a:solidFill>
              </a:rPr>
              <a:t>용팀장</a:t>
            </a:r>
            <a:r>
              <a:rPr lang="en-US" altLang="ko-KR" sz="800" dirty="0">
                <a:solidFill>
                  <a:schemeClr val="bg1"/>
                </a:solidFill>
              </a:rPr>
              <a:t>" should be clearly visible and the most noticeable text.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Include the message "</a:t>
            </a:r>
            <a:r>
              <a:rPr lang="ko-KR" altLang="en-US" sz="800" dirty="0">
                <a:solidFill>
                  <a:schemeClr val="bg1"/>
                </a:solidFill>
              </a:rPr>
              <a:t>안심하고 맡기는 쇼핑</a:t>
            </a:r>
            <a:r>
              <a:rPr lang="en-US" altLang="ko-KR" sz="800" dirty="0">
                <a:solidFill>
                  <a:schemeClr val="bg1"/>
                </a:solidFill>
              </a:rPr>
              <a:t>" as supporting text, large and easy to read.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Add simple, relevant visual elements (icons or a subtle illustration) that match an online shopping/delivery theme — keep it clean, not busy.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Background: white or a soft light color that matches a warm, trustworthy tone (soft blue or green tones work well).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Keep text large and crisp.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Style: flat, modern, vector-like, no photorealistic mockups.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Do not add any border, frame, mockup device, or extra padding outside the banner area.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Final output: exactly 1280x200px, high resolution.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자유배너 등록 위치 찾기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08176" y="1417320"/>
            <a:ext cx="182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4480" y="1417320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18688" y="1417320"/>
            <a:ext cx="182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64992" y="1417320"/>
            <a:ext cx="1444752" cy="420624"/>
          </a:xfrm>
          <a:prstGeom prst="roundRect">
            <a:avLst>
              <a:gd name="adj" fmla="val 17391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64992" y="14173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자유배너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F7F4F1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assets/component_hom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194560"/>
            <a:ext cx="4846320" cy="3886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52160" y="2057400"/>
            <a:ext cx="5806440" cy="4160520"/>
          </a:xfrm>
          <a:prstGeom prst="roundRect">
            <a:avLst>
              <a:gd name="adj" fmla="val 1319"/>
            </a:avLst>
          </a:prstGeom>
          <a:solidFill>
            <a:srgbClr val="F7F4F1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assets/banner_uplo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5160" y="2194560"/>
            <a:ext cx="3657600" cy="3886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“자유배너” 클릭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852160" y="630936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모바일/PC 이미지 각각 등록 → 토글 켜기 → 적용하기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F393858-FD7D-A2B5-9CB2-0DA416044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816" y="421005"/>
            <a:ext cx="2209800" cy="15906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전 / 후 — 이만큼 달라집니다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assets/before_pc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1792" y="1810512"/>
            <a:ext cx="5202936" cy="2185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1148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배너 없음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after_p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6792" y="1810512"/>
            <a:ext cx="5202936" cy="21854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1148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배너 적용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84632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assets/after_mobil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" y="4919472"/>
            <a:ext cx="1591056" cy="1545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6565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모바일 적용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606040" y="4846320"/>
            <a:ext cx="9006840" cy="1691640"/>
          </a:xfrm>
          <a:prstGeom prst="roundRect">
            <a:avLst>
              <a:gd name="adj" fmla="val 5405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28803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실습 완료 체크리스트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880360" y="54406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200400" y="5440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등록 (검수 진행중)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880360" y="57698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200400" y="57698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자유배너 적용 완료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2880360" y="60990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200400" y="6099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자유배너 적용 완료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능력을 계속 업그레이드하는 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세상에 고수는 너무나도 많다 — 은둔고수들의 마켓을 구경하자.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11368735" cy="2286000"/>
          </a:xfrm>
          <a:prstGeom prst="roundRect">
            <a:avLst>
              <a:gd name="adj" fmla="val 32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728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파워등급 이상인 마켓들만 모아두고, 시간이 날 때 계속 구경한다.
어떤 식으로 상품을 업로드하는지 보다 보면 번득이는 아이디어가 나올 때가 있다.
그런 사람들의 스킬을 하나씩 내 상품에 접목해두면 도움이 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6076782" cy="1737360"/>
          </a:xfrm>
          <a:prstGeom prst="roundRect">
            <a:avLst>
              <a:gd name="adj" fmla="val 4211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구경할 때 체크 포인트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617720"/>
            <a:ext cx="55281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 패턴 · 대표이미지 · 옵션 구성 · 가격 구조 · 상세페이지 구성 — 그대로 베끼는 게 아니라 "왜 이렇게 짰는지" 구조를 읽고 내 상품에 이식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08302" y="4069080"/>
            <a:ext cx="4971913" cy="1737360"/>
          </a:xfrm>
          <a:prstGeom prst="roundRect">
            <a:avLst>
              <a:gd name="adj" fmla="val 4211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082622" y="4297680"/>
            <a:ext cx="44232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파워·빅파워·프리미엄 이상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마켓 약 1,000개 리스트 공유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2622" y="5212080"/>
            <a:ext cx="4423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u="sng" dirty="0">
                <a:hlinkClick r:id="rId3"/>
              </a:rPr>
              <a:t>https://docs.google.com/spreadsheets/d/1mUqnhs9rAEErqdHlNR5FP4TuwOKnXmj1XSqb6Oj8vQI/edit?gid=0#gid=0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603504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603504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내 코가 석 자지만 — 가끔은 한 걸음 물러서서 큰 그림을 보고, 다른 사람의 운영방식을 보면 도움이 </a:t>
            </a:r>
            <a:r>
              <a:rPr lang="en-US" sz="1250" dirty="0" err="1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됩니다</a:t>
            </a:r>
            <a:r>
              <a:rPr lang="en-US" sz="125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r>
              <a:rPr lang="ko-KR" altLang="en-US" sz="1250" dirty="0" err="1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소싱하면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 좋은 상품 찾는 </a:t>
            </a:r>
            <a:r>
              <a:rPr lang="ko-KR" altLang="en-US" sz="1250" dirty="0" err="1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꿀팁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!!! 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전체 상품 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-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판매 많은 순 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–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노출되는 상품 중 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BEST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딱지 붙은 상품 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-&gt;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판매량이 많으면서 최근에도 팔리는 상품이라는 뜻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!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646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용감한용팀장 정규 스터디 안내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실전반이 끝나도 함께 성장합니다 — 매월 첫째주 일요일.</a:t>
            </a:r>
            <a:endParaRPr lang="en-US" sz="1350" dirty="0"/>
          </a:p>
        </p:txBody>
      </p:sp>
      <p:pic>
        <p:nvPicPr>
          <p:cNvPr id="6" name="Image 0" descr="/home/claude/wk5/178366106567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5120640" cy="44563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554480"/>
            <a:ext cx="5928055" cy="3291840"/>
          </a:xfrm>
          <a:prstGeom prst="roundRect">
            <a:avLst>
              <a:gd name="adj" fmla="val 22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126480" y="1828800"/>
            <a:ext cx="5379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일정:  8/2 · 9/6 · 10/4 (일) 오전 10시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시간: 약 3~4시간 예상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 단위 신청 · 장소 추후 공지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참가비용: 100,000원 (카카오뱅크 3333-27-0454301, 최용)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신청서 작성 + 입금 후 용쌤에게 "스터디 신청완료" 개인톡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52160" y="5029200"/>
            <a:ext cx="5928055" cy="1097280"/>
          </a:xfrm>
          <a:prstGeom prst="roundRect">
            <a:avLst>
              <a:gd name="adj" fmla="val 6667"/>
            </a:avLst>
          </a:prstGeom>
          <a:solidFill>
            <a:srgbClr val="232634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126480" y="5029200"/>
            <a:ext cx="5379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신청 링크
</a:t>
            </a:r>
            <a:r>
              <a:rPr lang="en-US" sz="15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forms.gle/pNrpyWinzgBse1NbA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5주간 정말 수고하셨습니다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— 우리는 이제부터가 진짜 시작입니다.</a:t>
            </a:r>
            <a:endParaRPr lang="en-US" sz="1700" dirty="0"/>
          </a:p>
          <a:p>
            <a:pPr marL="0" indent="0" algn="ctr">
              <a:lnSpc>
                <a:spcPts val="2800"/>
              </a:lnSpc>
              <a:buNone/>
            </a:pPr>
            <a:r>
              <a:rPr lang="en-US" sz="17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 스터디에서 계속 함께 성장합니다. 끝까지 함께 갑시다!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 ·  실전반 1기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4376</Words>
  <Application>Microsoft Office PowerPoint</Application>
  <PresentationFormat>와이드스크린</PresentationFormat>
  <Paragraphs>655</Paragraphs>
  <Slides>50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11</cp:revision>
  <dcterms:created xsi:type="dcterms:W3CDTF">2026-07-10T13:36:41Z</dcterms:created>
  <dcterms:modified xsi:type="dcterms:W3CDTF">2026-07-11T03:22:52Z</dcterms:modified>
</cp:coreProperties>
</file>