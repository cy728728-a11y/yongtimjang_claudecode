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매뉴얼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직원 교육자료, 원문 </a:t>
            </a:r>
            <a:r>
              <a:rPr lang="en-US" sz="2200" b="1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</a:t>
            </a:r>
            <a:r>
              <a:rPr lang="en-US" sz="2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자료는 용팀장이 실제로 CS 직원 교육에 사용했던 매뉴얼입니다.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지금도 스토어에서 그대로 돌아가고 있고, 스토어명만 바꾸면 여러분 CS 담당자에게 바로 넘길 수 </a:t>
            </a:r>
            <a:r>
              <a:rPr lang="en-US" sz="15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있습니다</a:t>
            </a: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ts val="2600"/>
              </a:lnSpc>
            </a:pPr>
            <a:r>
              <a:rPr lang="en-US" sz="1500" dirty="0">
                <a:solidFill>
                  <a:schemeClr val="bg1"/>
                </a:solidFill>
              </a:rPr>
              <a:t>https://www.notion.so/CS-27124bc4fd67807e94e7f96742f31aa5?source=copy_link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운영 기본 — 전화는 </a:t>
            </a:r>
            <a:r>
              <a:rPr lang="en-US" sz="2600" b="1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받지</a:t>
            </a: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 err="1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않는다</a:t>
            </a: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융통성 있게 운영</a:t>
            </a:r>
            <a:r>
              <a:rPr lang="en-US" altLang="ko-KR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운영시간과 채널을 정해두면, CS가 하루를 잡아먹지 않습니다.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524348" cy="4297680"/>
          </a:xfrm>
          <a:prstGeom prst="roundRect">
            <a:avLst>
              <a:gd name="adj" fmla="val 170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691640"/>
            <a:ext cx="5012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원칙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194560"/>
            <a:ext cx="501228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시간: 오전 10시 ~ 오후 4시 (주말·공휴일 제외)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전화는 받지 않음 → 1~2번 울리면 자동 문자 발송 (Auto SMS Reply 앱)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 응대가 주요 채널 + 스마트스토어 문의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모르는 내용 → "확인 후 다시 연락드리겠습니다"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환불·재발송·금액 건 → 초반엔 대표 확인, 익숙해지면 자체 판단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5868" y="1508760"/>
            <a:ext cx="5524348" cy="4297680"/>
          </a:xfrm>
          <a:prstGeom prst="roundRect">
            <a:avLst>
              <a:gd name="adj" fmla="val 1702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11900" y="1691640"/>
            <a:ext cx="5012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자동문자 예시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1900" y="2194560"/>
            <a:ext cx="501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(운영시간 내)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1900" y="2514600"/>
            <a:ext cx="50122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"안녕하세요. ○○스토어입니다. 현재 통화가 어려워 문자로 응대하고 있습니다. 제품 문의인 경우 해당제품 URL 링크와 문의사항을 문자로 남겨주시면 빠르게 답변드리겠습니다."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1900" y="3840480"/>
            <a:ext cx="5012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(운영시간 외)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1900" y="4160520"/>
            <a:ext cx="50122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"안녕하세요. ○○스토어입니다. CS 운영시간은 오전 10시~오후 4시입니다. 남겨주신 문의는 운영시간에 순차적으로 답변드리겠습니다."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598932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꼭 통화를 원하는 고객 → 담당자가 직접 응대  /  곤란하거나 민감한 경우 → 대표에게 연결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CS는 세 가지 시점으로 나뉜다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문의가 오면 먼저 어느 시점인지부터 분류합니다.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788109" y="2194560"/>
            <a:ext cx="822960" cy="822960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88109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배송비 · 옵션 선택 · 대량 구매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세금계산서 · 견적서 · 제품 특징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07738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8436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90618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36338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기간 · 배송지 변경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지연 · 취소 요청 · 배송준비중 표시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03997" y="1828800"/>
            <a:ext cx="3576218" cy="3291840"/>
          </a:xfrm>
          <a:prstGeom prst="roundRect">
            <a:avLst>
              <a:gd name="adj" fmla="val 2778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80626" y="2194560"/>
            <a:ext cx="822960" cy="822960"/>
          </a:xfrm>
          <a:prstGeom prst="ellipse">
            <a:avLst/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80626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6877" y="320040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32597" y="3794760"/>
            <a:ext cx="31190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 · 불량 · 누락 · 오배송</a:t>
            </a:r>
            <a:endParaRPr lang="en-US" sz="1250" dirty="0"/>
          </a:p>
          <a:p>
            <a:pPr marL="0" indent="0" algn="ctr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교환 · 반품 · AS 요청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55778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55778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시점만 정확히 분류해도 응대 템플릿의 80%가 결정됩니다 — 뒤에 나오는 문자 템플릿도 이 3분류로 정리되어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 문의 ①  옵션·배송비·대량구매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선택이 안 돼요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371600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불사자에서 옵션 수정 → ② 수정 상품 재업로드 → ③ 고객에게 마케팅 링크 발송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340864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배송비 있나요?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340864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 시 사전 공지 / 없으면 "추가 배송비 없습니다. 안심하고 주문해주세요."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310128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사이즈 있나요?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310128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가능한 상품 링크로 안내(마케팅 링크)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279392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27939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구매 가능한가요? (예: 40개)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279392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"확인 후 안내드리겠습니다" 먼저 → 초반엔 대표 확인, 익숙해지면 직접 확인 → 결제 원하면 마케팅 링크 생성해 전달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5248656"/>
            <a:ext cx="11368735" cy="841248"/>
          </a:xfrm>
          <a:prstGeom prst="roundRect">
            <a:avLst>
              <a:gd name="adj" fmla="val 652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24865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제품 재고 있나요? (문의가 애매할 때)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5248656"/>
            <a:ext cx="70253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"확인을 위해 제품 URL 링크를 문자로 보내주시면 빠르게 안내드리겠습니다."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 문의 ②  세금계산서·견적서·발송문의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세금계산서 문의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재고 확인 → ② "발행 가능합니다. 사업자등록증 사본과 발행용 이메일 주소를 문자로 보내주세요."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견적서 문의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"견적서 발행 가능합니다. 받으실 이메일 주소를 알려주세요." → 초반엔 대표에게 작성법 문의, 이후 직접 작성·발송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특징 문의 (사이즈·재질·기능)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불사자에서 제품 검색 → 판매자 확인 → ② 알리왕왕으로 판매자에게 직접 문의 → ③ 받은 답변을 고객에게 전달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98348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발송 되나요?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"저희는 중간 판매자로서 거래처 상황에 따라 발송 일정이 달라집니다. 현재 거래처 창고 검수 중이라 해외발주로만 진행 가능하며, 배송기간은 약 2주 정도 소요됩니다."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 문의 — 배송 관련이 대부분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얼마나 걸리나요?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내 배송 중 → "거래처에서 출고되어 중국 내 배송 중입니다"  /  통관 중 → "현재 통관 절차 진행 중입니다. 완료 후 국내 배송 예정입니다"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60604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배송지 변경 가능한가요?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배대지에서 출고 전까지만 가능 — 출고 여부 확인 후 안내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79476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배송이 너무 늦어요 / 취소할래요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79476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정중히 사과 → "곧 발송될 예정이며, 원하시면 취소 가능합니다"  /  장기 지연 시 할인·쿠폰 제안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983480"/>
            <a:ext cx="11368735" cy="1051560"/>
          </a:xfrm>
          <a:prstGeom prst="roundRect">
            <a:avLst>
              <a:gd name="adj" fmla="val 521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아직도 배송준비중이라고 떠요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983480"/>
            <a:ext cx="7025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주문처리 정상 여부 확인 → ② "정상 발주 처리되었습니다. 네이버 시스템 특성상 국내 택배로 전달되기 전까지는 계속 배송준비중으로 표시됩니다."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 문의 — 사진부터 확보한다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 / 불량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0" y="141732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요청 → 사용 가능하면 30% 할인 제안 / 사용 불가면 환불 + 자체 폐기 요청(폐기비용 발생 시 지원) — 초반엔 대표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/ 오배송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251460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요청 후 확인 → 재발송 or 환불 처리 (해당 제품 삭제)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361188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교환 / 반품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361188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구매자 과실 → 반품비 고객 부담  /  판매자 과실 → 무상 처리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709160"/>
            <a:ext cx="11368735" cy="960120"/>
          </a:xfrm>
          <a:prstGeom prst="roundRect">
            <a:avLst>
              <a:gd name="adj" fmla="val 5714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요청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4709160"/>
            <a:ext cx="7665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구매대행 상품이라 AS 불가 → "네이버/구글에서 '직구 수리' 검색 시 수리업체 확인 가능" 안내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589788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589788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 파손·환불 건은 반드시 사진 확보 후 처리 — 배대지 보험 청구·타오바오 판매자 협의의 근거 자료가 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상황 대응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통관부호 요청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86200" y="1371600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아바닛으로 1차·2차 자동문자 → 회신 없으면 직접 발송  /  모른다는 고객 → 관세청(unipass.customs.go.kr) 무료 발급 안내, 급하면 대표 통관번호로 임시 처리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359152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관부가세 문의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2359152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150불 이상 시 발생 가능 → 네이버 관부가세 계산기 안내  /  원칙은 한국 마켓 금액 기준이지만 실무상 타오바오 결제금액 기준(약 1,000위안)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346704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품절 / 삭제 / 배송 문제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86200" y="3346704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타오바오 품절·삭제 시 → 동일 제품을 찾아보고, 없으면 환불  /  일부 파손 → 할인 or 재발송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334256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4334256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재고 있나요?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4334256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직구로만 진행, 국내 재고 없음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5321808"/>
            <a:ext cx="11368735" cy="859536"/>
          </a:xfrm>
          <a:prstGeom prst="roundRect">
            <a:avLst>
              <a:gd name="adj" fmla="val 638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5321808"/>
            <a:ext cx="3108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경동택배 추가 운임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86200" y="5321808"/>
            <a:ext cx="76654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부피/무게 초과 시 발생 가능 → 사전 안내  /  불만 시 일부 보상 가능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담당자 체크리스트 — 그대로 인수인계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체크리스트 + 프리랜서 근로계약서 샘플이면 CS 외주를 바로 맡길 수 있습니다.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5524348" cy="4434840"/>
          </a:xfrm>
          <a:prstGeom prst="roundRect">
            <a:avLst>
              <a:gd name="adj" fmla="val 164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9757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오전 10시: 문자/사이트 문의 확인 시작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문의 유형 분류 (주문 전 / 주문 후 / 도착 후)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처리 가능 건 → 즉시 답변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환불·재발송·금액 건 → 초반엔 대표 확인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옵션 누락: 불사자 수정 → 재업로드 → 링크 발송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문의가 애매하면 반드시 URL 요청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세금계산서: 재고 확인 → 사업자등록증+이메일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견적서: 이메일 확보 → 초반엔 대표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524348" cy="4434840"/>
          </a:xfrm>
          <a:prstGeom prst="roundRect">
            <a:avLst>
              <a:gd name="adj" fmla="val 1649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30188" y="1828800"/>
            <a:ext cx="49757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제품 특징: 불사자 검색 → 알리왕왕 문의 → 전달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"오늘 발송?" → 해외발주만 가능, 약 2주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배송준비중 문의 → 네이버 시스템 특성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대량 주문 → 일단 확인 후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통관번호 미보유 → 관세청 발급 안내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파손/환불 건 → 반드시 사진 확보 후 처리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오후 4시 이후 문의 → 다음날 오전 순차 처리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통화 원하는 고객 → 직접 응대, 곤란하면 대표 연결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문자 템플릿 모음 — 전체 배포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복붙용 템플릿 전체를 자료로 드립니다. SMemo에 상황별로 저장해두고 쓰세요.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응대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 · 확인 후 안내 · 문자 유도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9943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요청 · 옵션 수정 · 배송비 · 대량주문 · 세금계산서 · 견적서 · 발송 문의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31352" y="1874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31352" y="2377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배송기간 · 배송지 변경 · 배송준비중 · 지연/취소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751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도착 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파손/불량 · 누락/오배송 · 교환/반품 · 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9943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상황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943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통관부호 · 관부가세 · 국내재고 · 경동택배 운임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7532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23263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31352" y="416052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 문서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1352" y="4663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지재권 소명문 · 분실 환불 안내문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594360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배포자료: CS 매뉴얼 전문(노션) · CS 문자 템플릿 모음 · 엔잡곰 CS 멘트집 · 프리랜서 근로계약서 샘플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