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쿠팡파트너스 가입 절차와 운영 규정을 정확히 짚고, 우리 구매대행 셀러 입장에서 어떻게 활용하면 좋을지까지 다룹니다. 쿠팡파트너스는 쿠팡 셀러(마켓플레이스 입점)와는 완전히 다른 서비스라는 점, 먼저 짚고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헷갈리기 쉬운 부분부터 정리하겠습니다. 쿠팡파트너스는 쿠팡에 상품을 파는 셀러 입점과는 완전히 다른 서비스입니다. 여러분이 이미 하고 있는 구매대행(스마트스토어 판매)에 쿠팡파트너스가 직접 연결되는 건 아니고, 콘텐츠 활동(블로그, 유튜브, 강의자료 등)을 통해 부가 수익을 만드는 도구라고 이해하시면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가입은 크게 4단계입니다. 사업자유형 선택 → 연락처 입력 → 활동채널 등록 → 최종승인. 여기서 중요한 건 '최종승인'은 가입 직후가 아니라 실제 매출이 15만원 이상 발생한 뒤에 진행되는 채널 검증이라는 점입니다. 최종승인 전에도 링크로 발생한 실적과 수익은 정상적으로 집계되니 가입 후 바로 활동을 시작하시면 됩니다. 다음 슬라이드부터 단계별로 자세히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사업자유형 선택이 이후 정산 방식을 결정합니다. 이미 사업자등록이 되어 있는 구매대행 셀러라면 두 유형 중 어느 쪽이 본인 세무 구조에 맞는지 미리 생각해보고 선택하는 게 좋습니다. 연락처 입력은 간단하지만, 여기 등록한 이메일로 반려 사유나 정지 안내가 오기 때문에 실제로 확인 가능한 이메일을 써야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실제로 반려가 많이 나옵니다. 강의용 유튜브, 블로그, 인스타그램 등 쿠팡파트너스 링크를 쓸 예정인 채널은 전부 등록해야 하고, 등록 안 된 채널에서 실적이 잡히면 소명 요청을 받게 됩니다. 수강생들에게는 '활동하는 채널 목록 등록 → 빠짐없이' 이 부분을 꼭 강조해주세요.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최종승인은 가입 직후가 아니라 매출이 15만원 넘게 발생해야 시작되는 심사입니다. 반려 사유 1, 2, 3위를 보면 결국 '채널 등록'과 '대가성 문구 표기'가 핵심입니다. 이 두 가지만 확실히 챙기면 반려될 일이 거의 없다고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정산 기준에서 꼭 짚어야 할 건 24시간 쿠키입니다. 링크 유효기간이 아니라, 고객이 그 링크로 쿠팡에 '접속한 시점' 기준 24시간이고, 그 안에 처음 본 상품이 아닌 다른 상품을 사도 수수료가 발생한다는 점이 실전에서 꽤 중요한 포인트입니다. 정확한 카테고리별 요율은 계속 바뀔 수 있으니 수업 시점 기준으로 공식 공지사항을 한 번 더 확인해서 알려주시는 게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정산 일정은 '익월 25일 확정 → 익익월 15일 지급' 구조로 기억하면 됩니다. 취소·반품 반영 때문에 확정까지 한 달 정도의 텀을 두는 거고요. 최소 지급액 1만원, 최대 이월 6개월, 이 숫자들은 수강생들이 실제로 '언제 돈이 들어오나' 궁금해하는 부분이라 꼭 짚어주면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문구 표기는 옵션이 아니라 법적 의무입니다. 반려 사유 2위가 바로 이거였죠. 수강생들에게 강조할 부분은 '문구만 있으면 끝'이 아니라, 눈에 잘 띄게 — 글자 크기, 색 대비까지 신경 써야 한다는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특히 이미 광고 세팅 노하우가 있는 우리 구매대행 셀러들이 놓치기 쉬운 부분입니다. 본인 유튜브나 콘텐츠를 광고 태울 때 '쿠팡' 키워드를 무심코 넣으면 바로 규정 위반이 되니, 광고 세팅할 때 제외 키워드 등록하는 걸 습관화하라고 짚어주시면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많이 쓰는 건 상품링크와 배너입니다. 강의 콘텐츠나 블로그에 상품을 소개할 때는 상품링크로 충분하고, API는 개발 역량이 있는 분들만 참고하면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구매대행 셀러 입장에서 쿠팡파트너스가 매력적인 이유는, 완전히 새로운 일을 배우는 게 아니라 이미 하고 있는 콘텐츠 활동과 소싱 감각을 그대로 재활용할 수 있다는 점입니다. 강의를 하는 분이라면 강의자료나 유튜브에 상품 링크만 붙이면 되는 거죠.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실수하기 쉬운 포인트 모음입니다. 특히 사업자유형 선택은 세무적으로 영향이 있는 부분이라 단정적으로 안내하기보다, 본인 세무사와 상담해보라고 안내하는 게 안전합니다.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다룬 내용을 체크리스트로 정리했습니다. 수강생들에게는 이 5가지만 미리 준비하고 가입하면 반려 없이 한 번에 통과할 수 있다고 안내해주시면 됩니다. 정책은 계속 바뀌니 실제 가입 시점에 공식 공지사항을 한 번 더 확인하라는 말씀도 꼭 덧붙여주세요.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E8F0"/>
                </a:solidFill>
                <a:latin typeface="맑은 고딕"/>
              </a:rPr>
              <a:t>쿠팡파트너스 가입부터 활용까지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7335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AE8F0"/>
                </a:solidFill>
                <a:latin typeface="맑은 고딕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471600"/>
            <a:ext cx="96012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0A9A2"/>
                </a:solidFill>
                <a:latin typeface="맑은 고딕"/>
              </a:rPr>
              <a:t>핵심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771600"/>
            <a:ext cx="96012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AE8F0"/>
                </a:solidFill>
                <a:latin typeface="맑은 고딕"/>
              </a:rPr>
              <a:t>쿠팡파트너스 가입 절차와 정산·운영 규정을 정확히 이해하고,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00000"/>
            <a:ext cx="96012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AE8F0"/>
                </a:solidFill>
                <a:latin typeface="맑은 고딕"/>
              </a:rPr>
              <a:t>구매대행 셀러 입장에서 실제로 활용할 수 있는 포인트까지 익힌다.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0A9A2"/>
                </a:solidFill>
                <a:latin typeface="맑은 고딕"/>
              </a:rPr>
              <a:t>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E8F0"/>
                </a:solidFill>
                <a:latin typeface="맑은 고딕"/>
              </a:rPr>
              <a:t>학습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474720"/>
            <a:ext cx="10972800" cy="389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</a:rPr>
              <a:t>쿠팡파트너스란 무엇이고, 스마트스토어 판매와는 무엇이 다른가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984115"/>
            <a:ext cx="10972800" cy="389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</a:rPr>
              <a:t>가입 4단계 (사업자유형 선택 → 연락처 입력 → 활동채널 등록 → 최종승인)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93510"/>
            <a:ext cx="10972800" cy="389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</a:rPr>
              <a:t>정산 기준·일정, 최소 지급액, 필수 고지 문구, 금지행위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002905"/>
            <a:ext cx="10972800" cy="389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</a:rPr>
              <a:t>구매대행 셀러가 병행할 때 알아둬야 할 실전 포인트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E8F0"/>
                </a:solidFill>
                <a:latin typeface="맑은 고딕"/>
              </a:rPr>
              <a:t>쿠팡파트너스란?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091672" cy="150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000"/>
            <a:ext cx="104514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AE8F0"/>
                </a:solidFill>
                <a:latin typeface="맑은 고딕"/>
              </a:rPr>
              <a:t>아마존 어소시에이트와 같은 </a:t>
            </a:r>
            <a:r>
              <a:rPr sz="1500" b="1">
                <a:solidFill>
                  <a:srgbClr val="E0A9A2"/>
                </a:solidFill>
                <a:latin typeface="맑은 고딕"/>
              </a:rPr>
              <a:t>'제휴 마케팅'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50000"/>
            <a:ext cx="104514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9CBD4"/>
                </a:solidFill>
                <a:latin typeface="맑은 고딕"/>
              </a:rPr>
              <a:t>내 블로그·유튜브·SNS에 쿠팡 상품 링크를 걸어두고, 그 링크를 통해 구매가 일어나면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20000"/>
            <a:ext cx="104514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CBD4"/>
                </a:solidFill>
                <a:latin typeface="맑은 고딕"/>
              </a:rPr>
              <a:t>거래액의 일정 비율을 수수료로 받는 구조입니다.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0000"/>
            <a:ext cx="1109167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E8F0"/>
                </a:solidFill>
                <a:latin typeface="맑은 고딕"/>
              </a:rPr>
              <a:t>구매대행(스마트스토어 판매)과 무엇이 다른가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0000"/>
            <a:ext cx="11091672" cy="38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00" b="1">
                <a:solidFill>
                  <a:srgbClr val="E0A9A2"/>
                </a:solidFill>
                <a:latin typeface="맑은 고딕"/>
              </a:rPr>
              <a:t>쿠팡 셀러(마켓플레이스 입점)</a:t>
            </a:r>
            <a:r>
              <a:rPr sz="1400" b="0">
                <a:solidFill>
                  <a:srgbClr val="C9CBD4"/>
                </a:solidFill>
                <a:latin typeface="맑은 고딕"/>
              </a:rPr>
              <a:t> — 내가 쿠팡에 직접 상품을 등록해 파는 것. 쿠팡파트너스와 무관한 별개 서비스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51140"/>
            <a:ext cx="11091672" cy="38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00" b="1">
                <a:solidFill>
                  <a:srgbClr val="E0A9A2"/>
                </a:solidFill>
                <a:latin typeface="맑은 고딕"/>
              </a:rPr>
              <a:t>쿠팡파트너스</a:t>
            </a:r>
            <a:r>
              <a:rPr sz="1400" b="0">
                <a:solidFill>
                  <a:srgbClr val="C9CBD4"/>
                </a:solidFill>
                <a:latin typeface="맑은 고딕"/>
              </a:rPr>
              <a:t> — 내가 상품을 파는 게 아니라, 쿠팡의 기존 상품을 '소개'하고 커미션을 받는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52280"/>
            <a:ext cx="11091672" cy="38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00" b="1">
                <a:solidFill>
                  <a:srgbClr val="E0A9A2"/>
                </a:solidFill>
                <a:latin typeface="맑은 고딕"/>
              </a:rPr>
              <a:t>따라서</a:t>
            </a:r>
            <a:r>
              <a:rPr sz="1400" b="0">
                <a:solidFill>
                  <a:srgbClr val="C9CBD4"/>
                </a:solidFill>
                <a:latin typeface="맑은 고딕"/>
              </a:rPr>
              <a:t> 본인 스마트스토어 상품에는 적용되지 않고, 콘텐츠(블로그·유튜브·강의자료 등)에 걸어두는 용도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E8F0"/>
                </a:solidFill>
                <a:latin typeface="맑은 고딕"/>
              </a:rPr>
              <a:t>가입 절차 한눈에 보기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0000"/>
            <a:ext cx="11091672" cy="108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000" y="1770000"/>
            <a:ext cx="540000" cy="540000"/>
          </a:xfrm>
          <a:prstGeom prst="ellipse">
            <a:avLst/>
          </a:prstGeom>
          <a:solidFill>
            <a:srgbClr val="A33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1770000"/>
            <a:ext cx="54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AE8F0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0000" y="1650000"/>
            <a:ext cx="2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0A9A2"/>
                </a:solidFill>
                <a:latin typeface="맑은 고딕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0000" y="1970000"/>
            <a:ext cx="30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AE8F0"/>
                </a:solidFill>
                <a:latin typeface="맑은 고딕"/>
              </a:rPr>
              <a:t>사업자유형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0000" y="1770000"/>
            <a:ext cx="67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C9CBD4"/>
                </a:solidFill>
                <a:latin typeface="맑은 고딕"/>
              </a:rPr>
              <a:t>법인/개인사업자(세금계산서 Y) 또는 개인·개인사업자(세금계산서 N) 중 선택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50000"/>
            <a:ext cx="11091672" cy="108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0000" y="3020000"/>
            <a:ext cx="540000" cy="540000"/>
          </a:xfrm>
          <a:prstGeom prst="ellipse">
            <a:avLst/>
          </a:prstGeom>
          <a:solidFill>
            <a:srgbClr val="A33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000" y="3020000"/>
            <a:ext cx="54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AE8F0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000" y="2900000"/>
            <a:ext cx="2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0A9A2"/>
                </a:solidFill>
                <a:latin typeface="맑은 고딕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000" y="3220000"/>
            <a:ext cx="30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AE8F0"/>
                </a:solidFill>
                <a:latin typeface="맑은 고딕"/>
              </a:rPr>
              <a:t>연락처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00" y="3020000"/>
            <a:ext cx="67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C9CBD4"/>
                </a:solidFill>
                <a:latin typeface="맑은 고딕"/>
              </a:rPr>
              <a:t>연락처와 파트너스 메일 수신용 이메일 입력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0000"/>
            <a:ext cx="11091672" cy="108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0000" y="4270000"/>
            <a:ext cx="540000" cy="540000"/>
          </a:xfrm>
          <a:prstGeom prst="ellipse">
            <a:avLst/>
          </a:prstGeom>
          <a:solidFill>
            <a:srgbClr val="A33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00" y="4270000"/>
            <a:ext cx="54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AE8F0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0000" y="4150000"/>
            <a:ext cx="2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0A9A2"/>
                </a:solidFill>
                <a:latin typeface="맑은 고딕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0000" y="4470000"/>
            <a:ext cx="30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AE8F0"/>
                </a:solidFill>
                <a:latin typeface="맑은 고딕"/>
              </a:rPr>
              <a:t>활동채널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00" y="4270000"/>
            <a:ext cx="67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C9CBD4"/>
                </a:solidFill>
                <a:latin typeface="맑은 고딕"/>
              </a:rPr>
              <a:t>블로그·SNS·유튜브 등 실제 활동하는 모든 채널 URL 등록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50000"/>
            <a:ext cx="11091672" cy="108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0000" y="5520000"/>
            <a:ext cx="540000" cy="540000"/>
          </a:xfrm>
          <a:prstGeom prst="ellipse">
            <a:avLst/>
          </a:prstGeom>
          <a:solidFill>
            <a:srgbClr val="A33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000" y="5520000"/>
            <a:ext cx="54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AE8F0"/>
                </a:solidFill>
                <a:latin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0000" y="5400000"/>
            <a:ext cx="2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0A9A2"/>
                </a:solidFill>
                <a:latin typeface="맑은 고딕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0000" y="5720000"/>
            <a:ext cx="30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AE8F0"/>
                </a:solidFill>
                <a:latin typeface="맑은 고딕"/>
              </a:rPr>
              <a:t>최종승인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00" y="5520000"/>
            <a:ext cx="67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C9CBD4"/>
                </a:solidFill>
                <a:latin typeface="맑은 고딕"/>
              </a:rPr>
              <a:t>매출 15만원 발생 후 영업일 기준 약 3일 소요되는 채널 검증 심사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E8F0"/>
                </a:solidFill>
                <a:latin typeface="맑은 고딕"/>
              </a:rPr>
              <a:t>STEP 1-2</a:t>
            </a:r>
            <a:r>
              <a:rPr sz="3000" b="1">
                <a:solidFill>
                  <a:srgbClr val="EAE8F0"/>
                </a:solidFill>
                <a:latin typeface="맑은 고딕"/>
              </a:rPr>
              <a:t>  사업자유형 선택 &amp; 연락처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00000"/>
            <a:ext cx="1109167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E8F0"/>
                </a:solidFill>
                <a:latin typeface="맑은 고딕"/>
              </a:rPr>
              <a:t>사업자유형 선택 (정산 방식이 여기서 갈립니다)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50000"/>
            <a:ext cx="5400000" cy="190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1950000"/>
            <a:ext cx="49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0A9A2"/>
                </a:solidFill>
                <a:latin typeface="맑은 고딕"/>
              </a:rPr>
              <a:t>법인 / 개인사업자 (세금계산서 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450000"/>
            <a:ext cx="4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CBD4"/>
                </a:solidFill>
                <a:latin typeface="맑은 고딕"/>
              </a:rPr>
              <a:t>부가세 포함 금액으로 정산하며 쿠팡파트너스가 세금계산서를 역발행합니다. 역발행 세금계산서 승인을 위해 전자세금계산서용 범용 공인인증서가 필요합니다.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00" y="1750000"/>
            <a:ext cx="5400000" cy="190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0000" y="1950000"/>
            <a:ext cx="49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0A9A2"/>
                </a:solidFill>
                <a:latin typeface="맑은 고딕"/>
              </a:rPr>
              <a:t>개인 / 개인사업자 (세금계산서 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0000" y="2450000"/>
            <a:ext cx="4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CBD4"/>
                </a:solidFill>
                <a:latin typeface="맑은 고딕"/>
              </a:rPr>
              <a:t>사업소득으로 원천세를 제외하고 등록 계좌로 지급합니다. 세금계산서 발행 과정 없이 간편하게 지급받는 방식입니다.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50000"/>
            <a:ext cx="1109167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E8F0"/>
                </a:solidFill>
                <a:latin typeface="맑은 고딕"/>
              </a:rPr>
              <a:t>연락처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00000"/>
            <a:ext cx="11091672" cy="38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00" b="0">
                <a:solidFill>
                  <a:srgbClr val="C9CBD4"/>
                </a:solidFill>
                <a:latin typeface="맑은 고딕"/>
              </a:rPr>
              <a:t>본인 연락처와 파트너스 공지·안내 메일을 받을 이메일 주소를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01140"/>
            <a:ext cx="11091672" cy="38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00" b="0">
                <a:solidFill>
                  <a:srgbClr val="C9CBD4"/>
                </a:solidFill>
                <a:latin typeface="맑은 고딕"/>
              </a:rPr>
              <a:t>반려·정지 등 활동 관련 안내는 모두 이 이메일로 발송되므로 최신 주소로 유지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E8F0"/>
                </a:solidFill>
                <a:latin typeface="맑은 고딕"/>
              </a:rPr>
              <a:t>STEP 3</a:t>
            </a:r>
            <a:r>
              <a:rPr sz="3000" b="1">
                <a:solidFill>
                  <a:srgbClr val="EAE8F0"/>
                </a:solidFill>
                <a:latin typeface="맑은 고딕"/>
              </a:rPr>
              <a:t>  활동채널 등록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00000"/>
            <a:ext cx="11091672" cy="38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00" b="0">
                <a:solidFill>
                  <a:srgbClr val="C9CBD4"/>
                </a:solidFill>
                <a:latin typeface="맑은 고딕"/>
              </a:rPr>
              <a:t>활동하는 모든 채널의 URL을 반드시 등록해야 하며, 채널 소유 여부와 무관하게 등록 가능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01140"/>
            <a:ext cx="11091672" cy="38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00" b="0">
                <a:solidFill>
                  <a:srgbClr val="C9CBD4"/>
                </a:solidFill>
                <a:latin typeface="맑은 고딕"/>
              </a:rPr>
              <a:t>등록되지 않은 채널에서 실적이 확인되면 소명 요청 메일 발송 대상이 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02280"/>
            <a:ext cx="11091672" cy="38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00" b="1">
                <a:solidFill>
                  <a:srgbClr val="E0A9A2"/>
                </a:solidFill>
                <a:latin typeface="맑은 고딕"/>
              </a:rPr>
              <a:t>블로그·SNS(인스타그램 등)</a:t>
            </a:r>
            <a:r>
              <a:rPr sz="1400" b="0">
                <a:solidFill>
                  <a:srgbClr val="C9CBD4"/>
                </a:solidFill>
                <a:latin typeface="맑은 고딕"/>
              </a:rPr>
              <a:t> → 계정 URL을 웹사이트 목록에 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03420"/>
            <a:ext cx="11091672" cy="38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00" b="1">
                <a:solidFill>
                  <a:srgbClr val="E0A9A2"/>
                </a:solidFill>
                <a:latin typeface="맑은 고딕"/>
              </a:rPr>
              <a:t>카카오톡 등 개인 메신저(App)</a:t>
            </a:r>
            <a:r>
              <a:rPr sz="1400" b="0">
                <a:solidFill>
                  <a:srgbClr val="C9CBD4"/>
                </a:solidFill>
                <a:latin typeface="맑은 고딕"/>
              </a:rPr>
              <a:t> → 앱스토어 URL을 모바일앱 목록에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04560"/>
            <a:ext cx="11091672" cy="38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00" b="1">
                <a:solidFill>
                  <a:srgbClr val="E0A9A2"/>
                </a:solidFill>
                <a:latin typeface="맑은 고딕"/>
              </a:rPr>
              <a:t>지식인 등</a:t>
            </a:r>
            <a:r>
              <a:rPr sz="1400" b="0">
                <a:solidFill>
                  <a:srgbClr val="C9CBD4"/>
                </a:solidFill>
                <a:latin typeface="맑은 고딕"/>
              </a:rPr>
              <a:t> → 프로필 URL을 웹사이트 목록에 등록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50000"/>
            <a:ext cx="11091672" cy="130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250000"/>
            <a:ext cx="1059789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0A9A2"/>
                </a:solidFill>
                <a:latin typeface="맑은 고딕"/>
              </a:rPr>
              <a:t>&lt;</a:t>
            </a:r>
            <a:r>
              <a:rPr sz="1200" b="1">
                <a:solidFill>
                  <a:srgbClr val="E0A9A2"/>
                </a:solidFill>
                <a:latin typeface="맑은 고딕"/>
              </a:rPr>
              <a:t>참고</a:t>
            </a:r>
            <a:r>
              <a:rPr sz="1200" b="1">
                <a:solidFill>
                  <a:srgbClr val="E0A9A2"/>
                </a:solidFill>
                <a:latin typeface="맑은 고딕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610000"/>
            <a:ext cx="10597896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8F0"/>
                </a:solidFill>
                <a:latin typeface="맑은 고딕"/>
              </a:rPr>
              <a:t>채널 추가 등록은 [내 정보 관리 &gt; 계정정보 관리]에서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990000"/>
            <a:ext cx="10597896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8F0"/>
                </a:solidFill>
                <a:latin typeface="맑은 고딕"/>
              </a:rPr>
              <a:t>가입 완료 후, 링크·배너가 보이는 대표 스크린샷 1장을 등록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E8F0"/>
                </a:solidFill>
                <a:latin typeface="맑은 고딕"/>
              </a:rPr>
              <a:t>STEP 4</a:t>
            </a:r>
            <a:r>
              <a:rPr sz="3000" b="1">
                <a:solidFill>
                  <a:srgbClr val="EAE8F0"/>
                </a:solidFill>
                <a:latin typeface="맑은 고딕"/>
              </a:rPr>
              <a:t>  최종승인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00000"/>
            <a:ext cx="11091672" cy="115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600000"/>
            <a:ext cx="10600000" cy="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EAE8F0"/>
                </a:solidFill>
                <a:latin typeface="맑은 고딕"/>
              </a:rPr>
              <a:t>최종승인은 매출을 발생시킨 채널을 검증하는 과정으로, </a:t>
            </a:r>
            <a:r>
              <a:rPr sz="1450" b="1">
                <a:solidFill>
                  <a:srgbClr val="E0A9A2"/>
                </a:solidFill>
                <a:latin typeface="맑은 고딕"/>
              </a:rPr>
              <a:t>15만원 이상 매출 발생 이후 시작</a:t>
            </a:r>
            <a:r>
              <a:rPr sz="1450" b="0">
                <a:solidFill>
                  <a:srgbClr val="EAE8F0"/>
                </a:solidFill>
                <a:latin typeface="맑은 고딕"/>
              </a:rPr>
              <a:t>되며 영업일 기준 3일 정도 소요됩니다.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50000"/>
            <a:ext cx="1109167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E8F0"/>
                </a:solidFill>
                <a:latin typeface="맑은 고딕"/>
              </a:rPr>
              <a:t>대표적인 반려 사유 3가지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50000"/>
            <a:ext cx="11091672" cy="3728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① 등록 채널에서 파트너스 게시물 확인 불가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수익 발생 채널을 계정에 전부 등록했는지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2885"/>
            <a:ext cx="11091672" cy="3728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② 경제적 이해관계 문구 누락 / 표시기준 위배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대가성 문구 미표기 (가장 흔한 사유, 다음 슬라이드 참고)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35770"/>
            <a:ext cx="11091672" cy="3728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③ 활동채널에 약관 위배 행위 발견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이용약관·운영정책 위반 콘텐츠 존재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00000"/>
            <a:ext cx="1109167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89AA8"/>
                </a:solidFill>
                <a:latin typeface="맑은 고딕"/>
              </a:rPr>
              <a:t>※ 최종승인 이전에 발생한 실적·수익도 정상적으로 집계되므로, 승인 전이라도 활동은 계속하면 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E8F0"/>
                </a:solidFill>
                <a:latin typeface="맑은 고딕"/>
              </a:rPr>
              <a:t>정산 기준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00000"/>
            <a:ext cx="11091672" cy="140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600000"/>
            <a:ext cx="106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0A9A2"/>
                </a:solidFill>
                <a:latin typeface="맑은 고딕"/>
              </a:rPr>
              <a:t>거래액의 일정 비율을 수수료로 지급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100000"/>
            <a:ext cx="106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9CBD4"/>
                </a:solidFill>
                <a:latin typeface="맑은 고딕"/>
              </a:rPr>
              <a:t>공식 가이드 기준 거래액의 3% (카테고리별 요율은 이후 조정될 수 있으므로, 최신 요율은 파트너스 사이트 공지사항에서 반드시 재확인)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50000"/>
            <a:ext cx="11091672" cy="595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실적 인정 기간(24시간)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내 링크로 접속한 시간 기준 24시간 이내 구매 건이 인정 (처음 클릭한 상품이 아닌 다른 상품을 구매해도 인정됨)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65770"/>
            <a:ext cx="11091672" cy="3728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반영 시점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발생일 기준 익일 오후 무렵 실적 리포트에 반영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85770"/>
            <a:ext cx="11091672" cy="3728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월 정산 한도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회원 1인당 월 최대 3천만원 (2024.8.1부터 적용)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E8F0"/>
                </a:solidFill>
                <a:latin typeface="맑은 고딕"/>
              </a:rPr>
              <a:t>정산 일정 &amp; 지급 조건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50000"/>
            <a:ext cx="3550000" cy="115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8640" y="1620000"/>
            <a:ext cx="305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0A9A2"/>
                </a:solidFill>
                <a:latin typeface="맑은 고딕"/>
              </a:rPr>
              <a:t>실적 발생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640" y="2080000"/>
            <a:ext cx="305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EAE8F0"/>
                </a:solidFill>
                <a:latin typeface="맑은 고딕"/>
              </a:rPr>
              <a:t>1월 1일 ~ 1월 31일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8640" y="1450000"/>
            <a:ext cx="3550000" cy="115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8640" y="1620000"/>
            <a:ext cx="305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0A9A2"/>
                </a:solidFill>
                <a:latin typeface="맑은 고딕"/>
              </a:rPr>
              <a:t>실적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640" y="2080000"/>
            <a:ext cx="305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EAE8F0"/>
                </a:solidFill>
                <a:latin typeface="맑은 고딕"/>
              </a:rPr>
              <a:t>익월 25일 (2월 25일)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8640" y="1450000"/>
            <a:ext cx="3550000" cy="115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8640" y="1620000"/>
            <a:ext cx="305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0A9A2"/>
                </a:solidFill>
                <a:latin typeface="맑은 고딕"/>
              </a:rPr>
              <a:t>수익금 지급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8640" y="2080000"/>
            <a:ext cx="305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EAE8F0"/>
                </a:solidFill>
                <a:latin typeface="맑은 고딕"/>
              </a:rPr>
              <a:t>익익월 15일 (3월 15일)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50000"/>
            <a:ext cx="11091672" cy="3646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E0A9A2"/>
                </a:solidFill>
                <a:latin typeface="맑은 고딕"/>
              </a:rPr>
              <a:t>지급 조건</a:t>
            </a:r>
            <a:r>
              <a:rPr sz="1300" b="0">
                <a:solidFill>
                  <a:srgbClr val="C9CBD4"/>
                </a:solidFill>
                <a:latin typeface="맑은 고딕"/>
              </a:rPr>
              <a:t> — 최종승인 + 대금지급정보 기재 완료 계정에 한해, 월 수익금이 최소 1만원을 초과할 때 지급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34630"/>
            <a:ext cx="11091672" cy="3646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E0A9A2"/>
                </a:solidFill>
                <a:latin typeface="맑은 고딕"/>
              </a:rPr>
              <a:t>이월</a:t>
            </a:r>
            <a:r>
              <a:rPr sz="1300" b="0">
                <a:solidFill>
                  <a:srgbClr val="C9CBD4"/>
                </a:solidFill>
                <a:latin typeface="맑은 고딕"/>
              </a:rPr>
              <a:t> — 조건 미달 시 최대 6개월까지 이월, 6개월 경과 시 누적 금액 일괄 지급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9260"/>
            <a:ext cx="11091672" cy="3646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E0A9A2"/>
                </a:solidFill>
                <a:latin typeface="맑은 고딕"/>
              </a:rPr>
              <a:t>취소·반품</a:t>
            </a:r>
            <a:r>
              <a:rPr sz="1300" b="0">
                <a:solidFill>
                  <a:srgbClr val="C9CBD4"/>
                </a:solidFill>
                <a:latin typeface="맑은 고딕"/>
              </a:rPr>
              <a:t> — 취소·반품된 금액은 수익에서 전액 제외 후 정산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03890"/>
            <a:ext cx="11091672" cy="3646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E0A9A2"/>
                </a:solidFill>
                <a:latin typeface="맑은 고딕"/>
              </a:rPr>
              <a:t>필요 서류</a:t>
            </a:r>
            <a:r>
              <a:rPr sz="1300" b="0">
                <a:solidFill>
                  <a:srgbClr val="C9CBD4"/>
                </a:solidFill>
                <a:latin typeface="맑은 고딕"/>
              </a:rPr>
              <a:t> — 사업자: 사업자등록증 사본 + 통장 사본 / 개인: 대금지급정보 입력(계좌 등록)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E8F0"/>
                </a:solidFill>
                <a:latin typeface="맑은 고딕"/>
              </a:rPr>
              <a:t>필수 고지 문구 (경제적 이해관계 표시)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50000"/>
            <a:ext cx="1109167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AE8F0"/>
                </a:solidFill>
                <a:latin typeface="맑은 고딕"/>
              </a:rPr>
              <a:t>공정거래위원회 심사지침에 따라, </a:t>
            </a:r>
            <a:r>
              <a:rPr sz="1400" b="1">
                <a:solidFill>
                  <a:srgbClr val="E0A9A2"/>
                </a:solidFill>
                <a:latin typeface="맑은 고딕"/>
              </a:rPr>
              <a:t>파트너스 활동으로 게재된 모든 게시물에 대가성 문구를 반드시 표기</a:t>
            </a:r>
            <a:r>
              <a:rPr sz="1400" b="0">
                <a:solidFill>
                  <a:srgbClr val="EAE8F0"/>
                </a:solidFill>
                <a:latin typeface="맑은 고딕"/>
              </a:rPr>
              <a:t>해야 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00000"/>
            <a:ext cx="11091672" cy="90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2270000"/>
            <a:ext cx="106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AE8F0"/>
                </a:solidFill>
                <a:latin typeface="맑은 고딕"/>
              </a:rPr>
              <a:t>"이 포스팅은 쿠팡파트너스 활동의 일환으로, 이에 따른 일정액의 수수료를 제공받습니다."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000"/>
            <a:ext cx="11091672" cy="3728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추천·보증 내용과 근접한 위치에, 본문과 구별되도록 게시물 처음이나 마지막에 표기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92885"/>
            <a:ext cx="11091672" cy="3728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글자 크기가 너무 작거나 배경과 비슷한 색으로 식별이 어렵게 쓰면 위반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85770"/>
            <a:ext cx="11091672" cy="3728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'상품협찬'처럼 실제와 다르게 표기하거나 영문·줄임말로만 쓰는 것도 위반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00000"/>
            <a:ext cx="1109167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89AA8"/>
                </a:solidFill>
                <a:latin typeface="맑은 고딕"/>
              </a:rPr>
              <a:t>※ 표시하지 않거나 식별을 어렵게 표시하면 서비스 해지·수익금 지급 중단 사유가 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E8F0"/>
                </a:solidFill>
                <a:latin typeface="맑은 고딕"/>
              </a:rPr>
              <a:t>활동 시 금지행위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50000"/>
            <a:ext cx="11091672" cy="3728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쿠팡 상표·로고 무단 사용 금지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로고 임의 변형·색상 변경, 쿠팡 사칭 계정/프로필 생성 등 전부 지식재산권 위반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50000"/>
            <a:ext cx="11091672" cy="3728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'쿠팡' 키워드 검색광고 금지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구글 등 검색광고 운영 시 '쿠팡', 'coupang'을 반드시 제외 키워드로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50000"/>
            <a:ext cx="11091672" cy="3728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미공개 프로모션 사전 광고 금지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쿠팡 사이트에 공식 공개되지 않은 프로모션(사전예약 등)을 미리 광고하는 행위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50000"/>
            <a:ext cx="11091672" cy="3728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저작권 침해 콘텐츠 금지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방송·음원·타인 후기 등을 동의 없이 복제·도용해 광고에 활용하는 행위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50000"/>
            <a:ext cx="11091672" cy="110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750000"/>
            <a:ext cx="1059789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0A9A2"/>
                </a:solidFill>
                <a:latin typeface="맑은 고딕"/>
              </a:rPr>
              <a:t>&lt;</a:t>
            </a:r>
            <a:r>
              <a:rPr sz="1200" b="1">
                <a:solidFill>
                  <a:srgbClr val="E0A9A2"/>
                </a:solidFill>
                <a:latin typeface="맑은 고딕"/>
              </a:rPr>
              <a:t>주의</a:t>
            </a:r>
            <a:r>
              <a:rPr sz="1200" b="1">
                <a:solidFill>
                  <a:srgbClr val="E0A9A2"/>
                </a:solidFill>
                <a:latin typeface="맑은 고딕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110000"/>
            <a:ext cx="10597896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8F0"/>
                </a:solidFill>
                <a:latin typeface="맑은 고딕"/>
              </a:rPr>
              <a:t>위반 확인 시 지급 보류 또는 강제 탈퇴 조치. 첫 위반이라도 수익금이 몰수될 수 있음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E8F0"/>
                </a:solidFill>
                <a:latin typeface="맑은 고딕"/>
              </a:rPr>
              <a:t>주요 기능 — 링크·배너·API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0000"/>
            <a:ext cx="11091672" cy="110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680000"/>
            <a:ext cx="26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E0A9A2"/>
                </a:solidFill>
                <a:latin typeface="맑은 고딕"/>
              </a:rPr>
              <a:t>상품링크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0000" y="1650000"/>
            <a:ext cx="785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CBD4"/>
                </a:solidFill>
                <a:latin typeface="맑은 고딕"/>
              </a:rPr>
              <a:t>광고하려는 상품/검색결과 페이지의 링크를 생성. URL은 일반 포스팅에, HTML은 블로그 위젯으로 사용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50000"/>
            <a:ext cx="11091672" cy="110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000" y="2930000"/>
            <a:ext cx="26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E0A9A2"/>
                </a:solidFill>
                <a:latin typeface="맑은 고딕"/>
              </a:rPr>
              <a:t>배너 만들기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0000" y="2900000"/>
            <a:ext cx="785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CBD4"/>
                </a:solidFill>
                <a:latin typeface="맑은 고딕"/>
              </a:rPr>
              <a:t>카테고리 배너, 다이나믹 배너(개인 추천 기반 자동 업데이트), 검색위젯(iframe 지원 페이지, 네이버블로그 불가) 제공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00000"/>
            <a:ext cx="11091672" cy="110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4180000"/>
            <a:ext cx="26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E0A9A2"/>
                </a:solidFill>
                <a:latin typeface="맑은 고딕"/>
              </a:rPr>
              <a:t>파트너스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0000" y="4150000"/>
            <a:ext cx="785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CBD4"/>
                </a:solidFill>
                <a:latin typeface="맑은 고딕"/>
              </a:rPr>
              <a:t>웹/앱 개발자용 Open API. 상품 API·딥링크 API·리포팅 API 제공 (최종승인 후 API Key 발급)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AE8F0"/>
                </a:solidFill>
                <a:latin typeface="맑은 고딕"/>
              </a:rPr>
              <a:t>구매대행 셀러 활용 포인트</a:t>
            </a:r>
            <a:r>
              <a:rPr sz="2800" b="1">
                <a:solidFill>
                  <a:srgbClr val="E0A9A2"/>
                </a:solidFill>
                <a:latin typeface="맑은 고딕"/>
              </a:rPr>
              <a:t>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80000"/>
            <a:ext cx="1109167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89AA8"/>
                </a:solidFill>
                <a:latin typeface="맑은 고딕"/>
              </a:rPr>
              <a:t>— 왜 병행하면 좋은가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50000"/>
            <a:ext cx="11091672" cy="595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이미 있는 콘텐츠 자산 재활용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강의자료·유튜브·블로그에서 상품·꿀템을 소개할 때 쿠팡파트너스 링크만 추가하면 되는 구조. 별도 콘텐츠를 새로 만들 필요가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65770"/>
            <a:ext cx="11091672" cy="595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소싱 감각을 그대로 활용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어떤 상품이 잘 팔릴지 보는 눈은 소싱에서 이미 훈련된 능력. 공식 가이드도 '잘 팔 수 있는 카테고리 선정'을 조회수·전환율의 핵심으로 강조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81540"/>
            <a:ext cx="11091672" cy="595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E0A9A2"/>
                </a:solidFill>
                <a:latin typeface="맑은 고딕"/>
              </a:rPr>
              <a:t>스마트스토어와는 별개의 부가수익</a:t>
            </a:r>
            <a:r>
              <a:rPr sz="1350" b="0">
                <a:solidFill>
                  <a:srgbClr val="C9CBD4"/>
                </a:solidFill>
                <a:latin typeface="맑은 고딕"/>
              </a:rPr>
              <a:t> — 본인 상품 판매와 충돌하지 않는 새로운 수익원 (다만 본인 스마트스토어 상품 자체에는 적용되지 않음, 쿠팡 상품 전용)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AE8F0"/>
                </a:solidFill>
                <a:latin typeface="맑은 고딕"/>
              </a:rPr>
              <a:t>구매대행 셀러 활용 포인트</a:t>
            </a:r>
            <a:r>
              <a:rPr sz="2800" b="1">
                <a:solidFill>
                  <a:srgbClr val="E0A9A2"/>
                </a:solidFill>
                <a:latin typeface="맑은 고딕"/>
              </a:rPr>
              <a:t>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80000"/>
            <a:ext cx="1109167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89AA8"/>
                </a:solidFill>
                <a:latin typeface="맑은 고딕"/>
              </a:rPr>
              <a:t>— 헷갈리지 말아야 할 것들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50000"/>
            <a:ext cx="11091672" cy="3646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E0A9A2"/>
                </a:solidFill>
                <a:latin typeface="맑은 고딕"/>
              </a:rPr>
              <a:t>쿠팡파트너스 ≠ 쿠팡 셀러 입점</a:t>
            </a:r>
            <a:r>
              <a:rPr sz="1300" b="0">
                <a:solidFill>
                  <a:srgbClr val="C9CBD4"/>
                </a:solidFill>
                <a:latin typeface="맑은 고딕"/>
              </a:rPr>
              <a:t> — 별개 서비스. 파트너스 가입이 쿠팡 마켓플레이스 판매를 의미하지 않음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10000"/>
            <a:ext cx="11091672" cy="3646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E0A9A2"/>
                </a:solidFill>
                <a:latin typeface="맑은 고딕"/>
              </a:rPr>
              <a:t>활동 채널은 빠짐없이 등록</a:t>
            </a:r>
            <a:r>
              <a:rPr sz="1300" b="0">
                <a:solidFill>
                  <a:srgbClr val="C9CBD4"/>
                </a:solidFill>
                <a:latin typeface="맑은 고딕"/>
              </a:rPr>
              <a:t> — 강의용 유튜브·블로그·인스타 등 실제 링크를 쓸 채널을 전부 등록해야 실적 인정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70000"/>
            <a:ext cx="11091672" cy="579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E0A9A2"/>
                </a:solidFill>
                <a:latin typeface="맑은 고딕"/>
              </a:rPr>
              <a:t>사업자유형 선택은 신중하게</a:t>
            </a:r>
            <a:r>
              <a:rPr sz="1300" b="0">
                <a:solidFill>
                  <a:srgbClr val="C9CBD4"/>
                </a:solidFill>
                <a:latin typeface="맑은 고딕"/>
              </a:rPr>
              <a:t> — 이미 사업자등록이 있는 셀러라면 세금계산서 Y/N 중 본인 정산·세무 구조에 맞는 유형을 선택 (정확한 판단은 담당 세무사와 상담 권장)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69260"/>
            <a:ext cx="11091672" cy="3646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E0A9A2"/>
                </a:solidFill>
                <a:latin typeface="맑은 고딕"/>
              </a:rPr>
              <a:t>광고 태울 때 '쿠팡' 키워드 제외 필수</a:t>
            </a:r>
            <a:r>
              <a:rPr sz="1300" b="0">
                <a:solidFill>
                  <a:srgbClr val="C9CBD4"/>
                </a:solidFill>
                <a:latin typeface="맑은 고딕"/>
              </a:rPr>
              <a:t> — 이미 광고 세팅 노하우가 있는 만큼, 검색광고 제외 키워드 등록을 습관화할 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E8F0"/>
                </a:solidFill>
                <a:latin typeface="맑은 고딕"/>
              </a:rPr>
              <a:t>가입 전 체크리스트 &amp; 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00000"/>
            <a:ext cx="11091672" cy="389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</a:rPr>
              <a:t>☐ 사업자유형(세금계산서 Y/N) 결정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09395"/>
            <a:ext cx="11091672" cy="389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</a:rPr>
              <a:t>☐ 연락처·수신 이메일 확인 가능한 상태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18790"/>
            <a:ext cx="11091672" cy="389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</a:rPr>
              <a:t>☐ 활동할 모든 채널(유튜브·블로그·SNS) URL 목록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8185"/>
            <a:ext cx="11091672" cy="389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</a:rPr>
              <a:t>☐ 게시물마다 넣을 대가성 문구 템플릿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37580"/>
            <a:ext cx="11091672" cy="389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0A9A2"/>
                </a:solidFill>
                <a:latin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</a:rPr>
              <a:t>☐ 검색광고 운영 시 '쿠팡' 제외 키워드 등록 계획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0000"/>
            <a:ext cx="11091672" cy="14500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400000"/>
            <a:ext cx="1059789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0A9A2"/>
                </a:solidFill>
                <a:latin typeface="맑은 고딕"/>
              </a:rPr>
              <a:t>&lt;</a:t>
            </a:r>
            <a:r>
              <a:rPr sz="1200" b="1">
                <a:solidFill>
                  <a:srgbClr val="E0A9A2"/>
                </a:solidFill>
                <a:latin typeface="맑은 고딕"/>
              </a:rPr>
              <a:t>참고</a:t>
            </a:r>
            <a:r>
              <a:rPr sz="1200" b="1">
                <a:solidFill>
                  <a:srgbClr val="E0A9A2"/>
                </a:solidFill>
                <a:latin typeface="맑은 고딕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760000"/>
            <a:ext cx="10597896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8F0"/>
                </a:solidFill>
                <a:latin typeface="맑은 고딕"/>
              </a:rPr>
              <a:t>공식 사이트: partners.coupang.com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140000"/>
            <a:ext cx="10597896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8F0"/>
                </a:solidFill>
                <a:latin typeface="맑은 고딕"/>
              </a:rPr>
              <a:t>이용약관·운영정책은 파트너스 페이지 하단에서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520000"/>
            <a:ext cx="10597896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8F0"/>
                </a:solidFill>
                <a:latin typeface="맑은 고딕"/>
              </a:rPr>
              <a:t>카테고리별 수수료율 등 세부 정책은 수시로 바뀌므로 공지사항에서 최신 내용 재확인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