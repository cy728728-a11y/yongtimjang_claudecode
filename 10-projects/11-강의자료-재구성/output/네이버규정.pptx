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9" r:id="rId5"/>
    <p:sldId id="290" r:id="rId6"/>
    <p:sldId id="291" r:id="rId7"/>
    <p:sldId id="292" r:id="rId8"/>
    <p:sldId id="261" r:id="rId9"/>
    <p:sldId id="262" r:id="rId10"/>
    <p:sldId id="263" r:id="rId11"/>
    <p:sldId id="264" r:id="rId12"/>
    <p:sldId id="265" r:id="rId13"/>
    <p:sldId id="29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A9A2"/>
    <a:srgbClr val="14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79F4A5-90E7-4A7D-BC91-626C0EF59D65}" v="2" dt="2026-06-12T12:25:48.8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455" autoAdjust="0"/>
  </p:normalViewPr>
  <p:slideViewPr>
    <p:cSldViewPr snapToGrid="0" snapToObjects="1">
      <p:cViewPr varScale="1">
        <p:scale>
          <a:sx n="81" d="100"/>
          <a:sy n="81" d="100"/>
        </p:scale>
        <p:origin x="17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용 최" userId="1589a7fea772e98f" providerId="LiveId" clId="{2278AE4D-1D9B-403D-98CE-CD0A01F10ABE}"/>
    <pc:docChg chg="delSld modSld">
      <pc:chgData name="용 최" userId="1589a7fea772e98f" providerId="LiveId" clId="{2278AE4D-1D9B-403D-98CE-CD0A01F10ABE}" dt="2026-06-12T15:17:21.823" v="30" actId="20577"/>
      <pc:docMkLst>
        <pc:docMk/>
      </pc:docMkLst>
      <pc:sldChg chg="modSp mod">
        <pc:chgData name="용 최" userId="1589a7fea772e98f" providerId="LiveId" clId="{2278AE4D-1D9B-403D-98CE-CD0A01F10ABE}" dt="2026-06-12T15:17:21.823" v="30" actId="20577"/>
        <pc:sldMkLst>
          <pc:docMk/>
          <pc:sldMk cId="0" sldId="267"/>
        </pc:sldMkLst>
        <pc:spChg chg="mod">
          <ac:chgData name="용 최" userId="1589a7fea772e98f" providerId="LiveId" clId="{2278AE4D-1D9B-403D-98CE-CD0A01F10ABE}" dt="2026-06-12T15:17:21.823" v="30" actId="20577"/>
          <ac:spMkLst>
            <pc:docMk/>
            <pc:sldMk cId="0" sldId="267"/>
            <ac:spMk id="23" creationId="{00000000-0000-0000-0000-000000000000}"/>
          </ac:spMkLst>
        </pc:spChg>
      </pc:sldChg>
      <pc:sldChg chg="del">
        <pc:chgData name="용 최" userId="1589a7fea772e98f" providerId="LiveId" clId="{2278AE4D-1D9B-403D-98CE-CD0A01F10ABE}" dt="2026-06-12T15:14:52.717" v="0" actId="47"/>
        <pc:sldMkLst>
          <pc:docMk/>
          <pc:sldMk cId="0" sldId="294"/>
        </pc:sldMkLst>
      </pc:sldChg>
    </pc:docChg>
  </pc:docChgLst>
  <pc:docChgLst>
    <pc:chgData name="용 최" userId="1589a7fea772e98f" providerId="LiveId" clId="{465AE703-AA2D-495B-8FBD-D8E5CDCF7249}"/>
    <pc:docChg chg="delSld modSld">
      <pc:chgData name="용 최" userId="1589a7fea772e98f" providerId="LiveId" clId="{465AE703-AA2D-495B-8FBD-D8E5CDCF7249}" dt="2026-06-12T12:26:00.571" v="182" actId="6549"/>
      <pc:docMkLst>
        <pc:docMk/>
      </pc:docMkLst>
      <pc:sldChg chg="del">
        <pc:chgData name="용 최" userId="1589a7fea772e98f" providerId="LiveId" clId="{465AE703-AA2D-495B-8FBD-D8E5CDCF7249}" dt="2026-06-12T12:24:50.160" v="1" actId="47"/>
        <pc:sldMkLst>
          <pc:docMk/>
          <pc:sldMk cId="0" sldId="270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1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2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3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4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5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6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7"/>
        </pc:sldMkLst>
      </pc:sldChg>
      <pc:sldChg chg="del">
        <pc:chgData name="용 최" userId="1589a7fea772e98f" providerId="LiveId" clId="{465AE703-AA2D-495B-8FBD-D8E5CDCF7249}" dt="2026-06-12T12:24:48.164" v="0" actId="47"/>
        <pc:sldMkLst>
          <pc:docMk/>
          <pc:sldMk cId="0" sldId="278"/>
        </pc:sldMkLst>
      </pc:sldChg>
      <pc:sldChg chg="modNotesTx">
        <pc:chgData name="용 최" userId="1589a7fea772e98f" providerId="LiveId" clId="{465AE703-AA2D-495B-8FBD-D8E5CDCF7249}" dt="2026-06-12T12:26:00.571" v="182" actId="6549"/>
        <pc:sldMkLst>
          <pc:docMk/>
          <pc:sldMk cId="3993701726" sldId="28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9731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41148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규정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21792" cy="621792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81965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41732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목표
</a:t>
            </a:r>
            <a:r>
              <a:rPr lang="en-US" sz="15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'제약'이 아닌 '무기'로 삼아, 규정 안에서 로직적으로 최상의 상태를 만들어 매출을 최적화한다.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2A2D3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7180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69848" y="284378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내용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548640" y="3383280"/>
            <a:ext cx="10881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20000"/>
              </a:lnSpc>
              <a:spcAft>
                <a:spcPts val="1100"/>
              </a:spcAft>
              <a:buSzPct val="100000"/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규정 숙지의 목적 — 상품 보호(영구삭제 회피) &amp; 로직 최적화(매출·유입)</a:t>
            </a:r>
            <a:endParaRPr lang="en-US" sz="1350" dirty="0"/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핵심 개념 구분 — 대표 상품 / 단일 상품 / 모음전(모음 상품)</a:t>
            </a: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썸네일(대표 이미지) 및 옵션 규정 — 규정에 맞는 안전한 등록</a:t>
            </a: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영구 삭제 주의 ① 상품 ID 재사용 · ② 중복 상품 회피</a:t>
            </a:r>
          </a:p>
          <a:p>
            <a:pPr>
              <a:lnSpc>
                <a:spcPct val="120000"/>
              </a:lnSpc>
              <a:spcAft>
                <a:spcPts val="1100"/>
              </a:spcAft>
              <a:buNone/>
            </a:pPr>
            <a:r>
              <a:rPr sz="1450" b="1">
                <a:solidFill>
                  <a:srgbClr val="E0A9A2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450" b="0">
                <a:solidFill>
                  <a:srgbClr val="C9CBD4"/>
                </a:solidFill>
                <a:latin typeface="맑은 고딕"/>
                <a:ea typeface="맑은 고딕"/>
                <a:cs typeface="맑은 고딕"/>
              </a:rPr>
              <a:t>규정을 활용한 매출·유입 극대화 전략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규정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제대로 알아야 하는 이유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10128" cy="2286000"/>
          </a:xfrm>
          <a:prstGeom prst="roundRect">
            <a:avLst>
              <a:gd name="adj" fmla="val 4000"/>
            </a:avLst>
          </a:prstGeom>
          <a:solidFill>
            <a:srgbClr val="1E2130"/>
          </a:solidFill>
          <a:ln w="19050">
            <a:solidFill>
              <a:srgbClr val="A33C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05740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 (Defense)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761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영구 삭제(ID 재사용·중복)로부터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</a:t>
            </a:r>
            <a:r>
              <a:rPr lang="en-US" sz="140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</a:t>
            </a:r>
            <a:r>
              <a:rPr lang="ko-KR" alt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효자상품을 지킴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056" y="2715768"/>
            <a:ext cx="210312" cy="32918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05656" y="1737360"/>
            <a:ext cx="3310128" cy="2286000"/>
          </a:xfrm>
          <a:prstGeom prst="roundRect">
            <a:avLst>
              <a:gd name="adj" fmla="val 4000"/>
            </a:avLst>
          </a:prstGeom>
          <a:solidFill>
            <a:srgbClr val="1E2130"/>
          </a:solidFill>
          <a:ln w="19050">
            <a:solidFill>
              <a:srgbClr val="E0A9A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379976" y="205740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(Action)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379976" y="2651760"/>
            <a:ext cx="2761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위반한 상위 경쟁자에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정확히 대응(신고)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2715768"/>
            <a:ext cx="210312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62672" y="1737360"/>
            <a:ext cx="3310128" cy="2286000"/>
          </a:xfrm>
          <a:prstGeom prst="roundRect">
            <a:avLst>
              <a:gd name="adj" fmla="val 4000"/>
            </a:avLst>
          </a:prstGeom>
          <a:solidFill>
            <a:srgbClr val="1E2130"/>
          </a:solidFill>
          <a:ln w="19050">
            <a:solidFill>
              <a:srgbClr val="5FA89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7936992" y="205740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최적화 (Optimization)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936992" y="2651760"/>
            <a:ext cx="2761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 안에서 '의식적으로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최상의 로직 상태'로 세팅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05099" y="515721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 err="1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규정은</a:t>
            </a:r>
            <a:r>
              <a:rPr lang="en-US" sz="1500" b="1" i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＇</a:t>
            </a:r>
            <a:r>
              <a:rPr lang="ko-KR" altLang="en-US" sz="1500" b="1" i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</a:t>
            </a:r>
            <a:r>
              <a:rPr lang="en-US" sz="1500" b="1" i="1" dirty="0" err="1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하면</a:t>
            </a:r>
            <a:r>
              <a:rPr lang="en-US" sz="1500" b="1" i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안 </a:t>
            </a:r>
            <a:r>
              <a:rPr lang="en-US" sz="1500" b="1" i="1" dirty="0" err="1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되는</a:t>
            </a:r>
            <a:r>
              <a:rPr lang="en-US" sz="1500" b="1" i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것’ 이 아니라, 매출을 끌어올리는 도구입니다.</a:t>
            </a:r>
            <a:endParaRPr lang="en-US" sz="1500" b="1" i="1" dirty="0">
              <a:solidFill>
                <a:srgbClr val="E0A9A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개념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상품의 3요소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규정의 모든 판단 기준은 '대표 상품이 바뀌었는가?'에 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404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명시된 상품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상품명에 특정하여 명시된 상품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예) 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안방 침실 수납장 </a:t>
            </a:r>
            <a:r>
              <a:rPr lang="en-US" altLang="ko-KR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06824" y="20574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26864" y="2377440"/>
            <a:ext cx="502920" cy="5029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26864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66944" y="2404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이미지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26864" y="31089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썸네일에 단독 노출된 상품과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상품명이 일치해야 함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65008" y="20574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385048" y="2377440"/>
            <a:ext cx="502920" cy="502920"/>
          </a:xfrm>
          <a:prstGeom prst="ellipse">
            <a:avLst/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385048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25128" y="24048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 가격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85048" y="310896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추가금 +0원인 '기본가' 옵션</a:t>
            </a:r>
            <a:endParaRPr lang="en-US" sz="13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(대표 상품은 추가금 없이 구매 가능)</a:t>
            </a:r>
            <a:endParaRPr lang="en-US" sz="13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681728"/>
            <a:ext cx="310896" cy="31089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60120" y="4617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3요소가 완벽히 일치하면 로직상 SAFE 상태입니다.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86868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옵션가에 +1,000원이 붙거나, 썸네일과 상품명이 불일치하면 즉시 로직 이탈·제재 대상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구조적 분기점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상품 vs 모음전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48640" y="1554480"/>
          <a:ext cx="11091672" cy="29718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8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7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989AA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6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상품 (Single)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3C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모음전 (Collection)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0A9A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정의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대표 상품이 명확하게 1개로 좁혀지는 상품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대표 상품이 불명확하거나 여러 옵션을 포괄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0A9A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ko-KR" alt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 노트북 </a:t>
                      </a:r>
                      <a:r>
                        <a:rPr lang="en-US" altLang="ko-KR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NT750XGR</a:t>
                      </a:r>
                      <a:r>
                        <a:rPr lang="ko-KR" alt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sz="1350" dirty="0" err="1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화이트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ko-KR" alt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삼성 엘지 노트북</a:t>
                      </a:r>
                      <a:r>
                        <a:rPr 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모음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E0A9A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썸네일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정확히 일치하는 해당 상품만 단독 노출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EAE8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추가금 없는 옵션 중 부분 명시분 동시 노출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37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53492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전술적 통찰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모음전은 다양한 키워드 유입에 유리하지만, 카테고리별 허용 여부가 엄격히 다릅니다.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생략의 기술 (The Omission Rule)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 색상·사이즈 생략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색상·사이즈의 가격이 동일하다면, 상품명에서 표기를 과감히 생략하세요.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58384" cy="3840480"/>
          </a:xfrm>
          <a:prstGeom prst="roundRect">
            <a:avLst>
              <a:gd name="adj" fmla="val 2381"/>
            </a:avLst>
          </a:prstGeom>
          <a:solidFill>
            <a:srgbClr val="1E2130"/>
          </a:solidFill>
          <a:ln w="16510">
            <a:solidFill>
              <a:srgbClr val="989AA8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흔한 실수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4718304" cy="731520"/>
          </a:xfrm>
          <a:prstGeom prst="roundRect">
            <a:avLst>
              <a:gd name="adj" fmla="val 7500"/>
            </a:avLst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443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테이블</a:t>
            </a: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7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블랙</a:t>
            </a: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대형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4718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상품명에 색상이 명시되어 썸네일에 </a:t>
            </a:r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오직 '블랙'만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사용 가능 → 타겟층 축소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81928" y="2057400"/>
            <a:ext cx="5358384" cy="3840480"/>
          </a:xfrm>
          <a:prstGeom prst="roundRect">
            <a:avLst>
              <a:gd name="adj" fmla="val 2381"/>
            </a:avLst>
          </a:prstGeom>
          <a:solidFill>
            <a:srgbClr val="1E2130"/>
          </a:solidFill>
          <a:ln w="16510">
            <a:solidFill>
              <a:srgbClr val="5FA89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601968" y="228600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용팀장 방식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01968" y="2743200"/>
            <a:ext cx="4718304" cy="731520"/>
          </a:xfrm>
          <a:prstGeom prst="roundRect">
            <a:avLst>
              <a:gd name="adj" fmla="val 7500"/>
            </a:avLst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739128" y="2743200"/>
            <a:ext cx="4443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테이블</a:t>
            </a:r>
            <a:r>
              <a:rPr lang="en-US" sz="17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700" b="1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01968" y="3657600"/>
            <a:ext cx="47183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 동일 전제 하에 색상 생략 → 썸네일에 </a:t>
            </a:r>
            <a:r>
              <a:rPr lang="en-US" sz="135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블랙 + 화이트 + 핑크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모두 동시 노출 가능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영구 삭제 주의 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ID 재사용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상품이 '다른 상품'이나 '구성'으로 한 번이라도 변하면, 1위 상품도 예외 없이 영구 삭제됩니다.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</a:t>
            </a:r>
            <a:r>
              <a:rPr lang="en-US" sz="13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수납장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221992"/>
            <a:ext cx="201168" cy="3108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12080" y="20574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130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349240" y="20574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모음전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수납장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1/2/3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20370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12680" y="20574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범주가 여러 개로 확장 → 재사용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2898648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/>
          <p:nvPr/>
        </p:nvSpPr>
        <p:spPr>
          <a:xfrm>
            <a:off x="685800" y="28986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 노트북</a:t>
            </a:r>
            <a:endParaRPr lang="en-US" sz="13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063240"/>
            <a:ext cx="201168" cy="31089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212080" y="2898648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130"/>
          </a:solidFill>
          <a:ln w="1270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/>
          <p:nvPr/>
        </p:nvSpPr>
        <p:spPr>
          <a:xfrm>
            <a:off x="5349240" y="289864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/ 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엘지 노트북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3044952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12680" y="289864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상품의 기준 범주 이탈 → 재사용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48640" y="3739896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1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/>
          <p:nvPr/>
        </p:nvSpPr>
        <p:spPr>
          <a:xfrm>
            <a:off x="685800" y="373989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모음전</a:t>
            </a:r>
            <a:endParaRPr lang="en-US" sz="13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904488"/>
            <a:ext cx="201168" cy="310896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5212080" y="3739896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130"/>
          </a:solidFill>
          <a:ln w="1270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/>
          <p:cNvSpPr/>
          <p:nvPr/>
        </p:nvSpPr>
        <p:spPr>
          <a:xfrm>
            <a:off x="5349240" y="373989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모음전 (범주 내 변경)</a:t>
            </a:r>
            <a:endParaRPr lang="en-US" sz="13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3886200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012680" y="373989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허용된 범주 내 옵션 변경 → </a:t>
            </a:r>
            <a:r>
              <a:rPr lang="en-US" sz="1050" dirty="0" err="1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</a:t>
            </a:r>
            <a:r>
              <a:rPr lang="ko-KR" altLang="en-US" sz="1050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</a:t>
            </a:r>
            <a:endParaRPr lang="en-US" altLang="ko-KR" sz="1050" dirty="0">
              <a:solidFill>
                <a:srgbClr val="5FA894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 algn="l">
              <a:buNone/>
            </a:pPr>
            <a:r>
              <a:rPr lang="en-US" altLang="ko-KR" sz="1050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r>
              <a:rPr lang="ko-KR" altLang="en-US" sz="1050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우리와 </a:t>
            </a:r>
            <a:r>
              <a:rPr lang="ko-KR" altLang="en-US" sz="1050" dirty="0" err="1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관련없음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548640" y="502920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19"/>
          <p:cNvSpPr/>
          <p:nvPr/>
        </p:nvSpPr>
        <p:spPr>
          <a:xfrm>
            <a:off x="868680" y="5029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리뷰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쌓인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효자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상품에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슬쩍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변화를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추가하는 순간, 월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 하루아침에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사라집니다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.(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영구삭제</a:t>
            </a:r>
            <a:r>
              <a:rPr lang="en-US" altLang="ko-KR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영구 삭제 주의 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상품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동일·유사 사업자가 '완전히 동일한 상품'을 2개 이상 올리면 제재 (카테고리·몰이 달라도 적발).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58384" cy="3840480"/>
          </a:xfrm>
          <a:prstGeom prst="roundRect">
            <a:avLst>
              <a:gd name="adj" fmla="val 2381"/>
            </a:avLst>
          </a:prstGeom>
          <a:solidFill>
            <a:srgbClr val="1E2130"/>
          </a:solidFill>
          <a:ln w="16510">
            <a:solidFill>
              <a:srgbClr val="A33C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33C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판정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718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A  =  상품 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4718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81928" y="2057400"/>
            <a:ext cx="5358384" cy="3840480"/>
          </a:xfrm>
          <a:prstGeom prst="roundRect">
            <a:avLst>
              <a:gd name="adj" fmla="val 2381"/>
            </a:avLst>
          </a:prstGeom>
          <a:solidFill>
            <a:srgbClr val="1E2130"/>
          </a:solidFill>
          <a:ln w="16510">
            <a:solidFill>
              <a:srgbClr val="5FA89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01968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회피 기준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01968" y="2697480"/>
            <a:ext cx="4718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토시 하나만 달라도 '다른 상품'으로 인식합니다.</a:t>
            </a:r>
            <a:endParaRPr lang="en-US" sz="12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327355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95160" y="3200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[용량] 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골드바 1g  vs  골드바 1.001g</a:t>
            </a:r>
            <a:endParaRPr lang="en-US" sz="14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398678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39136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[구성] </a:t>
            </a:r>
            <a:r>
              <a:rPr lang="ko-KR" altLang="en-US" sz="14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포장지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10매  vs  </a:t>
            </a:r>
            <a:r>
              <a:rPr lang="ko-KR" alt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포장지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1매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470001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462686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[사은품] </a:t>
            </a: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단품  vs  단품 + 스티커 증정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회피 교차 등록 (Cross-Matrix)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상품끼리 대표만 안 겹치면 교차 OK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58384" cy="3017520"/>
          </a:xfrm>
          <a:prstGeom prst="roundRect">
            <a:avLst>
              <a:gd name="adj" fmla="val 3030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58384" cy="548640"/>
          </a:xfrm>
          <a:prstGeom prst="roundRect">
            <a:avLst>
              <a:gd name="adj" fmla="val 16667"/>
            </a:avLst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358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4809744" cy="566928"/>
          </a:xfrm>
          <a:prstGeom prst="roundRect">
            <a:avLst>
              <a:gd name="adj" fmla="val 8065"/>
            </a:avLst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 err="1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</a:t>
            </a:r>
            <a:r>
              <a:rPr lang="en-US" sz="1350" b="1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받침대 </a:t>
            </a:r>
            <a:r>
              <a:rPr lang="en-US" altLang="ko-KR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127248"/>
            <a:ext cx="4809744" cy="566928"/>
          </a:xfrm>
          <a:prstGeom prst="roundRect">
            <a:avLst>
              <a:gd name="adj" fmla="val 8065"/>
            </a:avLst>
          </a:prstGeom>
          <a:solidFill>
            <a:srgbClr val="2A1B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05840" y="31272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옵션1(대표) 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받침대 </a:t>
            </a:r>
            <a:r>
              <a:rPr lang="en-US" altLang="ko-KR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3840480"/>
            <a:ext cx="4809744" cy="566928"/>
          </a:xfrm>
          <a:prstGeom prst="roundRect">
            <a:avLst>
              <a:gd name="adj" fmla="val 8065"/>
            </a:avLst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3840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옵션2(서브) 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받침대 </a:t>
            </a:r>
            <a:r>
              <a:rPr lang="en-US" altLang="ko-KR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81928" y="1737360"/>
            <a:ext cx="5358384" cy="3017520"/>
          </a:xfrm>
          <a:prstGeom prst="roundRect">
            <a:avLst>
              <a:gd name="adj" fmla="val 3030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281928" y="1737360"/>
            <a:ext cx="5358384" cy="548640"/>
          </a:xfrm>
          <a:prstGeom prst="roundRect">
            <a:avLst>
              <a:gd name="adj" fmla="val 16667"/>
            </a:avLst>
          </a:prstGeom>
          <a:solidFill>
            <a:srgbClr val="A33C4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81928" y="1737360"/>
            <a:ext cx="53583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B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56248" y="2423160"/>
            <a:ext cx="4809744" cy="566928"/>
          </a:xfrm>
          <a:prstGeom prst="roundRect">
            <a:avLst>
              <a:gd name="adj" fmla="val 8065"/>
            </a:avLst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739128" y="24231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 err="1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</a:t>
            </a:r>
            <a:r>
              <a:rPr lang="en-US" sz="1350" b="1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받침대 </a:t>
            </a:r>
            <a:r>
              <a:rPr lang="en-US" altLang="ko-KR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56248" y="3127248"/>
            <a:ext cx="4809744" cy="566928"/>
          </a:xfrm>
          <a:prstGeom prst="roundRect">
            <a:avLst>
              <a:gd name="adj" fmla="val 8065"/>
            </a:avLst>
          </a:prstGeom>
          <a:solidFill>
            <a:srgbClr val="2A1B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739128" y="31272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옵션1(대표) 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받침대 </a:t>
            </a:r>
            <a:r>
              <a:rPr lang="en-US" altLang="ko-KR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56248" y="3840480"/>
            <a:ext cx="4809744" cy="566928"/>
          </a:xfrm>
          <a:prstGeom prst="roundRect">
            <a:avLst>
              <a:gd name="adj" fmla="val 8065"/>
            </a:avLst>
          </a:prstGeom>
          <a:solidFill>
            <a:srgbClr val="23263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739128" y="38404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옵션2(서브) 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받침대 </a:t>
            </a:r>
            <a:r>
              <a:rPr lang="en-US" altLang="ko-KR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r>
              <a:rPr lang="ko-KR" altLang="en-US" sz="135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  대표 상품(옵션1)이 서로 다르므로 중복 아님 — 서브 옵션은 교차해도 안전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68680" y="5257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전략적 가치  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키워드를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각각 단일 상품으로 1페이지에 노출하면서, 구매자에겐 동일 라인업 제공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초월 타겟팅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상품으로 카테고리 확장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'추가 상품'은 중복 상품 규정에서 완전히 자유롭습니다. 몇 번을 재사용해도 무방.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572000" cy="2468880"/>
          </a:xfrm>
          <a:prstGeom prst="roundRect">
            <a:avLst>
              <a:gd name="adj" fmla="val 3704"/>
            </a:avLst>
          </a:prstGeom>
          <a:solidFill>
            <a:srgbClr val="1E2130"/>
          </a:solidFill>
          <a:ln w="16510">
            <a:solidFill>
              <a:srgbClr val="A33C4E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상품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카테고리: [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요가매트 </a:t>
            </a:r>
            <a:r>
              <a:rPr lang="en-US" altLang="ko-KR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요가매트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]</a:t>
            </a: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상태: 해당 카테고리 내 키워드 한계 도달</a:t>
            </a:r>
            <a:endParaRPr lang="en-US" sz="13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200400"/>
            <a:ext cx="4114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9377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상품 링크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68312" y="2148840"/>
            <a:ext cx="4572000" cy="2468880"/>
          </a:xfrm>
          <a:prstGeom prst="roundRect">
            <a:avLst>
              <a:gd name="adj" fmla="val 3704"/>
            </a:avLst>
          </a:prstGeom>
          <a:solidFill>
            <a:srgbClr val="1E2130"/>
          </a:solidFill>
          <a:ln w="16510">
            <a:solidFill>
              <a:srgbClr val="5FA894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342632" y="2377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상품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42632" y="297180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카테고리: [</a:t>
            </a:r>
            <a:r>
              <a:rPr lang="ko-KR" altLang="en-US" sz="13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요가링</a:t>
            </a:r>
            <a:r>
              <a:rPr lang="ko-KR" alt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 </a:t>
            </a:r>
            <a:r>
              <a:rPr lang="ko-KR" altLang="en-US" sz="13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요가링</a:t>
            </a:r>
            <a:r>
              <a:rPr lang="en-US" altLang="ko-KR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ko-KR" altLang="en-US" sz="13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필라테스링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]</a:t>
            </a:r>
            <a:endParaRPr lang="en-US" sz="13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상태: 새로운 유입 키워드 노출 영역 확보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93776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6868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 err="1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전술</a:t>
            </a: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r>
              <a:rPr lang="ko-KR" alt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요가링</a:t>
            </a:r>
            <a:r>
              <a:rPr lang="en-US" altLang="ko-KR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ko-KR" alt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필라테스링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카테고리에 B상품을 단독 등록해 신규 검색 유입을 만들고, </a:t>
            </a:r>
          </a:p>
          <a:p>
            <a:pPr marL="0" indent="0" algn="l">
              <a:buNone/>
            </a:pP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상세페이지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링크로 메인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A상품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요가매트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)에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트래픽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추가상품은 저렴한 </a:t>
            </a:r>
            <a:r>
              <a:rPr lang="ko-KR" alt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저관여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제품으로 등록하여 유입을 </a:t>
            </a:r>
            <a:r>
              <a:rPr lang="ko-KR" altLang="en-US" sz="1450" dirty="0" err="1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만드는게</a:t>
            </a:r>
            <a:r>
              <a:rPr lang="ko-KR" alt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목표임</a:t>
            </a:r>
            <a:r>
              <a:rPr lang="en-US" altLang="ko-KR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전략적 경쟁사 대응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신고는 '타이밍'이 핵심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89A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규정을 위반한 경쟁자를 신고해 내 순위를 올리는 방법. 단, 타겟팅이 정확해야 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58384" cy="1417320"/>
          </a:xfrm>
          <a:prstGeom prst="roundRect">
            <a:avLst>
              <a:gd name="adj" fmla="val 6452"/>
            </a:avLst>
          </a:prstGeom>
          <a:solidFill>
            <a:srgbClr val="1E2130"/>
          </a:solidFill>
          <a:ln w="16510">
            <a:solidFill>
              <a:srgbClr val="5FA89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718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5FA8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타겟  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바로 위 순위(예: 내가 4위 → 3위)를 신고 → 삭제 시 즉각적인 순위 상승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81928" y="2057400"/>
            <a:ext cx="5358384" cy="1417320"/>
          </a:xfrm>
          <a:prstGeom prst="roundRect">
            <a:avLst>
              <a:gd name="adj" fmla="val 6452"/>
            </a:avLst>
          </a:prstGeom>
          <a:solidFill>
            <a:srgbClr val="1E2130"/>
          </a:solidFill>
          <a:ln w="16510">
            <a:solidFill>
              <a:srgbClr val="A33C4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601968" y="2057400"/>
            <a:ext cx="47183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나쁜 타겟  </a:t>
            </a:r>
            <a:r>
              <a:rPr lang="en-US" sz="13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100위인 내가 1위를 신고 → 1위가 삭제돼도 나는 99위. 무의미한 노력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순서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리뷰·Q&amp;A 내역을 역추적해 위반 정황 확인</a:t>
            </a:r>
            <a:endParaRPr lang="en-US" sz="14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'상품 ID 재사용(대표 상품 변경)' 증거 화면 캡처</a:t>
            </a:r>
            <a:endParaRPr lang="en-US" sz="1400" dirty="0"/>
          </a:p>
          <a:p>
            <a:pPr marL="152400" indent="-1524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고객센터에 정확한 근거로 신고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48640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E2130"/>
          </a:solidFill>
          <a:ln/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68680" y="5486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E0A9A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  </a:t>
            </a:r>
            <a:r>
              <a:rPr lang="en-US" sz="1450" dirty="0">
                <a:solidFill>
                  <a:srgbClr val="EA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규정 위반이 확인된 경우에만 신고하세요. 허위·표적 신고는 오히려 제재 사유가 됩니다.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</TotalTime>
  <Words>2122</Words>
  <Application>Microsoft Office PowerPoint</Application>
  <PresentationFormat>와이드스크린</PresentationFormat>
  <Paragraphs>395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네이버 1페이지 점령 - 1주차</dc:title>
  <dc:subject>PptxGenJS Presentation</dc:subject>
  <dc:creator>용감한 용팀장</dc:creator>
  <cp:lastModifiedBy>용 최</cp:lastModifiedBy>
  <cp:revision>24</cp:revision>
  <dcterms:created xsi:type="dcterms:W3CDTF">2026-06-12T02:15:20Z</dcterms:created>
  <dcterms:modified xsi:type="dcterms:W3CDTF">2026-06-12T15:17:31Z</dcterms:modified>
</cp:coreProperties>
</file>