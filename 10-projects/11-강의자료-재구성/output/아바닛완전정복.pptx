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2"/>
  </p:notesMasterIdLst>
  <p:sldIdLst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8" Type="http://schemas.openxmlformats.org/officeDocument/2006/relationships/slide" Target="slides/slide1.xml"/><Relationship Id="rId19" Type="http://schemas.openxmlformats.org/officeDocument/2006/relationships/slide" Target="slides/slide2.xml"/><Relationship Id="rId20" Type="http://schemas.openxmlformats.org/officeDocument/2006/relationships/slide" Target="slides/slide3.xml"/><Relationship Id="rId21" Type="http://schemas.openxmlformats.org/officeDocument/2006/relationships/slide" Target="slides/slide4.xml"/><Relationship Id="rId22" Type="http://schemas.openxmlformats.org/officeDocument/2006/relationships/slide" Target="slides/slide5.xml"/><Relationship Id="rId23" Type="http://schemas.openxmlformats.org/officeDocument/2006/relationships/slide" Target="slides/slide6.xml"/><Relationship Id="rId24" Type="http://schemas.openxmlformats.org/officeDocument/2006/relationships/slide" Target="slides/slide7.xml"/><Relationship Id="rId25" Type="http://schemas.openxmlformats.org/officeDocument/2006/relationships/slide" Target="slides/slide8.xml"/><Relationship Id="rId26" Type="http://schemas.openxmlformats.org/officeDocument/2006/relationships/slide" Target="slides/slide9.xml"/><Relationship Id="rId27" Type="http://schemas.openxmlformats.org/officeDocument/2006/relationships/slide" Target="slides/slide10.xml"/><Relationship Id="rId28" Type="http://schemas.openxmlformats.org/officeDocument/2006/relationships/slide" Target="slides/slide11.xml"/><Relationship Id="rId29" Type="http://schemas.openxmlformats.org/officeDocument/2006/relationships/slide" Target="slides/slide12.xml"/><Relationship Id="rId30" Type="http://schemas.openxmlformats.org/officeDocument/2006/relationships/slide" Target="slides/slide13.xml"/><Relationship Id="rId31" Type="http://schemas.openxmlformats.org/officeDocument/2006/relationships/slide" Target="slides/slide14.xml"/><Relationship Id="rId32" Type="http://schemas.openxmlformats.org/officeDocument/2006/relationships/slide" Target="slides/slide15.xml"/><Relationship Id="rId33" Type="http://schemas.openxmlformats.org/officeDocument/2006/relationships/slide" Target="slides/slide16.xml"/><Relationship Id="rId34" Type="http://schemas.openxmlformats.org/officeDocument/2006/relationships/slide" Target="slides/slide17.xml"/><Relationship Id="rId35" Type="http://schemas.openxmlformats.org/officeDocument/2006/relationships/slide" Target="slides/slide18.xml"/><Relationship Id="rId36" Type="http://schemas.openxmlformats.org/officeDocument/2006/relationships/slide" Target="slides/slide19.xml"/><Relationship Id="rId37" Type="http://schemas.openxmlformats.org/officeDocument/2006/relationships/slide" Target="slides/slide20.xml"/><Relationship Id="rId52" Type="http://schemas.openxmlformats.org/officeDocument/2006/relationships/notesMaster" Target="notesMasters/notesMaster1.xml"/><Relationship Id="rId53" Type="http://schemas.openxmlformats.org/officeDocument/2006/relationships/presProps" Target="presProps.xml"/><Relationship Id="rId54" Type="http://schemas.openxmlformats.org/officeDocument/2006/relationships/viewProps" Target="viewProps.xml"/><Relationship Id="rId55" Type="http://schemas.openxmlformats.org/officeDocument/2006/relationships/theme" Target="theme/theme1.xml"/><Relationship Id="rId56" Type="http://schemas.openxmlformats.org/officeDocument/2006/relationships/tableStyles" Target="tableStyles.xml"/><Relationship Id="rId5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용 최" userId="1589a7fea772e98f" providerId="LiveId" clId="{F4A86167-AC27-4299-87BB-E282C3EAA034}"/>
    <pc:docChg chg="modSld">
      <pc:chgData name="용 최" userId="1589a7fea772e98f" providerId="LiveId" clId="{F4A86167-AC27-4299-87BB-E282C3EAA034}" dt="2026-07-11T03:22:49.587" v="3" actId="1076"/>
      <pc:docMkLst>
        <pc:docMk/>
      </pc:docMkLst>
      <pc:sldChg chg="modSp mod">
        <pc:chgData name="용 최" userId="1589a7fea772e98f" providerId="LiveId" clId="{F4A86167-AC27-4299-87BB-E282C3EAA034}" dt="2026-07-11T01:46:22.900" v="1" actId="14100"/>
        <pc:sldMkLst>
          <pc:docMk/>
          <pc:sldMk cId="0" sldId="270"/>
        </pc:sldMkLst>
        <pc:picChg chg="mod">
          <ac:chgData name="용 최" userId="1589a7fea772e98f" providerId="LiveId" clId="{F4A86167-AC27-4299-87BB-E282C3EAA034}" dt="2026-07-11T01:46:22.900" v="1" actId="14100"/>
          <ac:picMkLst>
            <pc:docMk/>
            <pc:sldMk cId="0" sldId="270"/>
            <ac:picMk id="21" creationId="{47784F90-37DC-4AEE-67CD-A7E55302F332}"/>
          </ac:picMkLst>
        </pc:picChg>
      </pc:sldChg>
      <pc:sldChg chg="addSp modSp mod">
        <pc:chgData name="용 최" userId="1589a7fea772e98f" providerId="LiveId" clId="{F4A86167-AC27-4299-87BB-E282C3EAA034}" dt="2026-07-11T03:22:49.587" v="3" actId="1076"/>
        <pc:sldMkLst>
          <pc:docMk/>
          <pc:sldMk cId="0" sldId="304"/>
        </pc:sldMkLst>
        <pc:picChg chg="add mod">
          <ac:chgData name="용 최" userId="1589a7fea772e98f" providerId="LiveId" clId="{F4A86167-AC27-4299-87BB-E282C3EAA034}" dt="2026-07-11T03:22:49.587" v="3" actId="1076"/>
          <ac:picMkLst>
            <pc:docMk/>
            <pc:sldMk cId="0" sldId="304"/>
            <ac:picMk id="22" creationId="{FF393858-FD7D-A2B5-9CB2-0DA4160446F9}"/>
          </ac:picMkLst>
        </pc:pic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32211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1.png"/><Relationship Id="rId4" Type="http://schemas.openxmlformats.org/officeDocument/2006/relationships/image" Target="../media/image2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5.png"/><Relationship Id="rId4" Type="http://schemas.openxmlformats.org/officeDocument/2006/relationships/image" Target="../media/image2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7.png"/><Relationship Id="rId4" Type="http://schemas.openxmlformats.org/officeDocument/2006/relationships/image" Target="../media/image28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9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0.png"/><Relationship Id="rId4" Type="http://schemas.openxmlformats.org/officeDocument/2006/relationships/image" Target="../media/image3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822960" y="26060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아바닛(AVANIT) 완전정복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822960" y="34747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주문수집부터 배송신청서까지, 원스톱 자동화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4160520"/>
            <a:ext cx="7132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4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해외구매대행 셀러 전용 주문·물류 자동화 솔루션</a:t>
            </a:r>
            <a:endParaRPr lang="en-US" sz="14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4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주문/CS 자동 수집 · 배송신청서 자동작성 · 통관부호 검증 · 해외 트래킹 자동수집</a:t>
            </a:r>
            <a:endParaRPr lang="en-US" sz="1400" dirty="0"/>
          </a:p>
          <a:p>
            <a:pPr marL="0" indent="0">
              <a:lnSpc>
                <a:spcPts val="2400"/>
              </a:lnSpc>
              <a:buNone/>
            </a:pPr>
            <a:endParaRPr lang="en-US" sz="14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4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공식 사이트: avanit-service.com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5669280"/>
            <a:ext cx="7132320" cy="685800"/>
          </a:xfrm>
          <a:prstGeom prst="roundRect">
            <a:avLst>
              <a:gd name="adj" fmla="val 10667"/>
            </a:avLst>
          </a:prstGeom>
          <a:solidFill>
            <a:srgbClr val="1E2130"/>
          </a:solidFill>
          <a:ln w="19050">
            <a:solidFill>
              <a:srgbClr val="5FA89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1051560" y="5669280"/>
            <a:ext cx="6766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🎁  추천인 코드 </a:t>
            </a:r>
            <a:r>
              <a:rPr lang="en-US" sz="1600" b="1" dirty="0">
                <a:solidFill>
                  <a:srgbClr val="5FA8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YONG</a:t>
            </a:r>
            <a:r>
              <a:rPr lang="en-US" sz="13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입력 시 요금제 결제금액의 10% 마일리지 적립</a:t>
            </a:r>
            <a:endParaRPr lang="en-US" sz="1350" dirty="0"/>
          </a:p>
        </p:txBody>
      </p:sp>
      <p:pic>
        <p:nvPicPr>
          <p:cNvPr id="9" name="Image 0" descr="/home/claude/wk5/1783588179943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1666563"/>
            <a:ext cx="3383280" cy="448499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11480" y="310896"/>
            <a:ext cx="11368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초기 세팅 — 회원가입 후 [개인 설정]부터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969264"/>
            <a:ext cx="113687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avanit-service.com 회원가입 → 우측 상단 이름 클릭 → 개인 설정</a:t>
            </a:r>
            <a:endParaRPr lang="en-US" sz="1350" dirty="0"/>
          </a:p>
        </p:txBody>
      </p:sp>
      <p:pic>
        <p:nvPicPr>
          <p:cNvPr id="6" name="Image 0" descr="/home/claude/wk5/1783589595945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808360"/>
            <a:ext cx="3291840" cy="3698479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206240" y="1737360"/>
            <a:ext cx="7543800" cy="914400"/>
          </a:xfrm>
          <a:prstGeom prst="roundRect">
            <a:avLst>
              <a:gd name="adj" fmla="val 6000"/>
            </a:avLst>
          </a:prstGeom>
          <a:solidFill>
            <a:srgbClr val="1E2130"/>
          </a:solidFill>
          <a:ln w="12700">
            <a:solidFill>
              <a:srgbClr val="1E213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/>
          <p:nvPr/>
        </p:nvSpPr>
        <p:spPr>
          <a:xfrm>
            <a:off x="4434840" y="17373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마진/환율/카드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7589520" y="173736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최소 마진 비율 · 환율 가중치 · 결제카드 등록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206240" y="2788920"/>
            <a:ext cx="7543800" cy="914400"/>
          </a:xfrm>
          <a:prstGeom prst="roundRect">
            <a:avLst>
              <a:gd name="adj" fmla="val 6000"/>
            </a:avLst>
          </a:prstGeom>
          <a:solidFill>
            <a:srgbClr val="1E2130"/>
          </a:solidFill>
          <a:ln w="12700">
            <a:solidFill>
              <a:srgbClr val="1E213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/>
          <p:nvPr/>
        </p:nvSpPr>
        <p:spPr>
          <a:xfrm>
            <a:off x="4434840" y="278892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배송대행지 연동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7589520" y="278892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내가 쓰는 배대지 미리 등록 → 주문 시 자동 매칭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4206240" y="3840480"/>
            <a:ext cx="7543800" cy="914400"/>
          </a:xfrm>
          <a:prstGeom prst="roundRect">
            <a:avLst>
              <a:gd name="adj" fmla="val 6000"/>
            </a:avLst>
          </a:prstGeom>
          <a:solidFill>
            <a:srgbClr val="1E2130"/>
          </a:solidFill>
          <a:ln w="12700">
            <a:solidFill>
              <a:srgbClr val="1E213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/>
          <p:nvPr/>
        </p:nvSpPr>
        <p:spPr>
          <a:xfrm>
            <a:off x="4434840" y="384048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쇼핑몰 API 연동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7589520" y="384048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운영 중인 국내 마켓 전부 연동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4206240" y="4892040"/>
            <a:ext cx="7543800" cy="914400"/>
          </a:xfrm>
          <a:prstGeom prst="roundRect">
            <a:avLst>
              <a:gd name="adj" fmla="val 6000"/>
            </a:avLst>
          </a:prstGeom>
          <a:solidFill>
            <a:srgbClr val="1E2130"/>
          </a:solidFill>
          <a:ln w="12700">
            <a:solidFill>
              <a:srgbClr val="1E213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/>
          <p:nvPr/>
        </p:nvSpPr>
        <p:spPr>
          <a:xfrm>
            <a:off x="4434840" y="489204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개인 맞춤 설정</a:t>
            </a:r>
            <a:endParaRPr lang="en-US" sz="1450" dirty="0"/>
          </a:p>
        </p:txBody>
      </p:sp>
      <p:sp>
        <p:nvSpPr>
          <p:cNvPr id="18" name="Text 15"/>
          <p:cNvSpPr/>
          <p:nvPr/>
        </p:nvSpPr>
        <p:spPr>
          <a:xfrm>
            <a:off x="7589520" y="489204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주문 수집·발송 처리 방식을 성향대로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11480" y="310896"/>
            <a:ext cx="11368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세팅 ①  마진 / 환율 / 카드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969264"/>
            <a:ext cx="113687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 화면과 동일하게 세팅하면 됩니다.</a:t>
            </a:r>
            <a:endParaRPr lang="en-US" sz="1350" dirty="0"/>
          </a:p>
        </p:txBody>
      </p:sp>
      <p:pic>
        <p:nvPicPr>
          <p:cNvPr id="6" name="Image 0" descr="/home/claude/wk5/1783589675677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6444" y="1554480"/>
            <a:ext cx="5825272" cy="48920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046720" y="1554480"/>
            <a:ext cx="3733495" cy="4892040"/>
          </a:xfrm>
          <a:prstGeom prst="roundRect">
            <a:avLst>
              <a:gd name="adj" fmla="val 1959"/>
            </a:avLst>
          </a:prstGeom>
          <a:solidFill>
            <a:srgbClr val="1E2130"/>
          </a:solidFill>
          <a:ln w="12700">
            <a:solidFill>
              <a:srgbClr val="1E213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/>
          <p:nvPr/>
        </p:nvSpPr>
        <p:spPr>
          <a:xfrm>
            <a:off x="8275320" y="1737360"/>
            <a:ext cx="32762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포인트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275320" y="2240280"/>
            <a:ext cx="327629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9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최소 마진 비율: 0.15 (CNY/USD/JPY 동일)</a:t>
            </a:r>
            <a:endParaRPr lang="en-US" sz="1250" dirty="0"/>
          </a:p>
          <a:p>
            <a:pPr marL="342900" indent="-342900">
              <a:lnSpc>
                <a:spcPts val="19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마진 15% 이하 상품은 주문처리 때 한 번 더 체크 알림</a:t>
            </a:r>
            <a:endParaRPr lang="en-US" sz="1250" dirty="0"/>
          </a:p>
          <a:p>
            <a:pPr marL="342900" indent="-342900">
              <a:lnSpc>
                <a:spcPts val="19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변동 환율 가중치: 1.05</a:t>
            </a:r>
            <a:endParaRPr lang="en-US" sz="1250" dirty="0"/>
          </a:p>
          <a:p>
            <a:pPr marL="342900" indent="-342900">
              <a:lnSpc>
                <a:spcPts val="19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카드 설정: 현금/기본카드 등록 (청구 기준일·월 한도)</a:t>
            </a:r>
            <a:endParaRPr lang="en-US" sz="1250" dirty="0"/>
          </a:p>
          <a:p>
            <a:pPr marL="342900" indent="-342900">
              <a:lnSpc>
                <a:spcPts val="19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입력 후 [마진/환율/카드값 저장] 클릭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11480" y="310896"/>
            <a:ext cx="11368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세팅 ②  배송대행지 연동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969264"/>
            <a:ext cx="113687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내가 쓰는 배대지를 연동해두면 주문처리가 편해집니다.</a:t>
            </a:r>
            <a:endParaRPr lang="en-US" sz="1350" dirty="0"/>
          </a:p>
        </p:txBody>
      </p:sp>
      <p:pic>
        <p:nvPicPr>
          <p:cNvPr id="6" name="Image 0" descr="/home/claude/wk5/1783589770781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6273" y="1554480"/>
            <a:ext cx="5805614" cy="48920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046720" y="1554480"/>
            <a:ext cx="3733495" cy="4892040"/>
          </a:xfrm>
          <a:prstGeom prst="roundRect">
            <a:avLst>
              <a:gd name="adj" fmla="val 1959"/>
            </a:avLst>
          </a:prstGeom>
          <a:solidFill>
            <a:srgbClr val="1E2130"/>
          </a:solidFill>
          <a:ln w="12700">
            <a:solidFill>
              <a:srgbClr val="1E213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/>
          <p:nvPr/>
        </p:nvSpPr>
        <p:spPr>
          <a:xfrm>
            <a:off x="8275320" y="1737360"/>
            <a:ext cx="32762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포인트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275320" y="2240280"/>
            <a:ext cx="327629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9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연동: 배대지 아이디/URL 등록 (예: 탁월한직구, 천조직구)</a:t>
            </a:r>
            <a:endParaRPr lang="en-US" sz="1250" dirty="0"/>
          </a:p>
          <a:p>
            <a:pPr marL="342900" indent="-342900">
              <a:lnSpc>
                <a:spcPts val="19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엑셀 연동: 목록에서 즐겨찾기 + 운임표 확인</a:t>
            </a:r>
            <a:endParaRPr lang="en-US" sz="1250" dirty="0"/>
          </a:p>
          <a:p>
            <a:pPr marL="342900" indent="-342900">
              <a:lnSpc>
                <a:spcPts val="19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없는 배대지는 [배송대행지 추가 요청] 가능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11480" y="310896"/>
            <a:ext cx="11368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세팅 ③  쇼핑몰 API 연동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969264"/>
            <a:ext cx="113687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운영 중인 국내 마켓을 전부 연동해둡니다.</a:t>
            </a:r>
            <a:endParaRPr lang="en-US" sz="1350" dirty="0"/>
          </a:p>
        </p:txBody>
      </p:sp>
      <p:pic>
        <p:nvPicPr>
          <p:cNvPr id="6" name="Image 0" descr="/home/claude/wk5/1783589826269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816" y="1554480"/>
            <a:ext cx="7046529" cy="48920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046720" y="1554480"/>
            <a:ext cx="3733495" cy="4892040"/>
          </a:xfrm>
          <a:prstGeom prst="roundRect">
            <a:avLst>
              <a:gd name="adj" fmla="val 1959"/>
            </a:avLst>
          </a:prstGeom>
          <a:solidFill>
            <a:srgbClr val="1E2130"/>
          </a:solidFill>
          <a:ln w="12700">
            <a:solidFill>
              <a:srgbClr val="1E213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/>
          <p:nvPr/>
        </p:nvSpPr>
        <p:spPr>
          <a:xfrm>
            <a:off x="8275320" y="1737360"/>
            <a:ext cx="32762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포인트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275320" y="2240280"/>
            <a:ext cx="327629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9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[쇼핑몰 추가/수정] 버튼으로 마켓 등록</a:t>
            </a:r>
            <a:endParaRPr lang="en-US" sz="1250" dirty="0"/>
          </a:p>
          <a:p>
            <a:pPr marL="342900" indent="-342900">
              <a:lnSpc>
                <a:spcPts val="19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2차인증 성공 여부 리스트에서 바로 확인</a:t>
            </a:r>
            <a:endParaRPr lang="en-US" sz="1250" dirty="0"/>
          </a:p>
          <a:p>
            <a:pPr marL="342900" indent="-342900">
              <a:lnSpc>
                <a:spcPts val="19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쇼핑몰 그룹·별칭·사업자번호까지 한 화면 관리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11480" y="310896"/>
            <a:ext cx="11368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세팅 ③-1  쇼핑몰 추가 입력 항목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969264"/>
            <a:ext cx="113687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쇼핑몰 추가 팝업에서 정보를 모두 입력합니다.</a:t>
            </a:r>
            <a:endParaRPr lang="en-US" sz="1350" dirty="0"/>
          </a:p>
        </p:txBody>
      </p:sp>
      <p:pic>
        <p:nvPicPr>
          <p:cNvPr id="6" name="Image 0" descr="/home/claude/wk5/1783589891275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039" y="1554480"/>
            <a:ext cx="2437784" cy="48920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046720" y="1554480"/>
            <a:ext cx="3733495" cy="4892040"/>
          </a:xfrm>
          <a:prstGeom prst="roundRect">
            <a:avLst>
              <a:gd name="adj" fmla="val 1959"/>
            </a:avLst>
          </a:prstGeom>
          <a:solidFill>
            <a:srgbClr val="1E2130"/>
          </a:solidFill>
          <a:ln w="12700">
            <a:solidFill>
              <a:srgbClr val="1E213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/>
          <p:nvPr/>
        </p:nvSpPr>
        <p:spPr>
          <a:xfrm>
            <a:off x="8275320" y="1737360"/>
            <a:ext cx="32762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포인트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275320" y="2240280"/>
            <a:ext cx="327629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9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쇼핑몰 종류: 스마트스토어 / 주 소싱처: 타오바오</a:t>
            </a:r>
            <a:endParaRPr lang="en-US" sz="1250" dirty="0"/>
          </a:p>
          <a:p>
            <a:pPr marL="342900" indent="-342900">
              <a:lnSpc>
                <a:spcPts val="19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아이디 · 비밀번호 · 쇼핑몰 별칭</a:t>
            </a:r>
            <a:endParaRPr lang="en-US" sz="1250" dirty="0"/>
          </a:p>
          <a:p>
            <a:pPr marL="342900" indent="-342900">
              <a:lnSpc>
                <a:spcPts val="19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사업자번호 (세무신고 기재용)</a:t>
            </a:r>
            <a:endParaRPr lang="en-US" sz="1250" dirty="0"/>
          </a:p>
          <a:p>
            <a:pPr marL="342900" indent="-342900">
              <a:lnSpc>
                <a:spcPts val="19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스마트스토어 API 연동용 판매자 ID</a:t>
            </a:r>
            <a:endParaRPr lang="en-US" sz="1250" dirty="0"/>
          </a:p>
          <a:p>
            <a:pPr marL="342900" indent="-342900">
              <a:lnSpc>
                <a:spcPts val="19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애플리케이션 ID/시크릿은 선택 (정산 API용)</a:t>
            </a:r>
            <a:endParaRPr lang="en-US" sz="1250" dirty="0"/>
          </a:p>
          <a:p>
            <a:pPr marL="342900" indent="-342900">
              <a:lnSpc>
                <a:spcPts val="19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[API 확인] → [추가 완료]</a:t>
            </a:r>
            <a:endParaRPr lang="en-US" sz="1250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6D3075AD-CABD-5DD6-10F3-EFA176FDDF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7175" y="4055201"/>
            <a:ext cx="3311057" cy="2391319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72D6C72F-83EB-354B-6035-F0A8EDFBDDE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01674" y="1043260"/>
            <a:ext cx="1286558" cy="278851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11480" y="310896"/>
            <a:ext cx="11368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세팅 ④  개인 맞춤 설정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969264"/>
            <a:ext cx="113687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개인 성향대로 세팅하면 됩니다.</a:t>
            </a:r>
            <a:endParaRPr lang="en-US" sz="1350" dirty="0"/>
          </a:p>
        </p:txBody>
      </p:sp>
      <p:pic>
        <p:nvPicPr>
          <p:cNvPr id="6" name="Image 0" descr="/home/claude/wk5/1783590270260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914" y="1554480"/>
            <a:ext cx="6916332" cy="48920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046720" y="1554480"/>
            <a:ext cx="3733495" cy="4892040"/>
          </a:xfrm>
          <a:prstGeom prst="roundRect">
            <a:avLst>
              <a:gd name="adj" fmla="val 1959"/>
            </a:avLst>
          </a:prstGeom>
          <a:solidFill>
            <a:srgbClr val="1E2130"/>
          </a:solidFill>
          <a:ln w="12700">
            <a:solidFill>
              <a:srgbClr val="1E213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/>
          <p:nvPr/>
        </p:nvSpPr>
        <p:spPr>
          <a:xfrm>
            <a:off x="8275320" y="1737360"/>
            <a:ext cx="32762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예시 세팅 (용팀장 기준)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275320" y="2240280"/>
            <a:ext cx="327629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9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신규 주문 확인: 자동수집 → 주문확인 → 가송장처리 (평일 6시간 간격)</a:t>
            </a:r>
            <a:endParaRPr lang="en-US" sz="1250" dirty="0"/>
          </a:p>
          <a:p>
            <a:pPr marL="342900" indent="-342900">
              <a:lnSpc>
                <a:spcPts val="19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선송장 발송: 국내송장 입력 없이 아이콘 클릭 시 선송장 처리</a:t>
            </a:r>
            <a:endParaRPr lang="en-US" sz="1250" dirty="0"/>
          </a:p>
          <a:p>
            <a:pPr marL="342900" indent="-342900">
              <a:lnSpc>
                <a:spcPts val="19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자동 발송 수정처리: 쇼핑몰 발송수정 직접 처리</a:t>
            </a:r>
            <a:endParaRPr lang="en-US" sz="1250" dirty="0"/>
          </a:p>
          <a:p>
            <a:pPr marL="342900" indent="-342900">
              <a:lnSpc>
                <a:spcPts val="19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알림톡: 신규주문 '주문 확인' 시 즉시 발송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11480" y="310896"/>
            <a:ext cx="11368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주문처리 ①  쇼핑몰 주문 수집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969264"/>
            <a:ext cx="113687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메뉴 → [주문/CS 수집] — 연동된 쇼핑몰의 신규주문을 수집합니다.</a:t>
            </a:r>
            <a:endParaRPr lang="en-US" sz="1350" dirty="0"/>
          </a:p>
        </p:txBody>
      </p:sp>
      <p:pic>
        <p:nvPicPr>
          <p:cNvPr id="6" name="Image 0" descr="/home/claude/wk5/1783591517372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554480"/>
            <a:ext cx="7315200" cy="39242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046720" y="1554480"/>
            <a:ext cx="3733495" cy="4892040"/>
          </a:xfrm>
          <a:prstGeom prst="roundRect">
            <a:avLst>
              <a:gd name="adj" fmla="val 1959"/>
            </a:avLst>
          </a:prstGeom>
          <a:solidFill>
            <a:srgbClr val="1E2130"/>
          </a:solidFill>
          <a:ln w="12700">
            <a:solidFill>
              <a:srgbClr val="1E213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/>
          <p:nvPr/>
        </p:nvSpPr>
        <p:spPr>
          <a:xfrm>
            <a:off x="8275320" y="1737360"/>
            <a:ext cx="32762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포인트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275320" y="2240280"/>
            <a:ext cx="327629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9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자동 수집(6시간 간격)을 켜놨어도, 주문 처리 전 수동 수집 1회 권장</a:t>
            </a:r>
            <a:endParaRPr lang="en-US" sz="1250" dirty="0"/>
          </a:p>
          <a:p>
            <a:pPr marL="342900" indent="-342900">
              <a:lnSpc>
                <a:spcPts val="19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방식이라 수집 속도가 빠름</a:t>
            </a:r>
            <a:endParaRPr lang="en-US" sz="1250" dirty="0"/>
          </a:p>
          <a:p>
            <a:pPr marL="342900" indent="-342900">
              <a:lnSpc>
                <a:spcPts val="19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수집된 주문의 취소/반품/교환 상태 변경은 1~2시간 간격 확인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11480" y="310896"/>
            <a:ext cx="11368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주문처리 ②  발송대기 처리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969264"/>
            <a:ext cx="113687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신규주문 → 발송대기(주문확인)로 일괄 변경</a:t>
            </a:r>
            <a:endParaRPr lang="en-US" sz="1350" dirty="0"/>
          </a:p>
        </p:txBody>
      </p:sp>
      <p:pic>
        <p:nvPicPr>
          <p:cNvPr id="6" name="Image 0" descr="/home/claude/wk5/1783591620365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554480"/>
            <a:ext cx="7315200" cy="393546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046720" y="1554480"/>
            <a:ext cx="3733495" cy="4892040"/>
          </a:xfrm>
          <a:prstGeom prst="roundRect">
            <a:avLst>
              <a:gd name="adj" fmla="val 1959"/>
            </a:avLst>
          </a:prstGeom>
          <a:solidFill>
            <a:srgbClr val="1E2130"/>
          </a:solidFill>
          <a:ln w="12700">
            <a:solidFill>
              <a:srgbClr val="1E213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/>
          <p:nvPr/>
        </p:nvSpPr>
        <p:spPr>
          <a:xfrm>
            <a:off x="8275320" y="1737360"/>
            <a:ext cx="32762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포인트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275320" y="2240280"/>
            <a:ext cx="327629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9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쇼핑몰 필터 [신규주문] 선택</a:t>
            </a:r>
            <a:endParaRPr lang="en-US" sz="1250" dirty="0"/>
          </a:p>
          <a:p>
            <a:pPr marL="342900" indent="-342900">
              <a:lnSpc>
                <a:spcPts val="19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전체 체크</a:t>
            </a:r>
            <a:endParaRPr lang="en-US" sz="1250" dirty="0"/>
          </a:p>
          <a:p>
            <a:pPr marL="342900" indent="-342900">
              <a:lnSpc>
                <a:spcPts val="19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[신규주문 확인] 아이콘 클릭 → 한번에 발송대기로 변경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11480" y="310896"/>
            <a:ext cx="11368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주문처리 ③  가송장 처리 (배송중)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969264"/>
            <a:ext cx="113687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발송대기 → 배송중(가송장)으로 일괄 변경</a:t>
            </a:r>
            <a:endParaRPr lang="en-US" sz="1350" dirty="0"/>
          </a:p>
        </p:txBody>
      </p:sp>
      <p:pic>
        <p:nvPicPr>
          <p:cNvPr id="6" name="Image 0" descr="/home/claude/wk5/1783591680836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554480"/>
            <a:ext cx="7315200" cy="3925087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046720" y="1554480"/>
            <a:ext cx="3733495" cy="4892040"/>
          </a:xfrm>
          <a:prstGeom prst="roundRect">
            <a:avLst>
              <a:gd name="adj" fmla="val 1959"/>
            </a:avLst>
          </a:prstGeom>
          <a:solidFill>
            <a:srgbClr val="1E2130"/>
          </a:solidFill>
          <a:ln w="12700">
            <a:solidFill>
              <a:srgbClr val="1E213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/>
          <p:nvPr/>
        </p:nvSpPr>
        <p:spPr>
          <a:xfrm>
            <a:off x="8275320" y="1737360"/>
            <a:ext cx="32762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포인트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275320" y="2240280"/>
            <a:ext cx="327629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9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쇼핑몰 필터 [발송대기] → 전체 체크 → [발송처리/수정] 아이콘</a:t>
            </a:r>
            <a:endParaRPr lang="en-US" sz="1250" dirty="0"/>
          </a:p>
          <a:p>
            <a:pPr marL="342900" indent="-342900">
              <a:lnSpc>
                <a:spcPts val="19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송장 미입력 상태에서 누르면 일괄 가송장으로 발송처리</a:t>
            </a:r>
            <a:endParaRPr lang="en-US" sz="1250" dirty="0"/>
          </a:p>
          <a:p>
            <a:pPr marL="342900" indent="-342900">
              <a:lnSpc>
                <a:spcPts val="19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쇼핑몰 필터/그룹 필터로 특정 마켓만 선택 처리도 가능</a:t>
            </a:r>
            <a:endParaRPr lang="en-US" sz="1250" dirty="0"/>
          </a:p>
          <a:p>
            <a:pPr marL="342900" indent="-342900">
              <a:lnSpc>
                <a:spcPts val="19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쇼핑몰 정책에 따라 선택적으로 사용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11480" y="310896"/>
            <a:ext cx="11368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주문처리 ④  해외 주문 전 확인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969264"/>
            <a:ext cx="113687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썸네일 클릭 → 주문 이상 여부를 먼저 검토합니다.</a:t>
            </a:r>
            <a:endParaRPr lang="en-US" sz="1350" dirty="0"/>
          </a:p>
        </p:txBody>
      </p:sp>
      <p:pic>
        <p:nvPicPr>
          <p:cNvPr id="6" name="Image 0" descr="/home/claude/wk5/1783591983945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554480"/>
            <a:ext cx="7315200" cy="391906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046720" y="1554480"/>
            <a:ext cx="3733495" cy="4892040"/>
          </a:xfrm>
          <a:prstGeom prst="roundRect">
            <a:avLst>
              <a:gd name="adj" fmla="val 1959"/>
            </a:avLst>
          </a:prstGeom>
          <a:solidFill>
            <a:srgbClr val="1E2130"/>
          </a:solidFill>
          <a:ln w="12700">
            <a:solidFill>
              <a:srgbClr val="1E213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/>
          <p:nvPr/>
        </p:nvSpPr>
        <p:spPr>
          <a:xfrm>
            <a:off x="8275320" y="1737360"/>
            <a:ext cx="32762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포인트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275320" y="2240280"/>
            <a:ext cx="327629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9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좌: 내 상품 대표이미지 + 선택 옵션이미지</a:t>
            </a:r>
            <a:endParaRPr lang="en-US" sz="1250" dirty="0"/>
          </a:p>
          <a:p>
            <a:pPr marL="342900" indent="-342900">
              <a:lnSpc>
                <a:spcPts val="19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우: 전체 상세페이지</a:t>
            </a:r>
            <a:endParaRPr lang="en-US" sz="1250" dirty="0"/>
          </a:p>
          <a:p>
            <a:pPr marL="342900" indent="-342900">
              <a:lnSpc>
                <a:spcPts val="19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하단: 주문번호 · 상품명 · 상품금액 · 옵션명 · 등록된 옵션리스트</a:t>
            </a:r>
            <a:endParaRPr lang="en-US" sz="1250" dirty="0"/>
          </a:p>
          <a:p>
            <a:pPr marL="342900" indent="-342900">
              <a:lnSpc>
                <a:spcPts val="19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미끼상품 구매 방지 · 판가 적절성 · 통관 불가 이슈를 주문 전에 체크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11480" y="310896"/>
            <a:ext cx="11368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주문처리 ⑤  타오바오에서 원가 상품 찾기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969264"/>
            <a:ext cx="113687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이미지 검색으로 같은 상품을 찾아 옵션 판매 여부를 확인합니다.</a:t>
            </a:r>
            <a:endParaRPr lang="en-US" sz="1350" dirty="0"/>
          </a:p>
        </p:txBody>
      </p:sp>
      <p:pic>
        <p:nvPicPr>
          <p:cNvPr id="6" name="Image 0" descr="/home/claude/wk5/1783592152111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719" y="1691640"/>
            <a:ext cx="2902483" cy="30175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484632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대표 이미지에 마우스 오버</a:t>
            </a:r>
            <a:endParaRPr lang="en-US" sz="1200" dirty="0"/>
          </a:p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[이미지 검색용 복사]</a:t>
            </a:r>
            <a:endParaRPr lang="en-US" sz="1200" dirty="0"/>
          </a:p>
        </p:txBody>
      </p:sp>
      <p:pic>
        <p:nvPicPr>
          <p:cNvPr id="8" name="Image 1" descr="/home/claude/wk5/1783592244651_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1920" y="2011680"/>
            <a:ext cx="4937760" cy="45307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931920" y="32004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타오바오 검색창 카메라 아이콘 클릭</a:t>
            </a:r>
            <a:endParaRPr lang="en-US" sz="1200" dirty="0"/>
          </a:p>
        </p:txBody>
      </p:sp>
      <p:pic>
        <p:nvPicPr>
          <p:cNvPr id="10" name="Image 2" descr="/home/claude/wk5/1783592283423_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35440" y="1691640"/>
            <a:ext cx="2560320" cy="283406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235440" y="48463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붙여넣기 → 이미지로 검색</a:t>
            </a:r>
            <a:endParaRPr lang="en-US" sz="1200" dirty="0"/>
          </a:p>
        </p:txBody>
      </p:sp>
      <p:sp>
        <p:nvSpPr>
          <p:cNvPr id="12" name="Shape 7"/>
          <p:cNvSpPr/>
          <p:nvPr/>
        </p:nvSpPr>
        <p:spPr>
          <a:xfrm>
            <a:off x="411480" y="5623560"/>
            <a:ext cx="11368735" cy="566928"/>
          </a:xfrm>
          <a:prstGeom prst="roundRect">
            <a:avLst>
              <a:gd name="adj" fmla="val 9677"/>
            </a:avLst>
          </a:prstGeom>
          <a:solidFill>
            <a:srgbClr val="1E2130"/>
          </a:solidFill>
          <a:ln w="12700">
            <a:solidFill>
              <a:srgbClr val="1E213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8"/>
          <p:cNvSpPr/>
          <p:nvPr/>
        </p:nvSpPr>
        <p:spPr>
          <a:xfrm>
            <a:off x="594360" y="5623560"/>
            <a:ext cx="110029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검색 결과에서 저렴하고 구매건수 많은 상품 우선으로 클릭 → 해당 옵션을 실제로 판매하는지 확인 후 주문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11480" y="310896"/>
            <a:ext cx="11368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주문처리 ⑥  타오바오 주문 → 아바닛으로 복사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969264"/>
            <a:ext cx="113687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맞는 옵션으로 주문한 뒤, 주문정보를 아바닛으로 가져옵니다.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11480" y="438912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타오바오 [내 주문내역] → 해당 주문의 [아바닛 주문 복사] 클릭</a:t>
            </a:r>
            <a:endParaRPr lang="en-US" sz="1250" dirty="0"/>
          </a:p>
        </p:txBody>
      </p:sp>
      <p:pic>
        <p:nvPicPr>
          <p:cNvPr id="8" name="Image 1" descr="/home/claude/wk5/1783592651286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2742" y="4937760"/>
            <a:ext cx="9736035" cy="10972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11480" y="6172200"/>
            <a:ext cx="11338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아바닛으로 돌아와서 해당 주문건의 [주문대기] 클릭</a:t>
            </a:r>
            <a:endParaRPr lang="en-US" sz="1250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48FD5C40-E306-63C1-ECBB-154987047A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1832834"/>
            <a:ext cx="6858000" cy="233241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11480" y="310896"/>
            <a:ext cx="11368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주문처리 ⑦  해외 주문 정보 입력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969264"/>
            <a:ext cx="113687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복사한 주문을 붙여넣으면 기본 정보가 자동으로 채워집니다.</a:t>
            </a:r>
            <a:endParaRPr lang="en-US" sz="1350" dirty="0"/>
          </a:p>
        </p:txBody>
      </p:sp>
      <p:pic>
        <p:nvPicPr>
          <p:cNvPr id="6" name="Image 0" descr="/home/claude/wk5/1783592788515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506" y="1554480"/>
            <a:ext cx="7295147" cy="48920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046720" y="1554480"/>
            <a:ext cx="3733495" cy="4892040"/>
          </a:xfrm>
          <a:prstGeom prst="roundRect">
            <a:avLst>
              <a:gd name="adj" fmla="val 1959"/>
            </a:avLst>
          </a:prstGeom>
          <a:solidFill>
            <a:srgbClr val="1E2130"/>
          </a:solidFill>
          <a:ln w="12700">
            <a:solidFill>
              <a:srgbClr val="1E213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/>
          <p:nvPr/>
        </p:nvSpPr>
        <p:spPr>
          <a:xfrm>
            <a:off x="8275320" y="1737360"/>
            <a:ext cx="32762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포인트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275320" y="2240280"/>
            <a:ext cx="327629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9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붙여넣기 → 건별 정보(상품명/옵션명/단가/수량/배송비) 자동 입력</a:t>
            </a:r>
            <a:endParaRPr lang="en-US" sz="1250" dirty="0"/>
          </a:p>
          <a:p>
            <a:pPr marL="342900" indent="-342900">
              <a:lnSpc>
                <a:spcPts val="19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공통 정보(배송대행지/운송방법/결제카드/통화)는 직접 선택</a:t>
            </a:r>
            <a:endParaRPr lang="en-US" sz="1250" dirty="0"/>
          </a:p>
          <a:p>
            <a:pPr marL="342900" indent="-342900">
              <a:lnSpc>
                <a:spcPts val="19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마진 예측용 주문금액·예상배송비 입력 가능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11480" y="310896"/>
            <a:ext cx="11368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주문처리 ⑧  HS코드 입력 + 마진검토 + 저장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969264"/>
            <a:ext cx="113687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배대지 품목번호까지 넣고 마진 확인 후 완전저장합니다.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8046720" y="1554480"/>
            <a:ext cx="3733495" cy="4892040"/>
          </a:xfrm>
          <a:prstGeom prst="roundRect">
            <a:avLst>
              <a:gd name="adj" fmla="val 1959"/>
            </a:avLst>
          </a:prstGeom>
          <a:solidFill>
            <a:srgbClr val="1E2130"/>
          </a:solidFill>
          <a:ln w="12700">
            <a:solidFill>
              <a:srgbClr val="1E213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/>
          <p:nvPr/>
        </p:nvSpPr>
        <p:spPr>
          <a:xfrm>
            <a:off x="8275320" y="1737360"/>
            <a:ext cx="32762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포인트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275320" y="2240280"/>
            <a:ext cx="327629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9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배대지 품목번호(HS CODE): AI 추천값 참고해 적당한 품목 입력 (예: 기타 컴퓨터부품)</a:t>
            </a:r>
            <a:endParaRPr lang="en-US" sz="1250" dirty="0"/>
          </a:p>
          <a:p>
            <a:pPr marL="342900" indent="-342900">
              <a:lnSpc>
                <a:spcPts val="19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[마진 검토] 클릭 → "적합 (15.9%)"처럼 실제 마진율 자동 계산</a:t>
            </a:r>
            <a:endParaRPr lang="en-US" sz="1250" dirty="0"/>
          </a:p>
          <a:p>
            <a:pPr marL="342900" indent="-342900">
              <a:lnSpc>
                <a:spcPts val="19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 이하면 경고 — 판가/원가 다시 확인</a:t>
            </a:r>
            <a:endParaRPr lang="en-US" sz="1250" dirty="0"/>
          </a:p>
          <a:p>
            <a:pPr marL="342900" indent="-342900">
              <a:lnSpc>
                <a:spcPts val="19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 없으면 [완전저장]</a:t>
            </a:r>
            <a:endParaRPr lang="en-US" sz="1250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2C528358-AFF6-4C8C-6649-AFD8380B71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554480"/>
            <a:ext cx="7315200" cy="2806187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11480" y="310896"/>
            <a:ext cx="11368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주문처리 ⑨  배송신청서 전송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969264"/>
            <a:ext cx="113687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저장완료 상태가 되면 [배송신청서 전송]을 누릅니다.</a:t>
            </a:r>
            <a:endParaRPr lang="en-US" sz="1350" dirty="0"/>
          </a:p>
        </p:txBody>
      </p:sp>
      <p:pic>
        <p:nvPicPr>
          <p:cNvPr id="6" name="Image 0" descr="/home/claude/wk5/1783593505056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600200"/>
            <a:ext cx="11338560" cy="889299"/>
          </a:xfrm>
          <a:prstGeom prst="rect">
            <a:avLst/>
          </a:prstGeom>
        </p:spPr>
      </p:pic>
      <p:pic>
        <p:nvPicPr>
          <p:cNvPr id="7" name="Image 1" descr="/home/claude/wk5/1783593585129_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9540" y="2834640"/>
            <a:ext cx="5473320" cy="356616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680960" y="2834640"/>
            <a:ext cx="4099255" cy="3566160"/>
          </a:xfrm>
          <a:prstGeom prst="roundRect">
            <a:avLst>
              <a:gd name="adj" fmla="val 2051"/>
            </a:avLst>
          </a:prstGeom>
          <a:solidFill>
            <a:srgbClr val="1E2130"/>
          </a:solidFill>
          <a:ln w="12700">
            <a:solidFill>
              <a:srgbClr val="1E213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5"/>
          <p:cNvSpPr/>
          <p:nvPr/>
        </p:nvSpPr>
        <p:spPr>
          <a:xfrm>
            <a:off x="7909560" y="3017520"/>
            <a:ext cx="36420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전송 순서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7909560" y="3474720"/>
            <a:ext cx="3642055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spcAft>
                <a:spcPts val="1200"/>
              </a:spcAft>
              <a:buNone/>
            </a:pPr>
            <a:r>
              <a:rPr lang="en-US" sz="12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배대지·배송방법 선택 (개인해운 평택/인천 등)</a:t>
            </a:r>
            <a:endParaRPr lang="en-US" sz="1250" dirty="0"/>
          </a:p>
          <a:p>
            <a:pPr marL="0" indent="0">
              <a:lnSpc>
                <a:spcPts val="1900"/>
              </a:lnSpc>
              <a:spcAft>
                <a:spcPts val="1200"/>
              </a:spcAft>
              <a:buNone/>
            </a:pPr>
            <a:r>
              <a:rPr lang="en-US" sz="12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부가서비스 확인 후 원하는 항목 체크 (검수·포장보완·통관옵션 등)</a:t>
            </a:r>
            <a:endParaRPr lang="en-US" sz="1250" dirty="0"/>
          </a:p>
          <a:p>
            <a:pPr marL="0" indent="0">
              <a:lnSpc>
                <a:spcPts val="1900"/>
              </a:lnSpc>
              <a:spcAft>
                <a:spcPts val="1200"/>
              </a:spcAft>
              <a:buNone/>
            </a:pPr>
            <a:r>
              <a:rPr lang="en-US" sz="12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예치금 자동결제 / 세금계산서 신청 체크</a:t>
            </a:r>
            <a:endParaRPr lang="en-US" sz="1250" dirty="0"/>
          </a:p>
          <a:p>
            <a:pPr marL="0" indent="0">
              <a:lnSpc>
                <a:spcPts val="1900"/>
              </a:lnSpc>
              <a:spcAft>
                <a:spcPts val="1200"/>
              </a:spcAft>
              <a:buNone/>
            </a:pPr>
            <a:r>
              <a:rPr lang="en-US" sz="12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 [배송신청서 전송] → "성공 1건/실패 0건" 확인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11480" y="310896"/>
            <a:ext cx="11368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배대지에서 정상 접수 확인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969264"/>
            <a:ext cx="113687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전송 후 배대지 사이트에서 접수신청·입고예정 상태와 트래킹번호까지 확인됩니다.</a:t>
            </a:r>
            <a:endParaRPr lang="en-US" sz="1350" dirty="0"/>
          </a:p>
        </p:txBody>
      </p:sp>
      <p:pic>
        <p:nvPicPr>
          <p:cNvPr id="6" name="Image 0" descr="/home/claude/wk5/1783593649938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737360"/>
            <a:ext cx="3291840" cy="25538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45262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전송 성공 안내</a:t>
            </a:r>
            <a:endParaRPr lang="en-US" sz="1250" dirty="0"/>
          </a:p>
        </p:txBody>
      </p:sp>
      <p:pic>
        <p:nvPicPr>
          <p:cNvPr id="8" name="Image 1" descr="/home/claude/wk5/1783593716974_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0" y="2194560"/>
            <a:ext cx="7680960" cy="134308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114800" y="45262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배대지 주문목록 — 정상 접수 + 트래킹번호(CJ대한통운) 확인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11480" y="310896"/>
            <a:ext cx="11368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주문처리 ⑩  물류흐름 자동 추적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969264"/>
            <a:ext cx="113687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해외택배·국내택배·통관 상태를 아바닛이 자동으로 업데이트합니다.</a:t>
            </a:r>
            <a:endParaRPr lang="en-US" sz="1350" dirty="0"/>
          </a:p>
        </p:txBody>
      </p:sp>
      <p:pic>
        <p:nvPicPr>
          <p:cNvPr id="6" name="Image 0" descr="/home/claude/wk5/1783593787400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554480"/>
            <a:ext cx="7315200" cy="3906397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046720" y="1554480"/>
            <a:ext cx="3733495" cy="4892040"/>
          </a:xfrm>
          <a:prstGeom prst="roundRect">
            <a:avLst>
              <a:gd name="adj" fmla="val 1959"/>
            </a:avLst>
          </a:prstGeom>
          <a:solidFill>
            <a:srgbClr val="1E2130"/>
          </a:solidFill>
          <a:ln w="12700">
            <a:solidFill>
              <a:srgbClr val="1E213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/>
          <p:nvPr/>
        </p:nvSpPr>
        <p:spPr>
          <a:xfrm>
            <a:off x="8275320" y="1737360"/>
            <a:ext cx="32762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포인트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275320" y="2240280"/>
            <a:ext cx="327629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9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해외주문 저장 후 1~2일마다 자동 물류 추적</a:t>
            </a:r>
            <a:endParaRPr lang="en-US" sz="1250" dirty="0"/>
          </a:p>
          <a:p>
            <a:pPr marL="342900" indent="-342900">
              <a:lnSpc>
                <a:spcPts val="19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[배송현황 조회] 또는 [고객수령일] 클릭 → 물류현황 상세보기</a:t>
            </a:r>
            <a:endParaRPr lang="en-US" sz="1250" dirty="0"/>
          </a:p>
          <a:p>
            <a:pPr marL="342900" indent="-342900">
              <a:lnSpc>
                <a:spcPts val="19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해외물류현황(중국 현지) + 국내물류현황(CJ 등) + 통관현황 한 화면</a:t>
            </a:r>
            <a:endParaRPr lang="en-US" sz="1250" dirty="0"/>
          </a:p>
          <a:p>
            <a:pPr marL="342900" indent="-342900">
              <a:lnSpc>
                <a:spcPts val="19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배대지 도착일 · 한국 입항일 · 통관 완료일 · 고객 수령일 자동 표시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11480" y="310896"/>
            <a:ext cx="11368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CS처리 — 반품·취소·교환 + 문의관리까지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969264"/>
            <a:ext cx="113687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연동된 전체 마켓의 CS를 아바닛 한 곳에서 처리합니다.</a:t>
            </a:r>
            <a:endParaRPr lang="en-US" sz="1350" dirty="0"/>
          </a:p>
        </p:txBody>
      </p:sp>
      <p:pic>
        <p:nvPicPr>
          <p:cNvPr id="6" name="Image 0" descr="/home/claude/wk5/1783593868206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645920"/>
            <a:ext cx="5577840" cy="212115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4023360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반품/취소/교환 — 건별 상태변경 버튼 + CS접수 사유·증빙 자동 기록</a:t>
            </a:r>
            <a:endParaRPr lang="en-US" sz="1200" dirty="0"/>
          </a:p>
        </p:txBody>
      </p:sp>
      <p:pic>
        <p:nvPicPr>
          <p:cNvPr id="8" name="Image 1" descr="/home/claude/wk5/1783593896900_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1645920"/>
            <a:ext cx="5486400" cy="213264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309360" y="40233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긴급/문의관리 — 전체 마켓 문의 통합, 원클릭 처리 + 답변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411480" y="4846320"/>
            <a:ext cx="11368735" cy="566928"/>
          </a:xfrm>
          <a:prstGeom prst="roundRect">
            <a:avLst>
              <a:gd name="adj" fmla="val 9677"/>
            </a:avLst>
          </a:prstGeom>
          <a:solidFill>
            <a:srgbClr val="1E2130"/>
          </a:solidFill>
          <a:ln w="12700">
            <a:solidFill>
              <a:srgbClr val="1E213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7"/>
          <p:cNvSpPr/>
          <p:nvPr/>
        </p:nvSpPr>
        <p:spPr>
          <a:xfrm>
            <a:off x="594360" y="4846320"/>
            <a:ext cx="110029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통관부호 요청도 아바닛이 1차·2차 자동문자 발송 — 회신 없을 때만 수동으로 보내면 됩니다.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11480" y="310896"/>
            <a:ext cx="11368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비용 입력 + 세무자료 다운로드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969264"/>
            <a:ext cx="113687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해외배송비·추가 비용을 입력해두면 세무자료 엑셀로 한번에 뽑힙니다.</a:t>
            </a:r>
            <a:endParaRPr lang="en-US" sz="1350" dirty="0"/>
          </a:p>
        </p:txBody>
      </p:sp>
      <p:pic>
        <p:nvPicPr>
          <p:cNvPr id="6" name="Image 0" descr="/home/claude/wk5/1783594011337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645920"/>
            <a:ext cx="7498080" cy="33271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229600" y="1645920"/>
            <a:ext cx="3550615" cy="3840480"/>
          </a:xfrm>
          <a:prstGeom prst="roundRect">
            <a:avLst>
              <a:gd name="adj" fmla="val 2060"/>
            </a:avLst>
          </a:prstGeom>
          <a:solidFill>
            <a:srgbClr val="1E2130"/>
          </a:solidFill>
          <a:ln w="12700">
            <a:solidFill>
              <a:srgbClr val="1E213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/>
          <p:nvPr/>
        </p:nvSpPr>
        <p:spPr>
          <a:xfrm>
            <a:off x="8458200" y="1828800"/>
            <a:ext cx="3093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포인트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458200" y="2286000"/>
            <a:ext cx="3093415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900"/>
              </a:lnSpc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[배송비/비용] 버튼 → 실제배송비·관부가세·기타 지출/수입 입력</a:t>
            </a:r>
            <a:endParaRPr lang="en-US" sz="1250" dirty="0"/>
          </a:p>
          <a:p>
            <a:pPr marL="342900" indent="-342900">
              <a:lnSpc>
                <a:spcPts val="1900"/>
              </a:lnSpc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[세무자료 다운로드] → 입력한 비용이 전부 반영된 엑셀</a:t>
            </a:r>
            <a:endParaRPr lang="en-US" sz="1250" dirty="0"/>
          </a:p>
          <a:p>
            <a:pPr marL="342900" indent="-342900">
              <a:lnSpc>
                <a:spcPts val="1900"/>
              </a:lnSpc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배송신청서·신규주문·송장번호 등도 엑셀 업/다운로드 지원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11480" y="5760720"/>
            <a:ext cx="11368735" cy="566928"/>
          </a:xfrm>
          <a:prstGeom prst="roundRect">
            <a:avLst>
              <a:gd name="adj" fmla="val 9677"/>
            </a:avLst>
          </a:prstGeom>
          <a:solidFill>
            <a:srgbClr val="1E2130"/>
          </a:solidFill>
          <a:ln w="12700">
            <a:solidFill>
              <a:srgbClr val="1E213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/>
          <p:nvPr/>
        </p:nvSpPr>
        <p:spPr>
          <a:xfrm>
            <a:off x="594360" y="5760720"/>
            <a:ext cx="110029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FA8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🎁  아바닛 가입 시 추천인 코드 "YONG" 입력 → 요금제 결제금액의 10% 마일리지 적립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173</TotalTime>
  <Words>4376</Words>
  <Application>Microsoft Office PowerPoint</Application>
  <PresentationFormat>와이드스크린</PresentationFormat>
  <Paragraphs>655</Paragraphs>
  <Slides>50</Slides>
  <Notes>39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50</vt:i4>
      </vt:variant>
    </vt:vector>
  </HeadingPairs>
  <TitlesOfParts>
    <vt:vector size="54" baseType="lpstr">
      <vt:lpstr>Malgun Gothic</vt:lpstr>
      <vt:lpstr>Arial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용 최</cp:lastModifiedBy>
  <cp:revision>11</cp:revision>
  <dcterms:created xsi:type="dcterms:W3CDTF">2026-07-10T13:36:41Z</dcterms:created>
  <dcterms:modified xsi:type="dcterms:W3CDTF">2026-07-11T03:22:52Z</dcterms:modified>
</cp:coreProperties>
</file>