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autoCompressPictures="0">
  <p:sldMasterIdLst>
    <p:sldMasterId id="2147483651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horzBarState="maximized">
    <p:restoredLeft sz="18238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216" y="312"/>
      </p:cViewPr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slide" Target="slides/slide13.xml"  /><Relationship Id="rId16" Type="http://schemas.openxmlformats.org/officeDocument/2006/relationships/slide" Target="slides/slide14.xml"  /><Relationship Id="rId17" Type="http://schemas.openxmlformats.org/officeDocument/2006/relationships/slide" Target="slides/slide15.xml"  /><Relationship Id="rId18" Type="http://schemas.openxmlformats.org/officeDocument/2006/relationships/slide" Target="slides/slide16.xml"  /><Relationship Id="rId19" Type="http://schemas.openxmlformats.org/officeDocument/2006/relationships/presProps" Target="presProps.xml"  /><Relationship Id="rId2" Type="http://schemas.openxmlformats.org/officeDocument/2006/relationships/notesMaster" Target="notesMasters/notesMaster1.xml"  /><Relationship Id="rId20" Type="http://schemas.openxmlformats.org/officeDocument/2006/relationships/viewProps" Target="viewProps.xml"  /><Relationship Id="rId21" Type="http://schemas.openxmlformats.org/officeDocument/2006/relationships/theme" Target="theme/theme1.xml"  /><Relationship Id="rId22" Type="http://schemas.openxmlformats.org/officeDocument/2006/relationships/tableStyles" Target="tableStyles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5282F153-3F37-0F45-9E97-73ACFA13230C}" type="datetime1">
              <a:rPr lang="en-US"/>
              <a:pPr lvl="0">
                <a:defRPr/>
              </a:pPr>
              <a:t>9/9/2026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en-US"/>
              <a:t>Click to edit Master text styles</a:t>
            </a:r>
            <a:endParaRPr lang="en-US"/>
          </a:p>
          <a:p>
            <a:pPr lvl="1">
              <a:defRPr/>
            </a:pPr>
            <a:r>
              <a:rPr lang="en-US"/>
              <a:t>Second level</a:t>
            </a:r>
            <a:endParaRPr lang="en-US"/>
          </a:p>
          <a:p>
            <a:pPr lvl="2">
              <a:defRPr/>
            </a:pPr>
            <a:r>
              <a:rPr lang="en-US"/>
              <a:t>Third level</a:t>
            </a:r>
            <a:endParaRPr lang="en-US"/>
          </a:p>
          <a:p>
            <a:pPr lvl="3">
              <a:defRPr/>
            </a:pPr>
            <a:r>
              <a:rPr lang="en-US"/>
              <a:t>Fourth level</a:t>
            </a:r>
            <a:endParaRPr lang="en-US"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CE5E9CC1-C706-0F49-92D6-E571CC5EEA8F}" type="slidenum">
              <a:rPr lang="en-US"/>
              <a:pPr lvl="0"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.xml"  /><Relationship Id="rId2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slide" Target="../slides/slide2.xml"  /><Relationship Id="rId2" Type="http://schemas.openxmlformats.org/officeDocument/2006/relationships/notesMaster" Target="../notesMasters/notesMaster1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slide" Target="../slides/slide3.xml"  /><Relationship Id="rId2" Type="http://schemas.openxmlformats.org/officeDocument/2006/relationships/notesMaster" Target="../notesMasters/notesMaster1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slide" Target="../slides/slide4.xml"  /><Relationship Id="rId2" Type="http://schemas.openxmlformats.org/officeDocument/2006/relationships/notesMaster" Target="../notesMasters/notesMaster1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slide" Target="../slides/slide5.xml"  /><Relationship Id="rId2" Type="http://schemas.openxmlformats.org/officeDocument/2006/relationships/notesMaster" Target="../notesMasters/notesMaster1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slide" Target="../slides/slide6.xml"  /><Relationship Id="rId2" Type="http://schemas.openxmlformats.org/officeDocument/2006/relationships/notesMaster" Target="../notesMasters/notesMaster1.xml"  /></Relationships>
</file>

<file path=ppt/notesSlides/_rels/notesSlide7.xml.rels><?xml version="1.0" encoding="UTF-8" standalone="yes" ?><Relationships xmlns="http://schemas.openxmlformats.org/package/2006/relationships"><Relationship Id="rId1" Type="http://schemas.openxmlformats.org/officeDocument/2006/relationships/slide" Target="../slides/slide7.xml"  /><Relationship Id="rId2" Type="http://schemas.openxmlformats.org/officeDocument/2006/relationships/notesMaster" Target="../notesMasters/notesMaster1.xml"  /></Relationships>
</file>

<file path=ppt/notesSlides/_rels/notesSlide8.xml.rels><?xml version="1.0" encoding="UTF-8" standalone="yes" ?><Relationships xmlns="http://schemas.openxmlformats.org/package/2006/relationships"><Relationship Id="rId1" Type="http://schemas.openxmlformats.org/officeDocument/2006/relationships/slide" Target="../slides/slide8.xml"  /><Relationship Id="rId2" Type="http://schemas.openxmlformats.org/officeDocument/2006/relationships/notesMaster" Target="../notesMasters/notesMaster1.xml"  /></Relationships>
</file>

<file path=ppt/notesSlides/_rels/notesSlide9.xml.rels><?xml version="1.0" encoding="UTF-8" standalone="yes" ?><Relationships xmlns="http://schemas.openxmlformats.org/package/2006/relationships"><Relationship Id="rId1" Type="http://schemas.openxmlformats.org/officeDocument/2006/relationships/slide" Target="../slides/slide9.xml"  /><Relationship Id="rId2" Type="http://schemas.openxmlformats.org/officeDocument/2006/relationships/notesMaster" Target="../notesMasters/notesMaster1.xml"  /></Relationships>
</file>

<file path=ppt/notesSlides/_rels/notesSlide10.xml.rels><?xml version="1.0" encoding="UTF-8" standalone="yes" ?><Relationships xmlns="http://schemas.openxmlformats.org/package/2006/relationships"><Relationship Id="rId1" Type="http://schemas.openxmlformats.org/officeDocument/2006/relationships/slide" Target="../slides/slide10.xml"  /><Relationship Id="rId2" Type="http://schemas.openxmlformats.org/officeDocument/2006/relationships/notesMaster" Target="../notesMasters/notesMaster1.xml"  /></Relationships>
</file>

<file path=ppt/notesSlides/_rels/notesSlide1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1.xml"  /><Relationship Id="rId2" Type="http://schemas.openxmlformats.org/officeDocument/2006/relationships/notesMaster" Target="../notesMasters/notesMaster1.xml"  /></Relationships>
</file>

<file path=ppt/notesSlides/_rels/notesSlide12.xml.rels><?xml version="1.0" encoding="UTF-8" standalone="yes" ?><Relationships xmlns="http://schemas.openxmlformats.org/package/2006/relationships"><Relationship Id="rId1" Type="http://schemas.openxmlformats.org/officeDocument/2006/relationships/slide" Target="../slides/slide12.xml"  /><Relationship Id="rId2" Type="http://schemas.openxmlformats.org/officeDocument/2006/relationships/notesMaster" Target="../notesMasters/notesMaster1.xml"  /></Relationships>
</file>

<file path=ppt/notesSlides/_rels/notesSlide13.xml.rels><?xml version="1.0" encoding="UTF-8" standalone="yes" ?><Relationships xmlns="http://schemas.openxmlformats.org/package/2006/relationships"><Relationship Id="rId1" Type="http://schemas.openxmlformats.org/officeDocument/2006/relationships/slide" Target="../slides/slide13.xml"  /><Relationship Id="rId2" Type="http://schemas.openxmlformats.org/officeDocument/2006/relationships/notesMaster" Target="../notesMasters/notesMaster1.xml"  /></Relationships>
</file>

<file path=ppt/notesSlides/_rels/notesSlide14.xml.rels><?xml version="1.0" encoding="UTF-8" standalone="yes" ?><Relationships xmlns="http://schemas.openxmlformats.org/package/2006/relationships"><Relationship Id="rId1" Type="http://schemas.openxmlformats.org/officeDocument/2006/relationships/slide" Target="../slides/slide14.xml"  /><Relationship Id="rId2" Type="http://schemas.openxmlformats.org/officeDocument/2006/relationships/notesMaster" Target="../notesMasters/notesMaster1.xml"  /></Relationships>
</file>

<file path=ppt/notesSlides/_rels/notesSlide15.xml.rels><?xml version="1.0" encoding="UTF-8" standalone="yes" ?><Relationships xmlns="http://schemas.openxmlformats.org/package/2006/relationships"><Relationship Id="rId1" Type="http://schemas.openxmlformats.org/officeDocument/2006/relationships/slide" Target="../slides/slide15.xml"  /><Relationship Id="rId2" Type="http://schemas.openxmlformats.org/officeDocument/2006/relationships/notesMaster" Target="../notesMasters/notesMaster1.xml"  /></Relationships>
</file>

<file path=ppt/notesSlides/_rels/notesSlide16.xml.rels><?xml version="1.0" encoding="UTF-8" standalone="yes" ?><Relationships xmlns="http://schemas.openxmlformats.org/package/2006/relationships"><Relationship Id="rId1" Type="http://schemas.openxmlformats.org/officeDocument/2006/relationships/slide" Target="../slides/slide16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theme" Target="../theme/theme1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2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.xml"  /><Relationship Id="rId2" Type="http://schemas.openxmlformats.org/officeDocument/2006/relationships/slideLayout" Target="../slideLayouts/slideLayout1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.xml"  /><Relationship Id="rId2" Type="http://schemas.openxmlformats.org/officeDocument/2006/relationships/slideLayout" Target="../slideLayouts/slideLayout1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5.xml"  /><Relationship Id="rId2" Type="http://schemas.openxmlformats.org/officeDocument/2006/relationships/slideLayout" Target="../slideLayouts/slideLayout1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image" Target="../media/image1.png"  /><Relationship Id="rId2" Type="http://schemas.openxmlformats.org/officeDocument/2006/relationships/slideLayout" Target="../slideLayouts/slideLayout1.xml"  /><Relationship Id="rId3" Type="http://schemas.openxmlformats.org/officeDocument/2006/relationships/notesSlide" Target="../notesSlides/notesSlide6.xml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7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2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image" Target="../media/image3.png"  /><Relationship Id="rId2" Type="http://schemas.openxmlformats.org/officeDocument/2006/relationships/slideLayout" Target="../slideLayouts/slideLayout1.xml"  /><Relationship Id="rId3" Type="http://schemas.openxmlformats.org/officeDocument/2006/relationships/notesSlide" Target="../notesSlides/notesSlide8.xml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image" Target="../media/image4.png"  /><Relationship Id="rId2" Type="http://schemas.openxmlformats.org/officeDocument/2006/relationships/slideLayout" Target="../slideLayouts/slideLayout1.xml"  /><Relationship Id="rId3" Type="http://schemas.openxmlformats.org/officeDocument/2006/relationships/notesSlide" Target="../notesSlides/notesSlide9.xml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0.xml"  /><Relationship Id="rId2" Type="http://schemas.openxmlformats.org/officeDocument/2006/relationships/slideLayout" Target="../slideLayouts/slideLayout1.xml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1.xml"  /><Relationship Id="rId2" Type="http://schemas.openxmlformats.org/officeDocument/2006/relationships/slideLayout" Target="../slideLayouts/slideLayout1.xml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2.xml"  /><Relationship Id="rId2" Type="http://schemas.openxmlformats.org/officeDocument/2006/relationships/slideLayout" Target="../slideLayouts/slideLayout1.xml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3.xml"  /><Relationship Id="rId2" Type="http://schemas.openxmlformats.org/officeDocument/2006/relationships/slideLayout" Target="../slideLayouts/slideLayout1.xml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4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5.png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5.xml"  /><Relationship Id="rId2" Type="http://schemas.openxmlformats.org/officeDocument/2006/relationships/slideLayout" Target="../slideLayouts/slideLayout1.xml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6.xml" 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53035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C55F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THREADS × AFFILIATE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621792" y="1170432"/>
            <a:ext cx="7132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DAY 2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가입·인지작업 실습 가이드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58368" y="2907792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수익화 채널 가입 → Threads 가입 → 관심 분야 인지작업 → 최소 상호작용</a:t>
            </a:r>
            <a:endParaRPr lang="en-US" sz="920" dirty="0"/>
          </a:p>
        </p:txBody>
      </p:sp>
      <p:sp>
        <p:nvSpPr>
          <p:cNvPr id="5" name="Shape 3"/>
          <p:cNvSpPr/>
          <p:nvPr/>
        </p:nvSpPr>
        <p:spPr>
          <a:xfrm>
            <a:off x="685800" y="3858768"/>
            <a:ext cx="512064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8890">
            <a:solidFill>
              <a:srgbClr val="DDE2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4087368"/>
            <a:ext cx="1143000" cy="310896"/>
          </a:xfrm>
          <a:prstGeom prst="roundRect">
            <a:avLst>
              <a:gd name="adj" fmla="val 23529"/>
            </a:avLst>
          </a:prstGeom>
          <a:solidFill>
            <a:srgbClr val="6C55F7"/>
          </a:solidFill>
          <a:ln w="12700">
            <a:solidFill>
              <a:srgbClr val="6C55F7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14984" y="4160520"/>
            <a:ext cx="10332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오늘의 원칙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960120" y="4462272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DAY 2는 게시물을 올리는 날이 아니라,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계정이 관심 분야를 학습하도록 만드는 날입니다.</a:t>
            </a:r>
            <a:endParaRPr lang="en-US" sz="930" dirty="0"/>
          </a:p>
        </p:txBody>
      </p:sp>
      <p:sp>
        <p:nvSpPr>
          <p:cNvPr id="9" name="Shape 7"/>
          <p:cNvSpPr/>
          <p:nvPr/>
        </p:nvSpPr>
        <p:spPr>
          <a:xfrm rot="600000">
            <a:off x="9235440" y="914400"/>
            <a:ext cx="2011680" cy="2011680"/>
          </a:xfrm>
          <a:prstGeom prst="arc">
            <a:avLst/>
          </a:prstGeom>
          <a:noFill/>
          <a:ln w="25400">
            <a:solidFill>
              <a:srgbClr val="6C55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26680" y="3429000"/>
            <a:ext cx="3611880" cy="713232"/>
          </a:xfrm>
          <a:prstGeom prst="roundRect">
            <a:avLst>
              <a:gd name="adj" fmla="val 11538"/>
            </a:avLst>
          </a:prstGeom>
          <a:solidFill>
            <a:srgbClr val="6C55F7"/>
          </a:solidFill>
          <a:ln w="8890">
            <a:solidFill>
              <a:srgbClr val="6C55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01000" y="3675888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DAY 2 COMPLETE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02920" y="6510528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" dirty="0">
                <a:solidFill>
                  <a:srgbClr val="9CA3A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DAY 2 사전 세팅 · 01</a:t>
            </a:r>
            <a:endParaRPr lang="en-US" sz="56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DAY 2 전체 흐름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수익화 채널 가입을 확인하고 Threads 가입 후 자연스럽게 관심사를 학습시킵니다.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6510528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" dirty="0">
                <a:solidFill>
                  <a:srgbClr val="9CA3A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DAY 2 사전 세팅 · 02</a:t>
            </a:r>
            <a:endParaRPr lang="en-US" sz="56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2487168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1490472"/>
            <a:ext cx="438912" cy="310896"/>
          </a:xfrm>
          <a:prstGeom prst="roundRect">
            <a:avLst>
              <a:gd name="adj" fmla="val 20588"/>
            </a:avLst>
          </a:prstGeom>
          <a:solidFill>
            <a:srgbClr val="6C55F7"/>
          </a:solidFill>
          <a:ln w="12700">
            <a:solidFill>
              <a:srgbClr val="6C55F7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568196"/>
            <a:ext cx="3474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580" dirty="0"/>
          </a:p>
        </p:txBody>
      </p:sp>
      <p:sp>
        <p:nvSpPr>
          <p:cNvPr id="8" name="Text 6"/>
          <p:cNvSpPr/>
          <p:nvPr/>
        </p:nvSpPr>
        <p:spPr>
          <a:xfrm>
            <a:off x="822960" y="194767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수익화 채널 확인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22960" y="225856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토스·쿠파스 가입 확인</a:t>
            </a:r>
            <a:endParaRPr lang="en-US" sz="710" dirty="0"/>
          </a:p>
        </p:txBody>
      </p:sp>
      <p:sp>
        <p:nvSpPr>
          <p:cNvPr id="10" name="Shape 8"/>
          <p:cNvSpPr/>
          <p:nvPr/>
        </p:nvSpPr>
        <p:spPr>
          <a:xfrm>
            <a:off x="3474720" y="1325880"/>
            <a:ext cx="2487168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39312" y="1490472"/>
            <a:ext cx="438912" cy="310896"/>
          </a:xfrm>
          <a:prstGeom prst="roundRect">
            <a:avLst>
              <a:gd name="adj" fmla="val 20588"/>
            </a:avLst>
          </a:prstGeom>
          <a:solidFill>
            <a:srgbClr val="6C55F7"/>
          </a:solidFill>
          <a:ln w="12700">
            <a:solidFill>
              <a:srgbClr val="6C55F7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85032" y="1568196"/>
            <a:ext cx="3474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580" dirty="0"/>
          </a:p>
        </p:txBody>
      </p:sp>
      <p:sp>
        <p:nvSpPr>
          <p:cNvPr id="13" name="Text 11"/>
          <p:cNvSpPr/>
          <p:nvPr/>
        </p:nvSpPr>
        <p:spPr>
          <a:xfrm>
            <a:off x="3657600" y="194767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가입 유형 선택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657600" y="225856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개인·사업자 기준 정리</a:t>
            </a:r>
            <a:endParaRPr lang="en-US" sz="710" dirty="0"/>
          </a:p>
        </p:txBody>
      </p:sp>
      <p:sp>
        <p:nvSpPr>
          <p:cNvPr id="15" name="Shape 13"/>
          <p:cNvSpPr/>
          <p:nvPr/>
        </p:nvSpPr>
        <p:spPr>
          <a:xfrm>
            <a:off x="6309360" y="1325880"/>
            <a:ext cx="2487168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73952" y="1490472"/>
            <a:ext cx="438912" cy="310896"/>
          </a:xfrm>
          <a:prstGeom prst="roundRect">
            <a:avLst>
              <a:gd name="adj" fmla="val 20588"/>
            </a:avLst>
          </a:prstGeom>
          <a:solidFill>
            <a:srgbClr val="6C55F7"/>
          </a:solidFill>
          <a:ln w="12700">
            <a:solidFill>
              <a:srgbClr val="6C55F7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19672" y="1568196"/>
            <a:ext cx="3474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580" dirty="0"/>
          </a:p>
        </p:txBody>
      </p:sp>
      <p:sp>
        <p:nvSpPr>
          <p:cNvPr id="18" name="Text 16"/>
          <p:cNvSpPr/>
          <p:nvPr/>
        </p:nvSpPr>
        <p:spPr>
          <a:xfrm>
            <a:off x="6492240" y="194767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Threads 가입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492240" y="225856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Instagram으로 계속하기</a:t>
            </a:r>
            <a:endParaRPr lang="en-US" sz="710" dirty="0"/>
          </a:p>
        </p:txBody>
      </p:sp>
      <p:sp>
        <p:nvSpPr>
          <p:cNvPr id="20" name="Shape 18"/>
          <p:cNvSpPr/>
          <p:nvPr/>
        </p:nvSpPr>
        <p:spPr>
          <a:xfrm>
            <a:off x="9144000" y="1325880"/>
            <a:ext cx="2487168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308592" y="1490472"/>
            <a:ext cx="438912" cy="310896"/>
          </a:xfrm>
          <a:prstGeom prst="roundRect">
            <a:avLst>
              <a:gd name="adj" fmla="val 20588"/>
            </a:avLst>
          </a:prstGeom>
          <a:solidFill>
            <a:srgbClr val="6C55F7"/>
          </a:solidFill>
          <a:ln w="12700">
            <a:solidFill>
              <a:srgbClr val="6C55F7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54312" y="1568196"/>
            <a:ext cx="3474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580" dirty="0"/>
          </a:p>
        </p:txBody>
      </p:sp>
      <p:sp>
        <p:nvSpPr>
          <p:cNvPr id="23" name="Text 21"/>
          <p:cNvSpPr/>
          <p:nvPr/>
        </p:nvSpPr>
        <p:spPr>
          <a:xfrm>
            <a:off x="9326880" y="194767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공개 프로필 선택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9326880" y="225856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공개 범위 확인</a:t>
            </a:r>
            <a:endParaRPr lang="en-US" sz="710" dirty="0"/>
          </a:p>
        </p:txBody>
      </p:sp>
      <p:sp>
        <p:nvSpPr>
          <p:cNvPr id="25" name="Shape 23"/>
          <p:cNvSpPr/>
          <p:nvPr/>
        </p:nvSpPr>
        <p:spPr>
          <a:xfrm>
            <a:off x="2057400" y="3063240"/>
            <a:ext cx="2487168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21992" y="3227832"/>
            <a:ext cx="438912" cy="310896"/>
          </a:xfrm>
          <a:prstGeom prst="roundRect">
            <a:avLst>
              <a:gd name="adj" fmla="val 20588"/>
            </a:avLst>
          </a:prstGeom>
          <a:solidFill>
            <a:srgbClr val="6C55F7"/>
          </a:solidFill>
          <a:ln w="12700">
            <a:solidFill>
              <a:srgbClr val="6C55F7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67712" y="3305556"/>
            <a:ext cx="3474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05</a:t>
            </a:r>
            <a:endParaRPr lang="en-US" sz="580" dirty="0"/>
          </a:p>
        </p:txBody>
      </p:sp>
      <p:sp>
        <p:nvSpPr>
          <p:cNvPr id="28" name="Text 26"/>
          <p:cNvSpPr/>
          <p:nvPr/>
        </p:nvSpPr>
        <p:spPr>
          <a:xfrm>
            <a:off x="2240280" y="368503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프로필 수정 금지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240280" y="399592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가입 직후 건드리지 않기</a:t>
            </a:r>
            <a:endParaRPr lang="en-US" sz="710" dirty="0"/>
          </a:p>
        </p:txBody>
      </p:sp>
      <p:sp>
        <p:nvSpPr>
          <p:cNvPr id="30" name="Shape 28"/>
          <p:cNvSpPr/>
          <p:nvPr/>
        </p:nvSpPr>
        <p:spPr>
          <a:xfrm>
            <a:off x="4892040" y="3063240"/>
            <a:ext cx="2487168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56632" y="3227832"/>
            <a:ext cx="438912" cy="310896"/>
          </a:xfrm>
          <a:prstGeom prst="roundRect">
            <a:avLst>
              <a:gd name="adj" fmla="val 20588"/>
            </a:avLst>
          </a:prstGeom>
          <a:solidFill>
            <a:srgbClr val="6C55F7"/>
          </a:solidFill>
          <a:ln w="12700">
            <a:solidFill>
              <a:srgbClr val="6C55F7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02352" y="3305556"/>
            <a:ext cx="3474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06</a:t>
            </a:r>
            <a:endParaRPr lang="en-US" sz="580" dirty="0"/>
          </a:p>
        </p:txBody>
      </p:sp>
      <p:sp>
        <p:nvSpPr>
          <p:cNvPr id="33" name="Text 31"/>
          <p:cNvSpPr/>
          <p:nvPr/>
        </p:nvSpPr>
        <p:spPr>
          <a:xfrm>
            <a:off x="5074920" y="368503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TOP 8 검색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074920" y="399592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추천 키워드로 관찰</a:t>
            </a:r>
            <a:endParaRPr lang="en-US" sz="710" dirty="0"/>
          </a:p>
        </p:txBody>
      </p:sp>
      <p:sp>
        <p:nvSpPr>
          <p:cNvPr id="35" name="Shape 33"/>
          <p:cNvSpPr/>
          <p:nvPr/>
        </p:nvSpPr>
        <p:spPr>
          <a:xfrm>
            <a:off x="7726680" y="3063240"/>
            <a:ext cx="2487168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891272" y="3227832"/>
            <a:ext cx="438912" cy="310896"/>
          </a:xfrm>
          <a:prstGeom prst="roundRect">
            <a:avLst>
              <a:gd name="adj" fmla="val 20588"/>
            </a:avLst>
          </a:prstGeom>
          <a:solidFill>
            <a:srgbClr val="6C55F7"/>
          </a:solidFill>
          <a:ln w="12700">
            <a:solidFill>
              <a:srgbClr val="6C55F7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936992" y="3305556"/>
            <a:ext cx="3474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07</a:t>
            </a:r>
            <a:endParaRPr lang="en-US" sz="580" dirty="0"/>
          </a:p>
        </p:txBody>
      </p:sp>
      <p:sp>
        <p:nvSpPr>
          <p:cNvPr id="38" name="Text 36"/>
          <p:cNvSpPr/>
          <p:nvPr/>
        </p:nvSpPr>
        <p:spPr>
          <a:xfrm>
            <a:off x="7909560" y="368503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최소 상호작용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7909560" y="399592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좋아요 0~3개 / 댓글 1개</a:t>
            </a:r>
            <a:endParaRPr lang="en-US" sz="710" dirty="0"/>
          </a:p>
        </p:txBody>
      </p:sp>
      <p:sp>
        <p:nvSpPr>
          <p:cNvPr id="40" name="Shape 38"/>
          <p:cNvSpPr/>
          <p:nvPr/>
        </p:nvSpPr>
        <p:spPr>
          <a:xfrm>
            <a:off x="3291840" y="5440680"/>
            <a:ext cx="5669280" cy="402336"/>
          </a:xfrm>
          <a:prstGeom prst="roundRect">
            <a:avLst>
              <a:gd name="adj" fmla="val 20455"/>
            </a:avLst>
          </a:prstGeom>
          <a:solidFill>
            <a:srgbClr val="FFF7ED"/>
          </a:solidFill>
          <a:ln w="8890">
            <a:solidFill>
              <a:srgbClr val="FED7A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520440" y="5568696"/>
            <a:ext cx="52120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2400E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DAY 2의 목표는 “게시”가 아니라 “계정 방향 학습”입니다.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3">
    <p:bg>
      <p:bgPr shadeToTitle="0"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2100" b="1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STEP 1. 수익화 채널 가입 확인</a:t>
            </a:r>
            <a:endParaRPr lang="en-US" sz="210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850" b="1">
                <a:solidFill>
                  <a:srgbClr val="ff0000"/>
                </a:solidFill>
                <a:latin typeface="Noto Sans CJK KR"/>
                <a:ea typeface="Noto Sans CJK KR"/>
                <a:cs typeface="Noto Sans CJK KR"/>
              </a:rPr>
              <a:t>이미 가입되어 있다면 넘어가고, 가입이 안 된 사람만 진행합니다.</a:t>
            </a:r>
            <a:endParaRPr lang="en-US" sz="850" b="1">
              <a:solidFill>
                <a:srgbClr val="ff0000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6510528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560">
                <a:solidFill>
                  <a:srgbClr val="9ca3af"/>
                </a:solidFill>
                <a:latin typeface="Noto Sans CJK KR"/>
                <a:ea typeface="Noto Sans CJK KR"/>
                <a:cs typeface="Noto Sans CJK KR"/>
              </a:rPr>
              <a:t>DAY 2 사전 세팅 · 03</a:t>
            </a:r>
            <a:endParaRPr lang="en-US" sz="560"/>
          </a:p>
        </p:txBody>
      </p:sp>
      <p:sp>
        <p:nvSpPr>
          <p:cNvPr id="5" name="Text 3"/>
          <p:cNvSpPr/>
          <p:nvPr/>
        </p:nvSpPr>
        <p:spPr>
          <a:xfrm>
            <a:off x="658368" y="140817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가입할 채널</a:t>
            </a:r>
            <a:endParaRPr lang="en-US" sz="1100"/>
          </a:p>
        </p:txBody>
      </p:sp>
      <p:sp>
        <p:nvSpPr>
          <p:cNvPr id="6" name="Shape 4"/>
          <p:cNvSpPr/>
          <p:nvPr/>
        </p:nvSpPr>
        <p:spPr>
          <a:xfrm>
            <a:off x="658368" y="1975104"/>
            <a:ext cx="109728" cy="109728"/>
          </a:xfrm>
          <a:prstGeom prst="ellipse">
            <a:avLst/>
          </a:prstGeom>
          <a:solidFill>
            <a:srgbClr val="6c55f7"/>
          </a:solidFill>
          <a:ln w="12700">
            <a:solidFill>
              <a:srgbClr val="6c55f7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950976" y="1874520"/>
            <a:ext cx="3822192" cy="31089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토스쇼핑 쉐어링크 가입 확인.</a:t>
            </a:r>
            <a:endParaRPr lang="en-US" sz="1100"/>
          </a:p>
        </p:txBody>
      </p:sp>
      <p:sp>
        <p:nvSpPr>
          <p:cNvPr id="8" name="Shape 6"/>
          <p:cNvSpPr/>
          <p:nvPr/>
        </p:nvSpPr>
        <p:spPr>
          <a:xfrm>
            <a:off x="658368" y="2487168"/>
            <a:ext cx="109728" cy="109728"/>
          </a:xfrm>
          <a:prstGeom prst="ellipse">
            <a:avLst/>
          </a:prstGeom>
          <a:solidFill>
            <a:srgbClr val="6c55f7"/>
          </a:solidFill>
          <a:ln w="12700">
            <a:solidFill>
              <a:srgbClr val="6c55f7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950976" y="2386584"/>
            <a:ext cx="3822192" cy="31089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쿠팡파트너스 가입 확인.</a:t>
            </a:r>
            <a:endParaRPr lang="en-US" sz="1100"/>
          </a:p>
        </p:txBody>
      </p:sp>
      <p:sp>
        <p:nvSpPr>
          <p:cNvPr id="10" name="Shape 8"/>
          <p:cNvSpPr/>
          <p:nvPr/>
        </p:nvSpPr>
        <p:spPr>
          <a:xfrm>
            <a:off x="658368" y="2999232"/>
            <a:ext cx="109728" cy="109728"/>
          </a:xfrm>
          <a:prstGeom prst="ellipse">
            <a:avLst/>
          </a:prstGeom>
          <a:solidFill>
            <a:srgbClr val="6c55f7"/>
          </a:solidFill>
          <a:ln w="12700">
            <a:solidFill>
              <a:srgbClr val="6c55f7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950976" y="2898648"/>
            <a:ext cx="3822192" cy="31089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정상 로그인 가능 여부 확인.</a:t>
            </a:r>
            <a:endParaRPr lang="en-US" sz="1100"/>
          </a:p>
        </p:txBody>
      </p:sp>
      <p:sp>
        <p:nvSpPr>
          <p:cNvPr id="13" name="Text 11"/>
          <p:cNvSpPr/>
          <p:nvPr/>
        </p:nvSpPr>
        <p:spPr>
          <a:xfrm>
            <a:off x="950976" y="3410712"/>
            <a:ext cx="3822192" cy="31089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endParaRPr lang="en-US" sz="1100"/>
          </a:p>
        </p:txBody>
      </p:sp>
      <p:sp>
        <p:nvSpPr>
          <p:cNvPr id="14" name="Shape 12"/>
          <p:cNvSpPr/>
          <p:nvPr/>
        </p:nvSpPr>
        <p:spPr>
          <a:xfrm>
            <a:off x="5166360" y="1371600"/>
            <a:ext cx="617220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  <a:effectLst>
            <a:outerShdw blurRad="12700" dist="50800" dir="2700000" algn="bl" rotWithShape="0">
              <a:srgbClr val="000000">
                <a:alpha val="5000"/>
              </a:srgbClr>
            </a:outerShdw>
          </a:effectLst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5468112" y="1700784"/>
            <a:ext cx="530352" cy="530352"/>
          </a:xfrm>
          <a:prstGeom prst="roundRect">
            <a:avLst>
              <a:gd name="adj" fmla="val 18966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5596128" y="182880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✓</a:t>
            </a:r>
            <a:endParaRPr lang="en-US" sz="1300"/>
          </a:p>
        </p:txBody>
      </p:sp>
      <p:sp>
        <p:nvSpPr>
          <p:cNvPr id="17" name="Text 15"/>
          <p:cNvSpPr/>
          <p:nvPr/>
        </p:nvSpPr>
        <p:spPr>
          <a:xfrm>
            <a:off x="6181344" y="166420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550" b="1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토스쇼핑 쉐어링크</a:t>
            </a:r>
            <a:endParaRPr lang="en-US" sz="1550"/>
          </a:p>
        </p:txBody>
      </p:sp>
      <p:sp>
        <p:nvSpPr>
          <p:cNvPr id="18" name="Text 16"/>
          <p:cNvSpPr/>
          <p:nvPr/>
        </p:nvSpPr>
        <p:spPr>
          <a:xfrm>
            <a:off x="6181344" y="210312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920">
                <a:solidFill>
                  <a:srgbClr val="6b7280"/>
                </a:solidFill>
                <a:latin typeface="Noto Sans CJK KR"/>
                <a:ea typeface="Noto Sans CJK KR"/>
                <a:cs typeface="Noto Sans CJK KR"/>
              </a:rPr>
              <a:t>sharelink.toss.im/home</a:t>
            </a:r>
            <a:endParaRPr lang="en-US" sz="920"/>
          </a:p>
        </p:txBody>
      </p:sp>
      <p:sp>
        <p:nvSpPr>
          <p:cNvPr id="19" name="Shape 17"/>
          <p:cNvSpPr/>
          <p:nvPr/>
        </p:nvSpPr>
        <p:spPr>
          <a:xfrm>
            <a:off x="5166360" y="3108960"/>
            <a:ext cx="617220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  <a:effectLst>
            <a:outerShdw blurRad="12700" dist="50800" dir="2700000" algn="bl" rotWithShape="0">
              <a:srgbClr val="000000">
                <a:alpha val="5000"/>
              </a:srgbClr>
            </a:outerShdw>
          </a:effectLst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5468112" y="3438144"/>
            <a:ext cx="530352" cy="530352"/>
          </a:xfrm>
          <a:prstGeom prst="roundRect">
            <a:avLst>
              <a:gd name="adj" fmla="val 18966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5596128" y="356616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✓</a:t>
            </a:r>
            <a:endParaRPr lang="en-US" sz="1300"/>
          </a:p>
        </p:txBody>
      </p:sp>
      <p:sp>
        <p:nvSpPr>
          <p:cNvPr id="22" name="Text 20"/>
          <p:cNvSpPr/>
          <p:nvPr/>
        </p:nvSpPr>
        <p:spPr>
          <a:xfrm>
            <a:off x="6181344" y="340156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550" b="1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쿠팡파트너스</a:t>
            </a:r>
            <a:endParaRPr lang="en-US" sz="1550"/>
          </a:p>
        </p:txBody>
      </p:sp>
      <p:sp>
        <p:nvSpPr>
          <p:cNvPr id="23" name="Text 21"/>
          <p:cNvSpPr/>
          <p:nvPr/>
        </p:nvSpPr>
        <p:spPr>
          <a:xfrm>
            <a:off x="6181344" y="384048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920">
                <a:solidFill>
                  <a:srgbClr val="6b7280"/>
                </a:solidFill>
                <a:latin typeface="Noto Sans CJK KR"/>
                <a:ea typeface="Noto Sans CJK KR"/>
                <a:cs typeface="Noto Sans CJK KR"/>
              </a:rPr>
              <a:t>partners.coupang.com</a:t>
            </a:r>
            <a:endParaRPr lang="en-US" sz="920"/>
          </a:p>
        </p:txBody>
      </p:sp>
      <p:sp>
        <p:nvSpPr>
          <p:cNvPr id="24" name="Shape 22"/>
          <p:cNvSpPr/>
          <p:nvPr/>
        </p:nvSpPr>
        <p:spPr>
          <a:xfrm>
            <a:off x="5166360" y="5074920"/>
            <a:ext cx="6172200" cy="457200"/>
          </a:xfrm>
          <a:prstGeom prst="roundRect">
            <a:avLst>
              <a:gd name="adj" fmla="val 18000"/>
            </a:avLst>
          </a:prstGeom>
          <a:solidFill>
            <a:srgbClr val="fff7ed"/>
          </a:solidFill>
          <a:ln w="8890">
            <a:solidFill>
              <a:srgbClr val="fed7aa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5394960" y="5202936"/>
            <a:ext cx="5715000" cy="237744"/>
          </a:xfrm>
          <a:prstGeom prst="rect">
            <a:avLst/>
          </a:prstGeom>
          <a:noFill/>
          <a:ln/>
        </p:spPr>
        <p:txBody>
          <a:bodyPr wrap="square" lIns="254" tIns="254" rIns="254" bIns="254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850" b="1">
                <a:solidFill>
                  <a:srgbClr val="92400e"/>
                </a:solidFill>
                <a:latin typeface="Noto Sans CJK KR"/>
                <a:ea typeface="Noto Sans CJK KR"/>
                <a:cs typeface="Noto Sans CJK KR"/>
              </a:rPr>
              <a:t>상품 선택과 링크 세팅은 강의에서 진행합니다.</a:t>
            </a:r>
            <a:endParaRPr lang="en-US" sz="85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4">
    <p:bg>
      <p:bgPr shadeToTitle="0"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2100" b="1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STEP 1-2. 개인 / 사업자 가입 기준</a:t>
            </a:r>
            <a:endParaRPr lang="en-US" sz="210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850">
                <a:solidFill>
                  <a:srgbClr val="6b7280"/>
                </a:solidFill>
                <a:latin typeface="Noto Sans CJK KR"/>
                <a:ea typeface="Noto Sans CJK KR"/>
                <a:cs typeface="Noto Sans CJK KR"/>
              </a:rPr>
              <a:t>처음에는 복잡하게 가지 말고, 현재 상태에 맞춰 보수적으로 진행합니다.</a:t>
            </a:r>
            <a:endParaRPr lang="en-US" sz="850"/>
          </a:p>
        </p:txBody>
      </p:sp>
      <p:sp>
        <p:nvSpPr>
          <p:cNvPr id="4" name="Text 2"/>
          <p:cNvSpPr/>
          <p:nvPr/>
        </p:nvSpPr>
        <p:spPr>
          <a:xfrm>
            <a:off x="502920" y="6510528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560">
                <a:solidFill>
                  <a:srgbClr val="9ca3af"/>
                </a:solidFill>
                <a:latin typeface="Noto Sans CJK KR"/>
                <a:ea typeface="Noto Sans CJK KR"/>
                <a:cs typeface="Noto Sans CJK KR"/>
              </a:rPr>
              <a:t>DAY 2 사전 세팅 · 04</a:t>
            </a:r>
            <a:endParaRPr lang="en-US" sz="560"/>
          </a:p>
        </p:txBody>
      </p:sp>
      <p:sp>
        <p:nvSpPr>
          <p:cNvPr id="5" name="Shape 3"/>
          <p:cNvSpPr/>
          <p:nvPr/>
        </p:nvSpPr>
        <p:spPr>
          <a:xfrm>
            <a:off x="713232" y="1536192"/>
            <a:ext cx="5166360" cy="4343400"/>
          </a:xfrm>
          <a:prstGeom prst="roundRect">
            <a:avLst>
              <a:gd name="adj" fmla="val 1895"/>
            </a:avLst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309360" y="1536192"/>
            <a:ext cx="5166360" cy="4343400"/>
          </a:xfrm>
          <a:prstGeom prst="roundRect">
            <a:avLst>
              <a:gd name="adj" fmla="val 1895"/>
            </a:avLst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60120" y="1783080"/>
            <a:ext cx="1828800" cy="310896"/>
          </a:xfrm>
          <a:prstGeom prst="roundRect">
            <a:avLst>
              <a:gd name="adj" fmla="val 23529"/>
            </a:avLst>
          </a:prstGeom>
          <a:solidFill>
            <a:srgbClr val="6c55f7"/>
          </a:solidFill>
          <a:ln w="12700">
            <a:solidFill>
              <a:srgbClr val="6c55f7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014984" y="1856232"/>
            <a:ext cx="1719072" cy="146304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개인 가입</a:t>
            </a:r>
            <a:endParaRPr lang="en-US" sz="1000"/>
          </a:p>
        </p:txBody>
      </p:sp>
      <p:sp>
        <p:nvSpPr>
          <p:cNvPr id="9" name="Shape 7"/>
          <p:cNvSpPr/>
          <p:nvPr/>
        </p:nvSpPr>
        <p:spPr>
          <a:xfrm>
            <a:off x="6556248" y="1783080"/>
            <a:ext cx="1828800" cy="310896"/>
          </a:xfrm>
          <a:prstGeom prst="roundRect">
            <a:avLst>
              <a:gd name="adj" fmla="val 23529"/>
            </a:avLst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611112" y="1856232"/>
            <a:ext cx="1719072" cy="146304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사업자 가입</a:t>
            </a:r>
            <a:endParaRPr lang="en-US" sz="1000"/>
          </a:p>
        </p:txBody>
      </p:sp>
      <p:sp>
        <p:nvSpPr>
          <p:cNvPr id="11" name="Text 9"/>
          <p:cNvSpPr/>
          <p:nvPr/>
        </p:nvSpPr>
        <p:spPr>
          <a:xfrm>
            <a:off x="987552" y="2350008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920">
                <a:solidFill>
                  <a:srgbClr val="6b7280"/>
                </a:solidFill>
                <a:latin typeface="Noto Sans CJK KR"/>
                <a:ea typeface="Noto Sans CJK KR"/>
                <a:cs typeface="Noto Sans CJK KR"/>
              </a:rPr>
              <a:t>□</a:t>
            </a:r>
            <a:endParaRPr lang="en-US" sz="920"/>
          </a:p>
        </p:txBody>
      </p:sp>
      <p:sp>
        <p:nvSpPr>
          <p:cNvPr id="12" name="Text 10"/>
          <p:cNvSpPr/>
          <p:nvPr/>
        </p:nvSpPr>
        <p:spPr>
          <a:xfrm>
            <a:off x="1216152" y="2331720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02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사업자가 없는 경우.</a:t>
            </a:r>
            <a:endParaRPr lang="en-US" sz="1020"/>
          </a:p>
        </p:txBody>
      </p:sp>
      <p:sp>
        <p:nvSpPr>
          <p:cNvPr id="13" name="Text 11"/>
          <p:cNvSpPr/>
          <p:nvPr/>
        </p:nvSpPr>
        <p:spPr>
          <a:xfrm>
            <a:off x="987552" y="2798064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920">
                <a:solidFill>
                  <a:srgbClr val="6b7280"/>
                </a:solidFill>
                <a:latin typeface="Noto Sans CJK KR"/>
                <a:ea typeface="Noto Sans CJK KR"/>
                <a:cs typeface="Noto Sans CJK KR"/>
              </a:rPr>
              <a:t>□</a:t>
            </a:r>
            <a:endParaRPr lang="en-US" sz="920"/>
          </a:p>
        </p:txBody>
      </p:sp>
      <p:sp>
        <p:nvSpPr>
          <p:cNvPr id="14" name="Text 12"/>
          <p:cNvSpPr/>
          <p:nvPr/>
        </p:nvSpPr>
        <p:spPr>
          <a:xfrm>
            <a:off x="1216152" y="2779776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02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관련 업종 사업자가 없는 경우.</a:t>
            </a:r>
            <a:endParaRPr lang="en-US" sz="1020"/>
          </a:p>
        </p:txBody>
      </p:sp>
      <p:sp>
        <p:nvSpPr>
          <p:cNvPr id="15" name="Text 13"/>
          <p:cNvSpPr/>
          <p:nvPr/>
        </p:nvSpPr>
        <p:spPr>
          <a:xfrm>
            <a:off x="987552" y="3246120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920">
                <a:solidFill>
                  <a:srgbClr val="6b7280"/>
                </a:solidFill>
                <a:latin typeface="Noto Sans CJK KR"/>
                <a:ea typeface="Noto Sans CJK KR"/>
                <a:cs typeface="Noto Sans CJK KR"/>
              </a:rPr>
              <a:t>□</a:t>
            </a:r>
            <a:endParaRPr lang="en-US" sz="920"/>
          </a:p>
        </p:txBody>
      </p:sp>
      <p:sp>
        <p:nvSpPr>
          <p:cNvPr id="16" name="Text 14"/>
          <p:cNvSpPr/>
          <p:nvPr/>
        </p:nvSpPr>
        <p:spPr>
          <a:xfrm>
            <a:off x="1216152" y="3227832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02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초기 테스트 단계인 경우.</a:t>
            </a:r>
            <a:endParaRPr lang="en-US" sz="1020"/>
          </a:p>
        </p:txBody>
      </p:sp>
      <p:sp>
        <p:nvSpPr>
          <p:cNvPr id="17" name="Text 15"/>
          <p:cNvSpPr/>
          <p:nvPr/>
        </p:nvSpPr>
        <p:spPr>
          <a:xfrm>
            <a:off x="987552" y="3694176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920">
                <a:solidFill>
                  <a:srgbClr val="6b7280"/>
                </a:solidFill>
                <a:latin typeface="Noto Sans CJK KR"/>
                <a:ea typeface="Noto Sans CJK KR"/>
                <a:cs typeface="Noto Sans CJK KR"/>
              </a:rPr>
              <a:t>□</a:t>
            </a:r>
            <a:endParaRPr lang="en-US" sz="920"/>
          </a:p>
        </p:txBody>
      </p:sp>
      <p:sp>
        <p:nvSpPr>
          <p:cNvPr id="18" name="Text 16"/>
          <p:cNvSpPr/>
          <p:nvPr/>
        </p:nvSpPr>
        <p:spPr>
          <a:xfrm>
            <a:off x="1216152" y="3675888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02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나중에 수익이 커지면 전환 검토.</a:t>
            </a:r>
            <a:endParaRPr lang="en-US" sz="1020"/>
          </a:p>
        </p:txBody>
      </p:sp>
      <p:sp>
        <p:nvSpPr>
          <p:cNvPr id="19" name="Text 17"/>
          <p:cNvSpPr/>
          <p:nvPr/>
        </p:nvSpPr>
        <p:spPr>
          <a:xfrm>
            <a:off x="6583680" y="2350008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920">
                <a:solidFill>
                  <a:srgbClr val="6b7280"/>
                </a:solidFill>
                <a:latin typeface="Noto Sans CJK KR"/>
                <a:ea typeface="Noto Sans CJK KR"/>
                <a:cs typeface="Noto Sans CJK KR"/>
              </a:rPr>
              <a:t>□</a:t>
            </a:r>
            <a:endParaRPr lang="en-US" sz="920"/>
          </a:p>
        </p:txBody>
      </p:sp>
      <p:sp>
        <p:nvSpPr>
          <p:cNvPr id="20" name="Text 18"/>
          <p:cNvSpPr/>
          <p:nvPr/>
        </p:nvSpPr>
        <p:spPr>
          <a:xfrm>
            <a:off x="6812280" y="2331720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02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광고대행업 사업자가 있는 경우.</a:t>
            </a:r>
            <a:endParaRPr lang="en-US" sz="1020"/>
          </a:p>
        </p:txBody>
      </p:sp>
      <p:sp>
        <p:nvSpPr>
          <p:cNvPr id="21" name="Text 19"/>
          <p:cNvSpPr/>
          <p:nvPr/>
        </p:nvSpPr>
        <p:spPr>
          <a:xfrm>
            <a:off x="6583680" y="2798064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920">
                <a:solidFill>
                  <a:srgbClr val="6b7280"/>
                </a:solidFill>
                <a:latin typeface="Noto Sans CJK KR"/>
                <a:ea typeface="Noto Sans CJK KR"/>
                <a:cs typeface="Noto Sans CJK KR"/>
              </a:rPr>
              <a:t>□</a:t>
            </a:r>
            <a:endParaRPr lang="en-US" sz="920"/>
          </a:p>
        </p:txBody>
      </p:sp>
      <p:sp>
        <p:nvSpPr>
          <p:cNvPr id="22" name="Text 20"/>
          <p:cNvSpPr/>
          <p:nvPr/>
        </p:nvSpPr>
        <p:spPr>
          <a:xfrm>
            <a:off x="6812280" y="2779776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02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정산·세무 기준은 본인 상황에 맞게 확인.</a:t>
            </a:r>
            <a:endParaRPr lang="en-US" sz="1020"/>
          </a:p>
        </p:txBody>
      </p:sp>
      <p:sp>
        <p:nvSpPr>
          <p:cNvPr id="23" name="Text 21"/>
          <p:cNvSpPr/>
          <p:nvPr/>
        </p:nvSpPr>
        <p:spPr>
          <a:xfrm>
            <a:off x="6583680" y="3246120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920">
                <a:solidFill>
                  <a:srgbClr val="6b7280"/>
                </a:solidFill>
                <a:latin typeface="Noto Sans CJK KR"/>
                <a:ea typeface="Noto Sans CJK KR"/>
                <a:cs typeface="Noto Sans CJK KR"/>
              </a:rPr>
              <a:t>□</a:t>
            </a:r>
            <a:endParaRPr lang="en-US" sz="920"/>
          </a:p>
        </p:txBody>
      </p:sp>
      <p:sp>
        <p:nvSpPr>
          <p:cNvPr id="24" name="Text 22"/>
          <p:cNvSpPr/>
          <p:nvPr/>
        </p:nvSpPr>
        <p:spPr>
          <a:xfrm>
            <a:off x="6812280" y="3227832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02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현재 활동과 직접 관련된 업종인 경우.</a:t>
            </a:r>
            <a:endParaRPr lang="en-US" sz="1020"/>
          </a:p>
        </p:txBody>
      </p:sp>
      <p:sp>
        <p:nvSpPr>
          <p:cNvPr id="26" name="Text 24"/>
          <p:cNvSpPr/>
          <p:nvPr/>
        </p:nvSpPr>
        <p:spPr>
          <a:xfrm>
            <a:off x="6812280" y="3675888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endParaRPr lang="en-US" sz="1020"/>
          </a:p>
        </p:txBody>
      </p:sp>
      <p:sp>
        <p:nvSpPr>
          <p:cNvPr id="27" name="Shape 25"/>
          <p:cNvSpPr/>
          <p:nvPr/>
        </p:nvSpPr>
        <p:spPr>
          <a:xfrm>
            <a:off x="1463040" y="6053328"/>
            <a:ext cx="9326880" cy="420624"/>
          </a:xfrm>
          <a:prstGeom prst="roundRect">
            <a:avLst>
              <a:gd name="adj" fmla="val 19565"/>
            </a:avLst>
          </a:prstGeom>
          <a:solidFill>
            <a:srgbClr val="fff7ed"/>
          </a:solidFill>
          <a:ln w="8890">
            <a:solidFill>
              <a:srgbClr val="fed7aa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1691640" y="6181344"/>
            <a:ext cx="8869680" cy="201168"/>
          </a:xfrm>
          <a:prstGeom prst="rect">
            <a:avLst/>
          </a:prstGeom>
          <a:noFill/>
          <a:ln/>
        </p:spPr>
        <p:txBody>
          <a:bodyPr wrap="square" lIns="254" tIns="254" rIns="254" bIns="254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850" b="1">
                <a:solidFill>
                  <a:srgbClr val="92400e"/>
                </a:solidFill>
                <a:latin typeface="Noto Sans CJK KR"/>
                <a:ea typeface="Noto Sans CJK KR"/>
                <a:cs typeface="Noto Sans CJK KR"/>
              </a:rPr>
              <a:t>다른 업종 사업자만 있다면 일단 개인으로 시작하고, 수익이 커진 뒤 관련 업종 추가 또는 사업자 전환을 검토합니다.</a:t>
            </a:r>
            <a:endParaRPr lang="en-US" sz="85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5">
    <p:bg>
      <p:bgPr shadeToTitle="0"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2100" b="1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STEP 2. DAY 2는 노트북으로 시작</a:t>
            </a:r>
            <a:endParaRPr lang="en-US" sz="210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850">
                <a:solidFill>
                  <a:srgbClr val="6b7280"/>
                </a:solidFill>
                <a:latin typeface="Noto Sans CJK KR"/>
                <a:ea typeface="Noto Sans CJK KR"/>
                <a:cs typeface="Noto Sans CJK KR"/>
              </a:rPr>
              <a:t>DAY 2부터는 강의 때 사용할 노트북 기준으로 세팅합니다.</a:t>
            </a:r>
            <a:endParaRPr lang="en-US" sz="850"/>
          </a:p>
        </p:txBody>
      </p:sp>
      <p:sp>
        <p:nvSpPr>
          <p:cNvPr id="4" name="Text 2"/>
          <p:cNvSpPr/>
          <p:nvPr/>
        </p:nvSpPr>
        <p:spPr>
          <a:xfrm>
            <a:off x="502920" y="6510528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560">
                <a:solidFill>
                  <a:srgbClr val="9ca3af"/>
                </a:solidFill>
                <a:latin typeface="Noto Sans CJK KR"/>
                <a:ea typeface="Noto Sans CJK KR"/>
                <a:cs typeface="Noto Sans CJK KR"/>
              </a:rPr>
              <a:t>DAY 2 사전 세팅 · 05</a:t>
            </a:r>
            <a:endParaRPr lang="en-US" sz="560"/>
          </a:p>
        </p:txBody>
      </p:sp>
      <p:sp>
        <p:nvSpPr>
          <p:cNvPr id="5" name="Shape 3"/>
          <p:cNvSpPr/>
          <p:nvPr/>
        </p:nvSpPr>
        <p:spPr>
          <a:xfrm>
            <a:off x="868680" y="1481328"/>
            <a:ext cx="4800600" cy="352044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492240" y="1481328"/>
            <a:ext cx="4800600" cy="352044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115568" y="1755648"/>
            <a:ext cx="1463040" cy="310896"/>
          </a:xfrm>
          <a:prstGeom prst="roundRect">
            <a:avLst>
              <a:gd name="adj" fmla="val 23529"/>
            </a:avLst>
          </a:prstGeom>
          <a:solidFill>
            <a:srgbClr val="6c55f7"/>
          </a:solidFill>
          <a:ln w="12700">
            <a:solidFill>
              <a:srgbClr val="6c55f7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170432" y="1828800"/>
            <a:ext cx="1353312" cy="146304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68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로그인 기준</a:t>
            </a:r>
            <a:endParaRPr lang="en-US" sz="680"/>
          </a:p>
        </p:txBody>
      </p:sp>
      <p:sp>
        <p:nvSpPr>
          <p:cNvPr id="9" name="Shape 7"/>
          <p:cNvSpPr/>
          <p:nvPr/>
        </p:nvSpPr>
        <p:spPr>
          <a:xfrm>
            <a:off x="1115568" y="2432304"/>
            <a:ext cx="109728" cy="109728"/>
          </a:xfrm>
          <a:prstGeom prst="ellipse">
            <a:avLst/>
          </a:prstGeom>
          <a:solidFill>
            <a:srgbClr val="6c55f7"/>
          </a:solidFill>
          <a:ln w="12700">
            <a:solidFill>
              <a:srgbClr val="6c55f7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408176" y="2331720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강의 때 사용할 노트북으로 Instagram 로그인.</a:t>
            </a:r>
            <a:endParaRPr lang="en-US" sz="1100"/>
          </a:p>
        </p:txBody>
      </p:sp>
      <p:sp>
        <p:nvSpPr>
          <p:cNvPr id="11" name="Shape 9"/>
          <p:cNvSpPr/>
          <p:nvPr/>
        </p:nvSpPr>
        <p:spPr>
          <a:xfrm>
            <a:off x="1115568" y="2935224"/>
            <a:ext cx="109728" cy="109728"/>
          </a:xfrm>
          <a:prstGeom prst="ellipse">
            <a:avLst/>
          </a:prstGeom>
          <a:solidFill>
            <a:srgbClr val="6c55f7"/>
          </a:solidFill>
          <a:ln w="12700">
            <a:solidFill>
              <a:srgbClr val="6c55f7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408176" y="2834640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DAY 1에 만든 계정으로 접속.</a:t>
            </a:r>
            <a:endParaRPr lang="en-US" sz="1100"/>
          </a:p>
        </p:txBody>
      </p:sp>
      <p:sp>
        <p:nvSpPr>
          <p:cNvPr id="13" name="Shape 11"/>
          <p:cNvSpPr/>
          <p:nvPr/>
        </p:nvSpPr>
        <p:spPr>
          <a:xfrm>
            <a:off x="1115568" y="3438144"/>
            <a:ext cx="109728" cy="109728"/>
          </a:xfrm>
          <a:prstGeom prst="ellipse">
            <a:avLst/>
          </a:prstGeom>
          <a:solidFill>
            <a:srgbClr val="6c55f7"/>
          </a:solidFill>
          <a:ln w="12700">
            <a:solidFill>
              <a:srgbClr val="6c55f7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408176" y="3337560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Threads 가입은 이 노트북에서 진행.</a:t>
            </a:r>
            <a:endParaRPr lang="en-US" sz="1100"/>
          </a:p>
        </p:txBody>
      </p:sp>
      <p:sp>
        <p:nvSpPr>
          <p:cNvPr id="16" name="Text 14"/>
          <p:cNvSpPr/>
          <p:nvPr/>
        </p:nvSpPr>
        <p:spPr>
          <a:xfrm>
            <a:off x="1408176" y="3840480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endParaRPr lang="en-US" sz="1100"/>
          </a:p>
        </p:txBody>
      </p:sp>
      <p:sp>
        <p:nvSpPr>
          <p:cNvPr id="17" name="Shape 15"/>
          <p:cNvSpPr/>
          <p:nvPr/>
        </p:nvSpPr>
        <p:spPr>
          <a:xfrm>
            <a:off x="6739128" y="1755648"/>
            <a:ext cx="1463040" cy="310896"/>
          </a:xfrm>
          <a:prstGeom prst="roundRect">
            <a:avLst>
              <a:gd name="adj" fmla="val 23529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793992" y="1828800"/>
            <a:ext cx="1353312" cy="146304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68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주의 기준</a:t>
            </a:r>
            <a:endParaRPr lang="en-US" sz="680"/>
          </a:p>
        </p:txBody>
      </p:sp>
      <p:sp>
        <p:nvSpPr>
          <p:cNvPr id="19" name="Shape 17"/>
          <p:cNvSpPr/>
          <p:nvPr/>
        </p:nvSpPr>
        <p:spPr>
          <a:xfrm>
            <a:off x="6739128" y="2432304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7031736" y="2331720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ko-KR" altLang="en-US" sz="110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집에서 사용하는 </a:t>
            </a:r>
            <a:r>
              <a:rPr lang="en-US" sz="110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와이파이를 일부러 끌 필요는 없음.</a:t>
            </a:r>
            <a:endParaRPr lang="en-US" sz="1100">
              <a:solidFill>
                <a:srgbClr val="111827"/>
              </a:solidFill>
              <a:latin typeface="Noto Sans CJK KR"/>
              <a:ea typeface="Noto Sans CJK KR"/>
              <a:cs typeface="Noto Sans CJK KR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739128" y="2935224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7031736" y="2834640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ko-KR" altLang="en-US" sz="110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외부 공용 와이파이 연결 금지</a:t>
            </a:r>
            <a:endParaRPr lang="ko-KR" altLang="en-US" sz="1100">
              <a:solidFill>
                <a:srgbClr val="111827"/>
              </a:solidFill>
              <a:latin typeface="Noto Sans CJK KR"/>
              <a:ea typeface="Noto Sans CJK KR"/>
              <a:cs typeface="Noto Sans CJK KR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739128" y="3438144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7031736" y="3337560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짧은 시간에 여러 환경을 오가는 </a:t>
            </a:r>
            <a:r>
              <a:rPr lang="ko-KR" altLang="en-US" sz="110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것만</a:t>
            </a:r>
            <a:r>
              <a:rPr lang="en-US" sz="110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 피하기.</a:t>
            </a:r>
            <a:endParaRPr lang="en-US" sz="1100">
              <a:solidFill>
                <a:srgbClr val="111827"/>
              </a:solidFill>
              <a:latin typeface="Noto Sans CJK KR"/>
              <a:ea typeface="Noto Sans CJK KR"/>
              <a:cs typeface="Noto Sans CJK KR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739128" y="3941064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7031736" y="3840480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평소 사람처럼 자연스럽게 사용.</a:t>
            </a:r>
            <a:endParaRPr lang="en-US" sz="1100"/>
          </a:p>
        </p:txBody>
      </p:sp>
      <p:sp>
        <p:nvSpPr>
          <p:cNvPr id="27" name="Shape 25"/>
          <p:cNvSpPr/>
          <p:nvPr/>
        </p:nvSpPr>
        <p:spPr>
          <a:xfrm>
            <a:off x="3154680" y="5550408"/>
            <a:ext cx="5897880" cy="402336"/>
          </a:xfrm>
          <a:prstGeom prst="roundRect">
            <a:avLst>
              <a:gd name="adj" fmla="val 20455"/>
            </a:avLst>
          </a:prstGeom>
          <a:solidFill>
            <a:srgbClr val="fff7ed"/>
          </a:solidFill>
          <a:ln w="8890">
            <a:solidFill>
              <a:srgbClr val="fed7aa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3383280" y="5678424"/>
            <a:ext cx="5440680" cy="182880"/>
          </a:xfrm>
          <a:prstGeom prst="rect">
            <a:avLst/>
          </a:prstGeom>
          <a:noFill/>
          <a:ln/>
        </p:spPr>
        <p:txBody>
          <a:bodyPr wrap="square" lIns="254" tIns="254" rIns="254" bIns="254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850" b="1">
                <a:solidFill>
                  <a:srgbClr val="92400e"/>
                </a:solidFill>
                <a:latin typeface="Noto Sans CJK KR"/>
                <a:ea typeface="Noto Sans CJK KR"/>
                <a:cs typeface="Noto Sans CJK KR"/>
              </a:rPr>
              <a:t>핵심은 “한 기기에서 차분하게 이어가기”입니다.</a:t>
            </a:r>
            <a:endParaRPr lang="en-US" sz="85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STEP 3. Threads 가입 시작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Instagram으로 계속하기를 눌러 DAY 1에 만든 계정으로 시작합니다.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6510528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" dirty="0">
                <a:solidFill>
                  <a:srgbClr val="9CA3A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DAY 2 사전 세팅 · 06</a:t>
            </a:r>
            <a:endParaRPr lang="en-US" sz="560" dirty="0"/>
          </a:p>
        </p:txBody>
      </p:sp>
      <p:sp>
        <p:nvSpPr>
          <p:cNvPr id="5" name="Text 3"/>
          <p:cNvSpPr/>
          <p:nvPr/>
        </p:nvSpPr>
        <p:spPr>
          <a:xfrm>
            <a:off x="658368" y="137160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진행 순서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58368" y="1975104"/>
            <a:ext cx="109728" cy="109728"/>
          </a:xfrm>
          <a:prstGeom prst="ellipse">
            <a:avLst/>
          </a:prstGeom>
          <a:solidFill>
            <a:srgbClr val="6C55F7"/>
          </a:solidFill>
          <a:ln w="12700">
            <a:solidFill>
              <a:srgbClr val="6C55F7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0976" y="1874520"/>
            <a:ext cx="3822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Threads 접속.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58368" y="2487168"/>
            <a:ext cx="109728" cy="109728"/>
          </a:xfrm>
          <a:prstGeom prst="ellipse">
            <a:avLst/>
          </a:prstGeom>
          <a:solidFill>
            <a:srgbClr val="6C55F7"/>
          </a:solidFill>
          <a:ln w="12700">
            <a:solidFill>
              <a:srgbClr val="6C55F7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" y="2386584"/>
            <a:ext cx="3822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Instagram으로 계속하기 선택.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58368" y="2999232"/>
            <a:ext cx="109728" cy="109728"/>
          </a:xfrm>
          <a:prstGeom prst="ellipse">
            <a:avLst/>
          </a:prstGeom>
          <a:solidFill>
            <a:srgbClr val="6C55F7"/>
          </a:solidFill>
          <a:ln w="12700">
            <a:solidFill>
              <a:srgbClr val="6C55F7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0976" y="2898648"/>
            <a:ext cx="3822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DAY 1에 만든 Instagram 계정 확인.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58368" y="3511296"/>
            <a:ext cx="109728" cy="109728"/>
          </a:xfrm>
          <a:prstGeom prst="ellipse">
            <a:avLst/>
          </a:prstGeom>
          <a:solidFill>
            <a:srgbClr val="6C55F7"/>
          </a:solidFill>
          <a:ln w="12700">
            <a:solidFill>
              <a:srgbClr val="6C55F7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0976" y="3410712"/>
            <a:ext cx="3822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다음 화면으로 이동.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02352" y="1188720"/>
            <a:ext cx="5806440" cy="5166360"/>
          </a:xfrm>
          <a:prstGeom prst="roundRect">
            <a:avLst>
              <a:gd name="adj" fmla="val 1593"/>
            </a:avLst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pic>
        <p:nvPicPr>
          <p:cNvPr id="15" name="Image 0" descr="/mnt/data/203e3125-63ce-467e-9ef8-927b283aa36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02936" y="2051081"/>
            <a:ext cx="5605272" cy="344163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7">
    <p:bg>
      <p:bgPr shadeToTitle="0"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2100" b="1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STEP 4. 공개 범위 선택</a:t>
            </a:r>
            <a:endParaRPr lang="en-US" sz="210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850">
                <a:solidFill>
                  <a:srgbClr val="6b7280"/>
                </a:solidFill>
                <a:latin typeface="Noto Sans CJK KR"/>
                <a:ea typeface="Noto Sans CJK KR"/>
                <a:cs typeface="Noto Sans CJK KR"/>
              </a:rPr>
              <a:t>강의용 계정은 공개 프로필로 진행합니다.</a:t>
            </a:r>
            <a:endParaRPr lang="en-US" sz="850"/>
          </a:p>
        </p:txBody>
      </p:sp>
      <p:sp>
        <p:nvSpPr>
          <p:cNvPr id="4" name="Text 2"/>
          <p:cNvSpPr/>
          <p:nvPr/>
        </p:nvSpPr>
        <p:spPr>
          <a:xfrm>
            <a:off x="502920" y="6510528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560">
                <a:solidFill>
                  <a:srgbClr val="9ca3af"/>
                </a:solidFill>
                <a:latin typeface="Noto Sans CJK KR"/>
                <a:ea typeface="Noto Sans CJK KR"/>
                <a:cs typeface="Noto Sans CJK KR"/>
              </a:rPr>
              <a:t>DAY 2 사전 세팅 · 07</a:t>
            </a:r>
            <a:endParaRPr lang="en-US" sz="560"/>
          </a:p>
        </p:txBody>
      </p:sp>
      <p:sp>
        <p:nvSpPr>
          <p:cNvPr id="5" name="Text 3"/>
          <p:cNvSpPr/>
          <p:nvPr/>
        </p:nvSpPr>
        <p:spPr>
          <a:xfrm>
            <a:off x="658368" y="137160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선택 기준</a:t>
            </a:r>
            <a:endParaRPr lang="en-US" sz="1100"/>
          </a:p>
        </p:txBody>
      </p:sp>
      <p:sp>
        <p:nvSpPr>
          <p:cNvPr id="6" name="Shape 4"/>
          <p:cNvSpPr/>
          <p:nvPr/>
        </p:nvSpPr>
        <p:spPr>
          <a:xfrm>
            <a:off x="658368" y="1975104"/>
            <a:ext cx="109728" cy="109728"/>
          </a:xfrm>
          <a:prstGeom prst="ellipse">
            <a:avLst/>
          </a:prstGeom>
          <a:solidFill>
            <a:srgbClr val="6c55f7"/>
          </a:solidFill>
          <a:ln w="12700">
            <a:solidFill>
              <a:srgbClr val="6c55f7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950976" y="1874520"/>
            <a:ext cx="3822192" cy="31089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공개 프로필 선택.</a:t>
            </a:r>
            <a:endParaRPr lang="en-US" sz="1100"/>
          </a:p>
        </p:txBody>
      </p:sp>
      <p:sp>
        <p:nvSpPr>
          <p:cNvPr id="8" name="Shape 6"/>
          <p:cNvSpPr/>
          <p:nvPr/>
        </p:nvSpPr>
        <p:spPr>
          <a:xfrm>
            <a:off x="658368" y="2487168"/>
            <a:ext cx="109728" cy="109728"/>
          </a:xfrm>
          <a:prstGeom prst="ellipse">
            <a:avLst/>
          </a:prstGeom>
          <a:solidFill>
            <a:srgbClr val="6c55f7"/>
          </a:solidFill>
          <a:ln w="12700">
            <a:solidFill>
              <a:srgbClr val="6c55f7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950976" y="2386584"/>
            <a:ext cx="3822192" cy="31089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콘텐츠가 검색과 추천에서 보일 수 있게 설정.</a:t>
            </a:r>
            <a:endParaRPr lang="en-US" sz="1100"/>
          </a:p>
        </p:txBody>
      </p:sp>
      <p:sp>
        <p:nvSpPr>
          <p:cNvPr id="10" name="Shape 8"/>
          <p:cNvSpPr/>
          <p:nvPr/>
        </p:nvSpPr>
        <p:spPr>
          <a:xfrm>
            <a:off x="658368" y="2999232"/>
            <a:ext cx="109728" cy="109728"/>
          </a:xfrm>
          <a:prstGeom prst="ellipse">
            <a:avLst/>
          </a:prstGeom>
          <a:solidFill>
            <a:srgbClr val="6c55f7"/>
          </a:solidFill>
          <a:ln w="12700">
            <a:solidFill>
              <a:srgbClr val="6c55f7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950976" y="2898648"/>
            <a:ext cx="3822192" cy="31089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비공개 프로필</a:t>
            </a:r>
            <a:r>
              <a:rPr lang="ko-KR" altLang="en-US" sz="110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 선택시 게시글 노출이 안됨</a:t>
            </a:r>
            <a:r>
              <a:rPr lang="en-US" altLang="ko-KR" sz="110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.</a:t>
            </a:r>
            <a:endParaRPr lang="en-US" altLang="ko-KR" sz="1100">
              <a:solidFill>
                <a:srgbClr val="111827"/>
              </a:solidFill>
              <a:latin typeface="Noto Sans CJK KR"/>
              <a:ea typeface="Noto Sans CJK KR"/>
              <a:cs typeface="Noto Sans CJK KR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58368" y="3511296"/>
            <a:ext cx="109728" cy="109728"/>
          </a:xfrm>
          <a:prstGeom prst="ellipse">
            <a:avLst/>
          </a:prstGeom>
          <a:solidFill>
            <a:srgbClr val="6c55f7"/>
          </a:solidFill>
          <a:ln w="12700">
            <a:solidFill>
              <a:srgbClr val="6c55f7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950976" y="3410712"/>
            <a:ext cx="3822192" cy="31089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다음 버튼 클릭.</a:t>
            </a:r>
            <a:endParaRPr lang="en-US" sz="1100"/>
          </a:p>
        </p:txBody>
      </p:sp>
      <p:sp>
        <p:nvSpPr>
          <p:cNvPr id="14" name="Shape 12"/>
          <p:cNvSpPr/>
          <p:nvPr/>
        </p:nvSpPr>
        <p:spPr>
          <a:xfrm>
            <a:off x="5102352" y="1188720"/>
            <a:ext cx="5806440" cy="5166360"/>
          </a:xfrm>
          <a:prstGeom prst="roundRect">
            <a:avLst>
              <a:gd name="adj" fmla="val 1593"/>
            </a:avLst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  <a:effectLst>
            <a:outerShdw blurRad="12700" dist="50800" dir="2700000" algn="bl" rotWithShape="0">
              <a:srgbClr val="000000">
                <a:alpha val="5000"/>
              </a:srgbClr>
            </a:outerShdw>
          </a:effectLst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pic>
        <p:nvPicPr>
          <p:cNvPr id="15" name="Image 0" descr="/mnt/data/fdf9c308-fc8d-43bd-8f19-7b97d926668b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193845" y="1289304"/>
            <a:ext cx="3623453" cy="496519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STEP 5. 작동 방식 확인 후 가입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안내 화면을 확인한 뒤 하단의 Threads 가입하기를 누릅니다.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6510528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" dirty="0">
                <a:solidFill>
                  <a:srgbClr val="9CA3A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DAY 2 사전 세팅 · 08</a:t>
            </a:r>
            <a:endParaRPr lang="en-US" sz="560" dirty="0"/>
          </a:p>
        </p:txBody>
      </p:sp>
      <p:sp>
        <p:nvSpPr>
          <p:cNvPr id="5" name="Text 3"/>
          <p:cNvSpPr/>
          <p:nvPr/>
        </p:nvSpPr>
        <p:spPr>
          <a:xfrm>
            <a:off x="658368" y="137160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진행 순서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58368" y="1975104"/>
            <a:ext cx="109728" cy="109728"/>
          </a:xfrm>
          <a:prstGeom prst="ellipse">
            <a:avLst/>
          </a:prstGeom>
          <a:solidFill>
            <a:srgbClr val="6C55F7"/>
          </a:solidFill>
          <a:ln w="12700">
            <a:solidFill>
              <a:srgbClr val="6C55F7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0976" y="1874520"/>
            <a:ext cx="3822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Threads의 작동 방식 확인.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58368" y="2487168"/>
            <a:ext cx="109728" cy="109728"/>
          </a:xfrm>
          <a:prstGeom prst="ellipse">
            <a:avLst/>
          </a:prstGeom>
          <a:solidFill>
            <a:srgbClr val="6C55F7"/>
          </a:solidFill>
          <a:ln w="12700">
            <a:solidFill>
              <a:srgbClr val="6C55F7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" y="2386584"/>
            <a:ext cx="3822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Instagram 기반 서비스라는 점 확인.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58368" y="2999232"/>
            <a:ext cx="109728" cy="109728"/>
          </a:xfrm>
          <a:prstGeom prst="ellipse">
            <a:avLst/>
          </a:prstGeom>
          <a:solidFill>
            <a:srgbClr val="6C55F7"/>
          </a:solidFill>
          <a:ln w="12700">
            <a:solidFill>
              <a:srgbClr val="6C55F7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0976" y="2898648"/>
            <a:ext cx="3822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약관 및 정책 동의.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58368" y="3511296"/>
            <a:ext cx="109728" cy="109728"/>
          </a:xfrm>
          <a:prstGeom prst="ellipse">
            <a:avLst/>
          </a:prstGeom>
          <a:solidFill>
            <a:srgbClr val="6C55F7"/>
          </a:solidFill>
          <a:ln w="12700">
            <a:solidFill>
              <a:srgbClr val="6C55F7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0976" y="3410712"/>
            <a:ext cx="3822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하단 Threads 가입하기 클릭.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02352" y="1188720"/>
            <a:ext cx="5806440" cy="5166360"/>
          </a:xfrm>
          <a:prstGeom prst="roundRect">
            <a:avLst>
              <a:gd name="adj" fmla="val 1593"/>
            </a:avLst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pic>
        <p:nvPicPr>
          <p:cNvPr id="15" name="Image 0" descr="/mnt/data/eb466306-070f-4adc-889f-4b4d341cf8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1448" y="1289304"/>
            <a:ext cx="2968247" cy="496519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STEP 6. 가입 완료 화면 확인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DAY 1에서 만든 Instagram 정보가 Threads 프로필에 반영됩니다.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6510528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" dirty="0">
                <a:solidFill>
                  <a:srgbClr val="9CA3A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DAY 2 사전 세팅 · 09</a:t>
            </a:r>
            <a:endParaRPr lang="en-US" sz="560" dirty="0"/>
          </a:p>
        </p:txBody>
      </p:sp>
      <p:sp>
        <p:nvSpPr>
          <p:cNvPr id="5" name="Text 3"/>
          <p:cNvSpPr/>
          <p:nvPr/>
        </p:nvSpPr>
        <p:spPr>
          <a:xfrm>
            <a:off x="658368" y="137160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확인할 것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58368" y="1975104"/>
            <a:ext cx="109728" cy="109728"/>
          </a:xfrm>
          <a:prstGeom prst="ellipse">
            <a:avLst/>
          </a:prstGeom>
          <a:solidFill>
            <a:srgbClr val="6C55F7"/>
          </a:solidFill>
          <a:ln w="12700">
            <a:solidFill>
              <a:srgbClr val="6C55F7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0976" y="1874520"/>
            <a:ext cx="3822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이름과 사용자명이 맞는지 확인.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58368" y="2487168"/>
            <a:ext cx="109728" cy="109728"/>
          </a:xfrm>
          <a:prstGeom prst="ellipse">
            <a:avLst/>
          </a:prstGeom>
          <a:solidFill>
            <a:srgbClr val="6C55F7"/>
          </a:solidFill>
          <a:ln w="12700">
            <a:solidFill>
              <a:srgbClr val="6C55F7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" y="2386584"/>
            <a:ext cx="3822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프로필 이미지가 반영됐는지 확인.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58368" y="2999232"/>
            <a:ext cx="109728" cy="109728"/>
          </a:xfrm>
          <a:prstGeom prst="ellipse">
            <a:avLst/>
          </a:prstGeom>
          <a:solidFill>
            <a:srgbClr val="6C55F7"/>
          </a:solidFill>
          <a:ln w="12700">
            <a:solidFill>
              <a:srgbClr val="6C55F7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0976" y="2898648"/>
            <a:ext cx="3822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팔로우 0명 상태여도 정상.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58368" y="3511296"/>
            <a:ext cx="109728" cy="109728"/>
          </a:xfrm>
          <a:prstGeom prst="ellipse">
            <a:avLst/>
          </a:prstGeom>
          <a:solidFill>
            <a:srgbClr val="6C55F7"/>
          </a:solidFill>
          <a:ln w="12700">
            <a:solidFill>
              <a:srgbClr val="6C55F7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0976" y="3410712"/>
            <a:ext cx="3822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가입 완료 후 바로 활동량을 늘리지 않기.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02352" y="1188720"/>
            <a:ext cx="5806440" cy="5166360"/>
          </a:xfrm>
          <a:prstGeom prst="roundRect">
            <a:avLst>
              <a:gd name="adj" fmla="val 1593"/>
            </a:avLst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5000"/>
              </a:srgbClr>
            </a:outerShdw>
          </a:effectLst>
        </p:spPr>
      </p:sp>
      <p:pic>
        <p:nvPicPr>
          <p:cNvPr id="15" name="Image 0" descr="/mnt/data/6ff9a59b-2b82-4114-8214-40a0872fedb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02936" y="2780836"/>
            <a:ext cx="5605272" cy="198212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10">
    <p:bg>
      <p:bgPr shadeToTitle="0"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2100" b="1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STEP 7. 가입 직후 프로필은 건드리지 않기</a:t>
            </a:r>
            <a:endParaRPr lang="en-US" sz="210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850">
                <a:solidFill>
                  <a:srgbClr val="6b7280"/>
                </a:solidFill>
                <a:latin typeface="Noto Sans CJK KR"/>
                <a:ea typeface="Noto Sans CJK KR"/>
                <a:cs typeface="Noto Sans CJK KR"/>
              </a:rPr>
              <a:t>DAY 2에는 Threads에서 별도로 프로필을 반복 수정하지 않습니다.</a:t>
            </a:r>
            <a:endParaRPr lang="en-US" sz="850"/>
          </a:p>
        </p:txBody>
      </p:sp>
      <p:sp>
        <p:nvSpPr>
          <p:cNvPr id="4" name="Text 2"/>
          <p:cNvSpPr/>
          <p:nvPr/>
        </p:nvSpPr>
        <p:spPr>
          <a:xfrm>
            <a:off x="502920" y="6510528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560">
                <a:solidFill>
                  <a:srgbClr val="9ca3af"/>
                </a:solidFill>
                <a:latin typeface="Noto Sans CJK KR"/>
                <a:ea typeface="Noto Sans CJK KR"/>
                <a:cs typeface="Noto Sans CJK KR"/>
              </a:rPr>
              <a:t>DAY 2 사전 세팅 · 10</a:t>
            </a:r>
            <a:endParaRPr lang="en-US" sz="560"/>
          </a:p>
        </p:txBody>
      </p:sp>
      <p:sp>
        <p:nvSpPr>
          <p:cNvPr id="5" name="Shape 3"/>
          <p:cNvSpPr/>
          <p:nvPr/>
        </p:nvSpPr>
        <p:spPr>
          <a:xfrm>
            <a:off x="713232" y="1536192"/>
            <a:ext cx="5166360" cy="4343400"/>
          </a:xfrm>
          <a:prstGeom prst="roundRect">
            <a:avLst>
              <a:gd name="adj" fmla="val 1895"/>
            </a:avLst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309360" y="1536192"/>
            <a:ext cx="5166360" cy="4343400"/>
          </a:xfrm>
          <a:prstGeom prst="roundRect">
            <a:avLst>
              <a:gd name="adj" fmla="val 1895"/>
            </a:avLst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60120" y="1783080"/>
            <a:ext cx="1828800" cy="310896"/>
          </a:xfrm>
          <a:prstGeom prst="roundRect">
            <a:avLst>
              <a:gd name="adj" fmla="val 23529"/>
            </a:avLst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014984" y="1856232"/>
            <a:ext cx="1719072" cy="146304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괜찮은 상태</a:t>
            </a:r>
            <a:endParaRPr lang="en-US" sz="1000"/>
          </a:p>
        </p:txBody>
      </p:sp>
      <p:sp>
        <p:nvSpPr>
          <p:cNvPr id="9" name="Shape 7"/>
          <p:cNvSpPr/>
          <p:nvPr/>
        </p:nvSpPr>
        <p:spPr>
          <a:xfrm>
            <a:off x="6556248" y="1783080"/>
            <a:ext cx="1828800" cy="310896"/>
          </a:xfrm>
          <a:prstGeom prst="roundRect">
            <a:avLst>
              <a:gd name="adj" fmla="val 23529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611112" y="1856232"/>
            <a:ext cx="1719072" cy="146304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하지 않을 것</a:t>
            </a:r>
            <a:endParaRPr lang="en-US" sz="1000"/>
          </a:p>
        </p:txBody>
      </p:sp>
      <p:sp>
        <p:nvSpPr>
          <p:cNvPr id="11" name="Text 9"/>
          <p:cNvSpPr/>
          <p:nvPr/>
        </p:nvSpPr>
        <p:spPr>
          <a:xfrm>
            <a:off x="987552" y="2350008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920">
                <a:solidFill>
                  <a:srgbClr val="6b7280"/>
                </a:solidFill>
                <a:latin typeface="Noto Sans CJK KR"/>
                <a:ea typeface="Noto Sans CJK KR"/>
                <a:cs typeface="Noto Sans CJK KR"/>
              </a:rPr>
              <a:t>□</a:t>
            </a:r>
            <a:endParaRPr lang="en-US" sz="920"/>
          </a:p>
        </p:txBody>
      </p:sp>
      <p:sp>
        <p:nvSpPr>
          <p:cNvPr id="12" name="Text 10"/>
          <p:cNvSpPr/>
          <p:nvPr/>
        </p:nvSpPr>
        <p:spPr>
          <a:xfrm>
            <a:off x="1216152" y="2331720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02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Instagram에서 넘어온 이름.</a:t>
            </a:r>
            <a:endParaRPr lang="en-US" sz="1020"/>
          </a:p>
        </p:txBody>
      </p:sp>
      <p:sp>
        <p:nvSpPr>
          <p:cNvPr id="13" name="Text 11"/>
          <p:cNvSpPr/>
          <p:nvPr/>
        </p:nvSpPr>
        <p:spPr>
          <a:xfrm>
            <a:off x="987552" y="2798064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920">
                <a:solidFill>
                  <a:srgbClr val="6b7280"/>
                </a:solidFill>
                <a:latin typeface="Noto Sans CJK KR"/>
                <a:ea typeface="Noto Sans CJK KR"/>
                <a:cs typeface="Noto Sans CJK KR"/>
              </a:rPr>
              <a:t>□</a:t>
            </a:r>
            <a:endParaRPr lang="en-US" sz="920"/>
          </a:p>
        </p:txBody>
      </p:sp>
      <p:sp>
        <p:nvSpPr>
          <p:cNvPr id="14" name="Text 12"/>
          <p:cNvSpPr/>
          <p:nvPr/>
        </p:nvSpPr>
        <p:spPr>
          <a:xfrm>
            <a:off x="1216152" y="2779776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02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Instagram에서 넘어온 ID.</a:t>
            </a:r>
            <a:endParaRPr lang="en-US" sz="1020"/>
          </a:p>
        </p:txBody>
      </p:sp>
      <p:sp>
        <p:nvSpPr>
          <p:cNvPr id="15" name="Text 13"/>
          <p:cNvSpPr/>
          <p:nvPr/>
        </p:nvSpPr>
        <p:spPr>
          <a:xfrm>
            <a:off x="987552" y="3246120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920">
                <a:solidFill>
                  <a:srgbClr val="6b7280"/>
                </a:solidFill>
                <a:latin typeface="Noto Sans CJK KR"/>
                <a:ea typeface="Noto Sans CJK KR"/>
                <a:cs typeface="Noto Sans CJK KR"/>
              </a:rPr>
              <a:t>□</a:t>
            </a:r>
            <a:endParaRPr lang="en-US" sz="920"/>
          </a:p>
        </p:txBody>
      </p:sp>
      <p:sp>
        <p:nvSpPr>
          <p:cNvPr id="16" name="Text 14"/>
          <p:cNvSpPr/>
          <p:nvPr/>
        </p:nvSpPr>
        <p:spPr>
          <a:xfrm>
            <a:off x="1216152" y="3227832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02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DAY 1에 설정한 프로필 이미지.</a:t>
            </a:r>
            <a:endParaRPr lang="en-US" sz="1020"/>
          </a:p>
        </p:txBody>
      </p:sp>
      <p:sp>
        <p:nvSpPr>
          <p:cNvPr id="17" name="Text 15"/>
          <p:cNvSpPr/>
          <p:nvPr/>
        </p:nvSpPr>
        <p:spPr>
          <a:xfrm>
            <a:off x="987552" y="3694176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920">
                <a:solidFill>
                  <a:srgbClr val="6b7280"/>
                </a:solidFill>
                <a:latin typeface="Noto Sans CJK KR"/>
                <a:ea typeface="Noto Sans CJK KR"/>
                <a:cs typeface="Noto Sans CJK KR"/>
              </a:rPr>
              <a:t>□</a:t>
            </a:r>
            <a:endParaRPr lang="en-US" sz="920"/>
          </a:p>
        </p:txBody>
      </p:sp>
      <p:sp>
        <p:nvSpPr>
          <p:cNvPr id="18" name="Text 16"/>
          <p:cNvSpPr/>
          <p:nvPr/>
        </p:nvSpPr>
        <p:spPr>
          <a:xfrm>
            <a:off x="1216152" y="3675888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02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기본 상태로 가입 완료된 화면.</a:t>
            </a:r>
            <a:endParaRPr lang="en-US" sz="1020"/>
          </a:p>
        </p:txBody>
      </p:sp>
      <p:sp>
        <p:nvSpPr>
          <p:cNvPr id="19" name="Text 17"/>
          <p:cNvSpPr/>
          <p:nvPr/>
        </p:nvSpPr>
        <p:spPr>
          <a:xfrm>
            <a:off x="6583680" y="2350008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920">
                <a:solidFill>
                  <a:srgbClr val="6b7280"/>
                </a:solidFill>
                <a:latin typeface="Noto Sans CJK KR"/>
                <a:ea typeface="Noto Sans CJK KR"/>
                <a:cs typeface="Noto Sans CJK KR"/>
              </a:rPr>
              <a:t>□</a:t>
            </a:r>
            <a:endParaRPr lang="en-US" sz="920"/>
          </a:p>
        </p:txBody>
      </p:sp>
      <p:sp>
        <p:nvSpPr>
          <p:cNvPr id="20" name="Text 18"/>
          <p:cNvSpPr/>
          <p:nvPr/>
        </p:nvSpPr>
        <p:spPr>
          <a:xfrm>
            <a:off x="6812280" y="2331720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02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이름 반복 수정.</a:t>
            </a:r>
            <a:endParaRPr lang="en-US" sz="1020"/>
          </a:p>
        </p:txBody>
      </p:sp>
      <p:sp>
        <p:nvSpPr>
          <p:cNvPr id="21" name="Text 19"/>
          <p:cNvSpPr/>
          <p:nvPr/>
        </p:nvSpPr>
        <p:spPr>
          <a:xfrm>
            <a:off x="6583680" y="2798064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920">
                <a:solidFill>
                  <a:srgbClr val="6b7280"/>
                </a:solidFill>
                <a:latin typeface="Noto Sans CJK KR"/>
                <a:ea typeface="Noto Sans CJK KR"/>
                <a:cs typeface="Noto Sans CJK KR"/>
              </a:rPr>
              <a:t>□</a:t>
            </a:r>
            <a:endParaRPr lang="en-US" sz="920"/>
          </a:p>
        </p:txBody>
      </p:sp>
      <p:sp>
        <p:nvSpPr>
          <p:cNvPr id="22" name="Text 20"/>
          <p:cNvSpPr/>
          <p:nvPr/>
        </p:nvSpPr>
        <p:spPr>
          <a:xfrm>
            <a:off x="6812280" y="2779776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02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프로필 이미지 반복 변경.</a:t>
            </a:r>
            <a:endParaRPr lang="en-US" sz="1020"/>
          </a:p>
        </p:txBody>
      </p:sp>
      <p:sp>
        <p:nvSpPr>
          <p:cNvPr id="23" name="Text 21"/>
          <p:cNvSpPr/>
          <p:nvPr/>
        </p:nvSpPr>
        <p:spPr>
          <a:xfrm>
            <a:off x="6583680" y="3246120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920">
                <a:solidFill>
                  <a:srgbClr val="6b7280"/>
                </a:solidFill>
                <a:latin typeface="Noto Sans CJK KR"/>
                <a:ea typeface="Noto Sans CJK KR"/>
                <a:cs typeface="Noto Sans CJK KR"/>
              </a:rPr>
              <a:t>□</a:t>
            </a:r>
            <a:endParaRPr lang="en-US" sz="920"/>
          </a:p>
        </p:txBody>
      </p:sp>
      <p:sp>
        <p:nvSpPr>
          <p:cNvPr id="24" name="Text 22"/>
          <p:cNvSpPr/>
          <p:nvPr/>
        </p:nvSpPr>
        <p:spPr>
          <a:xfrm>
            <a:off x="6812280" y="3227832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02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소개글 계속 바꾸기.</a:t>
            </a:r>
            <a:endParaRPr lang="en-US" sz="1020"/>
          </a:p>
        </p:txBody>
      </p:sp>
      <p:sp>
        <p:nvSpPr>
          <p:cNvPr id="25" name="Text 23"/>
          <p:cNvSpPr/>
          <p:nvPr/>
        </p:nvSpPr>
        <p:spPr>
          <a:xfrm>
            <a:off x="6583680" y="3694176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920">
                <a:solidFill>
                  <a:srgbClr val="6b7280"/>
                </a:solidFill>
                <a:latin typeface="Noto Sans CJK KR"/>
                <a:ea typeface="Noto Sans CJK KR"/>
                <a:cs typeface="Noto Sans CJK KR"/>
              </a:rPr>
              <a:t>□</a:t>
            </a:r>
            <a:endParaRPr lang="en-US" sz="920"/>
          </a:p>
        </p:txBody>
      </p:sp>
      <p:sp>
        <p:nvSpPr>
          <p:cNvPr id="26" name="Text 24"/>
          <p:cNvSpPr/>
          <p:nvPr/>
        </p:nvSpPr>
        <p:spPr>
          <a:xfrm>
            <a:off x="6812280" y="3675888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02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외부 링크 추가.</a:t>
            </a:r>
            <a:endParaRPr lang="en-US" sz="1020"/>
          </a:p>
        </p:txBody>
      </p:sp>
      <p:sp>
        <p:nvSpPr>
          <p:cNvPr id="27" name="Text 25"/>
          <p:cNvSpPr/>
          <p:nvPr/>
        </p:nvSpPr>
        <p:spPr>
          <a:xfrm>
            <a:off x="6583680" y="4142232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920">
                <a:solidFill>
                  <a:srgbClr val="6b7280"/>
                </a:solidFill>
                <a:latin typeface="Noto Sans CJK KR"/>
                <a:ea typeface="Noto Sans CJK KR"/>
                <a:cs typeface="Noto Sans CJK KR"/>
              </a:rPr>
              <a:t>□</a:t>
            </a:r>
            <a:endParaRPr lang="en-US" sz="920"/>
          </a:p>
        </p:txBody>
      </p:sp>
      <p:sp>
        <p:nvSpPr>
          <p:cNvPr id="28" name="Text 26"/>
          <p:cNvSpPr/>
          <p:nvPr/>
        </p:nvSpPr>
        <p:spPr>
          <a:xfrm>
            <a:off x="6812280" y="4123944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02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쿠팡·토스 링크 등록.</a:t>
            </a:r>
            <a:endParaRPr lang="en-US" sz="1020"/>
          </a:p>
        </p:txBody>
      </p:sp>
      <p:sp>
        <p:nvSpPr>
          <p:cNvPr id="29" name="Text 27"/>
          <p:cNvSpPr/>
          <p:nvPr/>
        </p:nvSpPr>
        <p:spPr>
          <a:xfrm>
            <a:off x="6583680" y="4590288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920">
                <a:solidFill>
                  <a:srgbClr val="6b7280"/>
                </a:solidFill>
                <a:latin typeface="Noto Sans CJK KR"/>
                <a:ea typeface="Noto Sans CJK KR"/>
                <a:cs typeface="Noto Sans CJK KR"/>
              </a:rPr>
              <a:t>□</a:t>
            </a:r>
            <a:endParaRPr lang="en-US" sz="920"/>
          </a:p>
        </p:txBody>
      </p:sp>
      <p:sp>
        <p:nvSpPr>
          <p:cNvPr id="30" name="Text 28"/>
          <p:cNvSpPr/>
          <p:nvPr/>
        </p:nvSpPr>
        <p:spPr>
          <a:xfrm>
            <a:off x="6812280" y="4572000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02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상품 홍보 문구 입력.</a:t>
            </a:r>
            <a:endParaRPr lang="en-US" sz="1020"/>
          </a:p>
        </p:txBody>
      </p:sp>
      <p:sp>
        <p:nvSpPr>
          <p:cNvPr id="31" name="Shape 29"/>
          <p:cNvSpPr/>
          <p:nvPr/>
        </p:nvSpPr>
        <p:spPr>
          <a:xfrm>
            <a:off x="2606040" y="6053328"/>
            <a:ext cx="7040880" cy="420624"/>
          </a:xfrm>
          <a:prstGeom prst="roundRect">
            <a:avLst>
              <a:gd name="adj" fmla="val 19565"/>
            </a:avLst>
          </a:prstGeom>
          <a:solidFill>
            <a:srgbClr val="fff7ed"/>
          </a:solidFill>
          <a:ln w="8890">
            <a:solidFill>
              <a:srgbClr val="fed7aa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2834640" y="6181344"/>
            <a:ext cx="6583680" cy="201168"/>
          </a:xfrm>
          <a:prstGeom prst="rect">
            <a:avLst/>
          </a:prstGeom>
          <a:noFill/>
          <a:ln/>
        </p:spPr>
        <p:txBody>
          <a:bodyPr wrap="square" lIns="254" tIns="254" rIns="254" bIns="254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850" b="1">
                <a:solidFill>
                  <a:srgbClr val="92400e"/>
                </a:solidFill>
                <a:latin typeface="Noto Sans CJK KR"/>
                <a:ea typeface="Noto Sans CJK KR"/>
                <a:cs typeface="Noto Sans CJK KR"/>
              </a:rPr>
              <a:t>DAY 2의 프로필 기준은 “추가 수정하지 않고 유지”입니다.</a:t>
            </a:r>
            <a:endParaRPr lang="en-US" sz="85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11">
    <p:bg>
      <p:bgPr shadeToTitle="0"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2100" b="1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STEP 8. 하입덕 TOP 8 키워드 준비</a:t>
            </a:r>
            <a:endParaRPr lang="en-US" sz="210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850">
                <a:solidFill>
                  <a:srgbClr val="6b7280"/>
                </a:solidFill>
                <a:latin typeface="Noto Sans CJK KR"/>
                <a:ea typeface="Noto Sans CJK KR"/>
                <a:cs typeface="Noto Sans CJK KR"/>
              </a:rPr>
              <a:t>DAY 1에 생성된 TOP 8 키워드를 Threads 검색에 활용합니다.</a:t>
            </a:r>
            <a:endParaRPr lang="en-US" sz="850"/>
          </a:p>
        </p:txBody>
      </p:sp>
      <p:sp>
        <p:nvSpPr>
          <p:cNvPr id="4" name="Text 2"/>
          <p:cNvSpPr/>
          <p:nvPr/>
        </p:nvSpPr>
        <p:spPr>
          <a:xfrm>
            <a:off x="502920" y="6510528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560">
                <a:solidFill>
                  <a:srgbClr val="9ca3af"/>
                </a:solidFill>
                <a:latin typeface="Noto Sans CJK KR"/>
                <a:ea typeface="Noto Sans CJK KR"/>
                <a:cs typeface="Noto Sans CJK KR"/>
              </a:rPr>
              <a:t>DAY 2 사전 세팅 · 11</a:t>
            </a:r>
            <a:endParaRPr lang="en-US" sz="560"/>
          </a:p>
        </p:txBody>
      </p:sp>
      <p:sp>
        <p:nvSpPr>
          <p:cNvPr id="5" name="Text 3"/>
          <p:cNvSpPr/>
          <p:nvPr/>
        </p:nvSpPr>
        <p:spPr>
          <a:xfrm>
            <a:off x="658368" y="137160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키워드 예시</a:t>
            </a:r>
            <a:endParaRPr lang="en-US" sz="1100"/>
          </a:p>
        </p:txBody>
      </p:sp>
      <p:sp>
        <p:nvSpPr>
          <p:cNvPr id="6" name="Shape 4"/>
          <p:cNvSpPr/>
          <p:nvPr/>
        </p:nvSpPr>
        <p:spPr>
          <a:xfrm>
            <a:off x="448056" y="1813179"/>
            <a:ext cx="950976" cy="310896"/>
          </a:xfrm>
          <a:prstGeom prst="roundRect">
            <a:avLst>
              <a:gd name="adj" fmla="val 23529"/>
            </a:avLst>
          </a:prstGeom>
          <a:solidFill>
            <a:srgbClr val="6c55f7"/>
          </a:solidFill>
          <a:ln w="12700">
            <a:solidFill>
              <a:srgbClr val="6c55f7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02920" y="1886331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직장인</a:t>
            </a:r>
            <a:endParaRPr lang="en-US" sz="1000"/>
          </a:p>
        </p:txBody>
      </p:sp>
      <p:sp>
        <p:nvSpPr>
          <p:cNvPr id="8" name="Shape 6"/>
          <p:cNvSpPr/>
          <p:nvPr/>
        </p:nvSpPr>
        <p:spPr>
          <a:xfrm>
            <a:off x="1682496" y="1813179"/>
            <a:ext cx="950976" cy="310896"/>
          </a:xfrm>
          <a:prstGeom prst="roundRect">
            <a:avLst>
              <a:gd name="adj" fmla="val 23529"/>
            </a:avLst>
          </a:prstGeom>
          <a:solidFill>
            <a:srgbClr val="8b7bff"/>
          </a:solidFill>
          <a:ln w="12700">
            <a:solidFill>
              <a:srgbClr val="8b7bff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737360" y="1886331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자취</a:t>
            </a:r>
            <a:endParaRPr lang="en-US" sz="1000"/>
          </a:p>
        </p:txBody>
      </p:sp>
      <p:sp>
        <p:nvSpPr>
          <p:cNvPr id="10" name="Shape 8"/>
          <p:cNvSpPr/>
          <p:nvPr/>
        </p:nvSpPr>
        <p:spPr>
          <a:xfrm>
            <a:off x="2916936" y="1813179"/>
            <a:ext cx="950976" cy="310896"/>
          </a:xfrm>
          <a:prstGeom prst="roundRect">
            <a:avLst>
              <a:gd name="adj" fmla="val 23529"/>
            </a:avLst>
          </a:prstGeom>
          <a:solidFill>
            <a:srgbClr val="6c55f7"/>
          </a:solidFill>
          <a:ln w="12700">
            <a:solidFill>
              <a:srgbClr val="6c55f7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2971800" y="1886331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퇴근</a:t>
            </a:r>
            <a:endParaRPr lang="en-US" sz="1000"/>
          </a:p>
        </p:txBody>
      </p:sp>
      <p:sp>
        <p:nvSpPr>
          <p:cNvPr id="12" name="Shape 10"/>
          <p:cNvSpPr/>
          <p:nvPr/>
        </p:nvSpPr>
        <p:spPr>
          <a:xfrm>
            <a:off x="4151376" y="1813179"/>
            <a:ext cx="950976" cy="310896"/>
          </a:xfrm>
          <a:prstGeom prst="roundRect">
            <a:avLst>
              <a:gd name="adj" fmla="val 23529"/>
            </a:avLst>
          </a:prstGeom>
          <a:solidFill>
            <a:srgbClr val="8b7bff"/>
          </a:solidFill>
          <a:ln w="12700">
            <a:solidFill>
              <a:srgbClr val="8b7bff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206240" y="1886331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집밥</a:t>
            </a:r>
            <a:endParaRPr lang="en-US" sz="1000"/>
          </a:p>
        </p:txBody>
      </p:sp>
      <p:sp>
        <p:nvSpPr>
          <p:cNvPr id="14" name="Shape 12"/>
          <p:cNvSpPr/>
          <p:nvPr/>
        </p:nvSpPr>
        <p:spPr>
          <a:xfrm>
            <a:off x="448056" y="2343531"/>
            <a:ext cx="950976" cy="310896"/>
          </a:xfrm>
          <a:prstGeom prst="roundRect">
            <a:avLst>
              <a:gd name="adj" fmla="val 23529"/>
            </a:avLst>
          </a:prstGeom>
          <a:solidFill>
            <a:srgbClr val="6c55f7"/>
          </a:solidFill>
          <a:ln w="12700">
            <a:solidFill>
              <a:srgbClr val="6c55f7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02920" y="2416683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꿀템</a:t>
            </a:r>
            <a:endParaRPr lang="en-US" sz="1000"/>
          </a:p>
        </p:txBody>
      </p:sp>
      <p:sp>
        <p:nvSpPr>
          <p:cNvPr id="16" name="Shape 14"/>
          <p:cNvSpPr/>
          <p:nvPr/>
        </p:nvSpPr>
        <p:spPr>
          <a:xfrm>
            <a:off x="1682496" y="2343531"/>
            <a:ext cx="950976" cy="310896"/>
          </a:xfrm>
          <a:prstGeom prst="roundRect">
            <a:avLst>
              <a:gd name="adj" fmla="val 23529"/>
            </a:avLst>
          </a:prstGeom>
          <a:solidFill>
            <a:srgbClr val="8b7bff"/>
          </a:solidFill>
          <a:ln w="12700">
            <a:solidFill>
              <a:srgbClr val="8b7bff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1737360" y="2416683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집순이</a:t>
            </a:r>
            <a:endParaRPr lang="en-US" sz="1000"/>
          </a:p>
        </p:txBody>
      </p:sp>
      <p:sp>
        <p:nvSpPr>
          <p:cNvPr id="18" name="Shape 16"/>
          <p:cNvSpPr/>
          <p:nvPr/>
        </p:nvSpPr>
        <p:spPr>
          <a:xfrm>
            <a:off x="2916936" y="2343531"/>
            <a:ext cx="950976" cy="310896"/>
          </a:xfrm>
          <a:prstGeom prst="roundRect">
            <a:avLst>
              <a:gd name="adj" fmla="val 23529"/>
            </a:avLst>
          </a:prstGeom>
          <a:solidFill>
            <a:srgbClr val="6c55f7"/>
          </a:solidFill>
          <a:ln w="12700">
            <a:solidFill>
              <a:srgbClr val="6c55f7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2971800" y="2416683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살림</a:t>
            </a:r>
            <a:endParaRPr lang="en-US" sz="1000"/>
          </a:p>
        </p:txBody>
      </p:sp>
      <p:sp>
        <p:nvSpPr>
          <p:cNvPr id="20" name="Shape 18"/>
          <p:cNvSpPr/>
          <p:nvPr/>
        </p:nvSpPr>
        <p:spPr>
          <a:xfrm>
            <a:off x="4151376" y="2343531"/>
            <a:ext cx="950976" cy="310896"/>
          </a:xfrm>
          <a:prstGeom prst="roundRect">
            <a:avLst>
              <a:gd name="adj" fmla="val 23529"/>
            </a:avLst>
          </a:prstGeom>
          <a:solidFill>
            <a:srgbClr val="8b7bff"/>
          </a:solidFill>
          <a:ln w="12700">
            <a:solidFill>
              <a:srgbClr val="8b7bff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206240" y="2416683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가성비</a:t>
            </a:r>
            <a:endParaRPr lang="en-US" sz="1000"/>
          </a:p>
        </p:txBody>
      </p:sp>
      <p:sp>
        <p:nvSpPr>
          <p:cNvPr id="22" name="Shape 20"/>
          <p:cNvSpPr/>
          <p:nvPr/>
        </p:nvSpPr>
        <p:spPr>
          <a:xfrm>
            <a:off x="5486400" y="1417320"/>
            <a:ext cx="5440680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5806440" y="175564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운영 기준</a:t>
            </a:r>
            <a:endParaRPr lang="en-US" sz="1200"/>
          </a:p>
        </p:txBody>
      </p:sp>
      <p:sp>
        <p:nvSpPr>
          <p:cNvPr id="24" name="Shape 22"/>
          <p:cNvSpPr/>
          <p:nvPr/>
        </p:nvSpPr>
        <p:spPr>
          <a:xfrm>
            <a:off x="5806440" y="2368296"/>
            <a:ext cx="109728" cy="109728"/>
          </a:xfrm>
          <a:prstGeom prst="ellipse">
            <a:avLst/>
          </a:prstGeom>
          <a:solidFill>
            <a:srgbClr val="6c55f7"/>
          </a:solidFill>
          <a:ln w="12700">
            <a:solidFill>
              <a:srgbClr val="6c55f7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6099048" y="2267712"/>
            <a:ext cx="4279392" cy="31089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03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TOP 8을 전부 한 번에 검색할 필요는 없음.</a:t>
            </a:r>
            <a:endParaRPr lang="en-US" sz="1030"/>
          </a:p>
        </p:txBody>
      </p:sp>
      <p:sp>
        <p:nvSpPr>
          <p:cNvPr id="26" name="Shape 24"/>
          <p:cNvSpPr/>
          <p:nvPr/>
        </p:nvSpPr>
        <p:spPr>
          <a:xfrm>
            <a:off x="5806440" y="2825496"/>
            <a:ext cx="109728" cy="109728"/>
          </a:xfrm>
          <a:prstGeom prst="ellipse">
            <a:avLst/>
          </a:prstGeom>
          <a:solidFill>
            <a:srgbClr val="6c55f7"/>
          </a:solidFill>
          <a:ln w="12700">
            <a:solidFill>
              <a:srgbClr val="6c55f7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6099048" y="2724912"/>
            <a:ext cx="4279392" cy="31089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03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키워드는 틈날 때마다 나눠서 검색.</a:t>
            </a:r>
            <a:endParaRPr lang="en-US" sz="1030"/>
          </a:p>
        </p:txBody>
      </p:sp>
      <p:sp>
        <p:nvSpPr>
          <p:cNvPr id="28" name="Shape 26"/>
          <p:cNvSpPr/>
          <p:nvPr/>
        </p:nvSpPr>
        <p:spPr>
          <a:xfrm>
            <a:off x="5806440" y="3282696"/>
            <a:ext cx="109728" cy="109728"/>
          </a:xfrm>
          <a:prstGeom prst="ellipse">
            <a:avLst/>
          </a:prstGeom>
          <a:solidFill>
            <a:srgbClr val="6c55f7"/>
          </a:solidFill>
          <a:ln w="12700">
            <a:solidFill>
              <a:srgbClr val="6c55f7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6099048" y="3182112"/>
            <a:ext cx="4279392" cy="31089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03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검색 후 관련 콘텐츠를 천천히 관찰.</a:t>
            </a:r>
            <a:endParaRPr lang="en-US" sz="1030"/>
          </a:p>
        </p:txBody>
      </p:sp>
      <p:sp>
        <p:nvSpPr>
          <p:cNvPr id="30" name="Shape 28"/>
          <p:cNvSpPr/>
          <p:nvPr/>
        </p:nvSpPr>
        <p:spPr>
          <a:xfrm>
            <a:off x="5806440" y="3739896"/>
            <a:ext cx="109728" cy="109728"/>
          </a:xfrm>
          <a:prstGeom prst="ellipse">
            <a:avLst/>
          </a:prstGeom>
          <a:solidFill>
            <a:srgbClr val="6c55f7"/>
          </a:solidFill>
          <a:ln w="12700">
            <a:solidFill>
              <a:srgbClr val="6c55f7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6099048" y="3639312"/>
            <a:ext cx="4279392" cy="31089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03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추천탭 변화도 같이 확인.</a:t>
            </a:r>
            <a:endParaRPr lang="en-US" sz="1030"/>
          </a:p>
        </p:txBody>
      </p:sp>
      <p:sp>
        <p:nvSpPr>
          <p:cNvPr id="32" name="Shape 30"/>
          <p:cNvSpPr/>
          <p:nvPr/>
        </p:nvSpPr>
        <p:spPr>
          <a:xfrm>
            <a:off x="3200400" y="5413248"/>
            <a:ext cx="5852160" cy="457200"/>
          </a:xfrm>
          <a:prstGeom prst="roundRect">
            <a:avLst>
              <a:gd name="adj" fmla="val 18000"/>
            </a:avLst>
          </a:prstGeom>
          <a:solidFill>
            <a:srgbClr val="fff7ed"/>
          </a:solidFill>
          <a:ln w="8890">
            <a:solidFill>
              <a:srgbClr val="fed7aa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3429000" y="5541264"/>
            <a:ext cx="5394960" cy="237744"/>
          </a:xfrm>
          <a:prstGeom prst="rect">
            <a:avLst/>
          </a:prstGeom>
          <a:noFill/>
          <a:ln/>
        </p:spPr>
        <p:txBody>
          <a:bodyPr wrap="square" lIns="254" tIns="254" rIns="254" bIns="254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850" b="1">
                <a:solidFill>
                  <a:srgbClr val="92400e"/>
                </a:solidFill>
                <a:latin typeface="Noto Sans CJK KR"/>
                <a:ea typeface="Noto Sans CJK KR"/>
                <a:cs typeface="Noto Sans CJK KR"/>
              </a:rPr>
              <a:t>계정이 어떤 관심사를 가진 계정인지 학습시키는 단계입니다.</a:t>
            </a:r>
            <a:endParaRPr lang="en-US" sz="85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12">
    <p:bg>
      <p:bgPr shadeToTitle="0"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2100" b="1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STEP 9. Threads 관심 분야 인지작업</a:t>
            </a:r>
            <a:endParaRPr lang="en-US" sz="210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850">
                <a:solidFill>
                  <a:srgbClr val="6b7280"/>
                </a:solidFill>
                <a:latin typeface="Noto Sans CJK KR"/>
                <a:ea typeface="Noto Sans CJK KR"/>
                <a:cs typeface="Noto Sans CJK KR"/>
              </a:rPr>
              <a:t>검색 → 콘텐츠 보기 → 추천탭 확인 → 필요하면 추가 검색 순서로 진행합니다.</a:t>
            </a:r>
            <a:endParaRPr lang="en-US" sz="850"/>
          </a:p>
        </p:txBody>
      </p:sp>
      <p:sp>
        <p:nvSpPr>
          <p:cNvPr id="4" name="Text 2"/>
          <p:cNvSpPr/>
          <p:nvPr/>
        </p:nvSpPr>
        <p:spPr>
          <a:xfrm>
            <a:off x="502920" y="6510528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560">
                <a:solidFill>
                  <a:srgbClr val="9ca3af"/>
                </a:solidFill>
                <a:latin typeface="Noto Sans CJK KR"/>
                <a:ea typeface="Noto Sans CJK KR"/>
                <a:cs typeface="Noto Sans CJK KR"/>
              </a:rPr>
              <a:t>DAY 2 사전 세팅 · 12</a:t>
            </a:r>
            <a:endParaRPr lang="en-US" sz="560"/>
          </a:p>
        </p:txBody>
      </p:sp>
      <p:sp>
        <p:nvSpPr>
          <p:cNvPr id="5" name="Shape 3"/>
          <p:cNvSpPr/>
          <p:nvPr/>
        </p:nvSpPr>
        <p:spPr>
          <a:xfrm>
            <a:off x="868680" y="1920240"/>
            <a:ext cx="214884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554480" y="2176272"/>
            <a:ext cx="731520" cy="310896"/>
          </a:xfrm>
          <a:prstGeom prst="roundRect">
            <a:avLst>
              <a:gd name="adj" fmla="val 23529"/>
            </a:avLst>
          </a:prstGeom>
          <a:solidFill>
            <a:srgbClr val="6c55f7"/>
          </a:solidFill>
          <a:ln w="12700">
            <a:solidFill>
              <a:srgbClr val="6c55f7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609344" y="2249424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01</a:t>
            </a:r>
            <a:endParaRPr lang="en-US" sz="1000"/>
          </a:p>
        </p:txBody>
      </p:sp>
      <p:sp>
        <p:nvSpPr>
          <p:cNvPr id="8" name="Text 6"/>
          <p:cNvSpPr/>
          <p:nvPr/>
        </p:nvSpPr>
        <p:spPr>
          <a:xfrm>
            <a:off x="1051560" y="2761488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220" b="1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검색</a:t>
            </a:r>
            <a:endParaRPr lang="en-US" sz="1220"/>
          </a:p>
        </p:txBody>
      </p:sp>
      <p:sp>
        <p:nvSpPr>
          <p:cNvPr id="9" name="Text 7"/>
          <p:cNvSpPr/>
          <p:nvPr/>
        </p:nvSpPr>
        <p:spPr>
          <a:xfrm>
            <a:off x="1028700" y="3300984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6b7280"/>
                </a:solidFill>
                <a:latin typeface="Noto Sans CJK KR"/>
                <a:ea typeface="Noto Sans CJK KR"/>
                <a:cs typeface="Noto Sans CJK KR"/>
              </a:rPr>
              <a:t>TOP 8 키워드 중 일부 검색</a:t>
            </a:r>
            <a:endParaRPr lang="en-US" sz="800"/>
          </a:p>
        </p:txBody>
      </p:sp>
      <p:sp>
        <p:nvSpPr>
          <p:cNvPr id="10" name="Shape 8"/>
          <p:cNvSpPr/>
          <p:nvPr/>
        </p:nvSpPr>
        <p:spPr>
          <a:xfrm>
            <a:off x="3657600" y="1920240"/>
            <a:ext cx="214884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343400" y="2176272"/>
            <a:ext cx="731520" cy="310896"/>
          </a:xfrm>
          <a:prstGeom prst="roundRect">
            <a:avLst>
              <a:gd name="adj" fmla="val 23529"/>
            </a:avLst>
          </a:prstGeom>
          <a:solidFill>
            <a:srgbClr val="6c55f7"/>
          </a:solidFill>
          <a:ln w="12700">
            <a:solidFill>
              <a:srgbClr val="6c55f7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398264" y="2249424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02</a:t>
            </a:r>
            <a:endParaRPr lang="en-US" sz="1000"/>
          </a:p>
        </p:txBody>
      </p:sp>
      <p:sp>
        <p:nvSpPr>
          <p:cNvPr id="13" name="Text 11"/>
          <p:cNvSpPr/>
          <p:nvPr/>
        </p:nvSpPr>
        <p:spPr>
          <a:xfrm>
            <a:off x="3840480" y="2761488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220" b="1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관찰</a:t>
            </a:r>
            <a:endParaRPr lang="en-US" sz="1220"/>
          </a:p>
        </p:txBody>
      </p:sp>
      <p:sp>
        <p:nvSpPr>
          <p:cNvPr id="14" name="Text 12"/>
          <p:cNvSpPr/>
          <p:nvPr/>
        </p:nvSpPr>
        <p:spPr>
          <a:xfrm>
            <a:off x="3840480" y="3286887"/>
            <a:ext cx="1783080" cy="394577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50000"/>
              </a:lnSpc>
              <a:buNone/>
              <a:defRPr/>
            </a:pPr>
            <a:r>
              <a:rPr lang="en-US" sz="800">
                <a:solidFill>
                  <a:srgbClr val="6b7280"/>
                </a:solidFill>
                <a:latin typeface="Noto Sans CJK KR"/>
                <a:ea typeface="Noto Sans CJK KR"/>
                <a:cs typeface="Noto Sans CJK KR"/>
              </a:rPr>
              <a:t>관련 글을 천천히 읽</a:t>
            </a:r>
            <a:r>
              <a:rPr lang="ko-KR" altLang="en-US" sz="800">
                <a:solidFill>
                  <a:srgbClr val="6b7280"/>
                </a:solidFill>
                <a:latin typeface="Noto Sans CJK KR"/>
                <a:ea typeface="Noto Sans CJK KR"/>
                <a:cs typeface="Noto Sans CJK KR"/>
              </a:rPr>
              <a:t>고</a:t>
            </a:r>
            <a:endParaRPr lang="ko-KR" altLang="en-US" sz="800">
              <a:solidFill>
                <a:srgbClr val="6b7280"/>
              </a:solidFill>
              <a:latin typeface="Noto Sans CJK KR"/>
              <a:ea typeface="Noto Sans CJK KR"/>
              <a:cs typeface="Noto Sans CJK KR"/>
            </a:endParaRPr>
          </a:p>
          <a:p>
            <a:pPr marL="0" indent="0" algn="ctr">
              <a:lnSpc>
                <a:spcPct val="130000"/>
              </a:lnSpc>
              <a:buNone/>
              <a:defRPr/>
            </a:pPr>
            <a:r>
              <a:rPr lang="en-US" altLang="ko-KR" sz="800">
                <a:solidFill>
                  <a:srgbClr val="6b7280"/>
                </a:solidFill>
                <a:latin typeface="Noto Sans CJK KR"/>
                <a:ea typeface="Noto Sans CJK KR"/>
                <a:cs typeface="Noto Sans CJK KR"/>
              </a:rPr>
              <a:t>step 11</a:t>
            </a:r>
            <a:r>
              <a:rPr lang="ko-KR" altLang="en-US" sz="800">
                <a:solidFill>
                  <a:srgbClr val="6b7280"/>
                </a:solidFill>
                <a:latin typeface="Noto Sans CJK KR"/>
                <a:ea typeface="Noto Sans CJK KR"/>
                <a:cs typeface="Noto Sans CJK KR"/>
              </a:rPr>
              <a:t> 최소 상호작용 기준 참고해서</a:t>
            </a:r>
            <a:endParaRPr lang="ko-KR" altLang="en-US" sz="800">
              <a:solidFill>
                <a:srgbClr val="6b7280"/>
              </a:solidFill>
              <a:latin typeface="Noto Sans CJK KR"/>
              <a:ea typeface="Noto Sans CJK KR"/>
              <a:cs typeface="Noto Sans CJK KR"/>
            </a:endParaRPr>
          </a:p>
          <a:p>
            <a:pPr marL="0" indent="0" algn="ctr">
              <a:lnSpc>
                <a:spcPct val="150000"/>
              </a:lnSpc>
              <a:buNone/>
              <a:defRPr/>
            </a:pPr>
            <a:r>
              <a:rPr lang="ko-KR" altLang="en-US" sz="800">
                <a:solidFill>
                  <a:srgbClr val="6b7280"/>
                </a:solidFill>
                <a:latin typeface="Noto Sans CJK KR"/>
                <a:ea typeface="Noto Sans CJK KR"/>
                <a:cs typeface="Noto Sans CJK KR"/>
              </a:rPr>
              <a:t>반응 남기기</a:t>
            </a:r>
            <a:endParaRPr lang="ko-KR" altLang="en-US" sz="800">
              <a:solidFill>
                <a:srgbClr val="6b7280"/>
              </a:solidFill>
              <a:latin typeface="Noto Sans CJK KR"/>
              <a:ea typeface="Noto Sans CJK KR"/>
              <a:cs typeface="Noto Sans CJK KR"/>
            </a:endParaRPr>
          </a:p>
          <a:p>
            <a:pPr marL="0" indent="0" algn="ctr">
              <a:lnSpc>
                <a:spcPct val="150000"/>
              </a:lnSpc>
              <a:buNone/>
              <a:defRPr/>
            </a:pPr>
            <a:endParaRPr lang="ko-KR" altLang="en-US" sz="800">
              <a:solidFill>
                <a:srgbClr val="6b7280"/>
              </a:solidFill>
              <a:latin typeface="Noto Sans CJK KR"/>
              <a:ea typeface="Noto Sans CJK KR"/>
              <a:cs typeface="Noto Sans CJK KR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446520" y="1920240"/>
            <a:ext cx="214884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7132320" y="2176272"/>
            <a:ext cx="731520" cy="310896"/>
          </a:xfrm>
          <a:prstGeom prst="roundRect">
            <a:avLst>
              <a:gd name="adj" fmla="val 23529"/>
            </a:avLst>
          </a:prstGeom>
          <a:solidFill>
            <a:srgbClr val="6c55f7"/>
          </a:solidFill>
          <a:ln w="12700">
            <a:solidFill>
              <a:srgbClr val="6c55f7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7187184" y="2249424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03</a:t>
            </a:r>
            <a:endParaRPr lang="en-US" sz="1000"/>
          </a:p>
        </p:txBody>
      </p:sp>
      <p:sp>
        <p:nvSpPr>
          <p:cNvPr id="18" name="Text 16"/>
          <p:cNvSpPr/>
          <p:nvPr/>
        </p:nvSpPr>
        <p:spPr>
          <a:xfrm>
            <a:off x="6629400" y="2761488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220" b="1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추천탭</a:t>
            </a:r>
            <a:endParaRPr lang="en-US" sz="1220"/>
          </a:p>
        </p:txBody>
      </p:sp>
      <p:sp>
        <p:nvSpPr>
          <p:cNvPr id="19" name="Text 17"/>
          <p:cNvSpPr/>
          <p:nvPr/>
        </p:nvSpPr>
        <p:spPr>
          <a:xfrm>
            <a:off x="6629400" y="3300984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6b7280"/>
                </a:solidFill>
                <a:latin typeface="Noto Sans CJK KR"/>
                <a:ea typeface="Noto Sans CJK KR"/>
                <a:cs typeface="Noto Sans CJK KR"/>
              </a:rPr>
              <a:t>비슷한 콘텐츠가 뜨는지 확인</a:t>
            </a:r>
            <a:endParaRPr lang="en-US" sz="800"/>
          </a:p>
        </p:txBody>
      </p:sp>
      <p:sp>
        <p:nvSpPr>
          <p:cNvPr id="20" name="Shape 18"/>
          <p:cNvSpPr/>
          <p:nvPr/>
        </p:nvSpPr>
        <p:spPr>
          <a:xfrm>
            <a:off x="9235440" y="1920240"/>
            <a:ext cx="214884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 sz="1000"/>
          </a:p>
        </p:txBody>
      </p:sp>
      <p:sp>
        <p:nvSpPr>
          <p:cNvPr id="21" name="Shape 19"/>
          <p:cNvSpPr/>
          <p:nvPr/>
        </p:nvSpPr>
        <p:spPr>
          <a:xfrm>
            <a:off x="9921240" y="2176272"/>
            <a:ext cx="731520" cy="310896"/>
          </a:xfrm>
          <a:prstGeom prst="roundRect">
            <a:avLst>
              <a:gd name="adj" fmla="val 23529"/>
            </a:avLst>
          </a:prstGeom>
          <a:solidFill>
            <a:srgbClr val="6c55f7"/>
          </a:solidFill>
          <a:ln w="12700">
            <a:solidFill>
              <a:srgbClr val="6c55f7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9976104" y="2249424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04</a:t>
            </a:r>
            <a:endParaRPr lang="en-US" sz="1000"/>
          </a:p>
        </p:txBody>
      </p:sp>
      <p:sp>
        <p:nvSpPr>
          <p:cNvPr id="23" name="Text 21"/>
          <p:cNvSpPr/>
          <p:nvPr/>
        </p:nvSpPr>
        <p:spPr>
          <a:xfrm>
            <a:off x="9418320" y="2761488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220" b="1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추가 검색</a:t>
            </a:r>
            <a:endParaRPr lang="en-US" sz="1220"/>
          </a:p>
        </p:txBody>
      </p:sp>
      <p:sp>
        <p:nvSpPr>
          <p:cNvPr id="24" name="Text 22"/>
          <p:cNvSpPr/>
          <p:nvPr/>
        </p:nvSpPr>
        <p:spPr>
          <a:xfrm>
            <a:off x="9418320" y="3300984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6b7280"/>
                </a:solidFill>
                <a:latin typeface="Noto Sans CJK KR"/>
                <a:ea typeface="Noto Sans CJK KR"/>
                <a:cs typeface="Noto Sans CJK KR"/>
              </a:rPr>
              <a:t>부족하면 키워드 추가 검색</a:t>
            </a:r>
            <a:endParaRPr lang="en-US" sz="800"/>
          </a:p>
        </p:txBody>
      </p:sp>
      <p:sp>
        <p:nvSpPr>
          <p:cNvPr id="25" name="Shape 23"/>
          <p:cNvSpPr/>
          <p:nvPr/>
        </p:nvSpPr>
        <p:spPr>
          <a:xfrm>
            <a:off x="2103120" y="5102352"/>
            <a:ext cx="8001000" cy="493776"/>
          </a:xfrm>
          <a:prstGeom prst="roundRect">
            <a:avLst>
              <a:gd name="adj" fmla="val 16667"/>
            </a:avLst>
          </a:prstGeom>
          <a:solidFill>
            <a:srgbClr val="fff7ed"/>
          </a:solidFill>
          <a:ln w="8890">
            <a:solidFill>
              <a:srgbClr val="fed7aa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2331720" y="5230368"/>
            <a:ext cx="7543800" cy="274320"/>
          </a:xfrm>
          <a:prstGeom prst="rect">
            <a:avLst/>
          </a:prstGeom>
          <a:noFill/>
          <a:ln/>
        </p:spPr>
        <p:txBody>
          <a:bodyPr wrap="square" lIns="254" tIns="254" rIns="254" bIns="254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850" b="1">
                <a:solidFill>
                  <a:srgbClr val="92400e"/>
                </a:solidFill>
                <a:latin typeface="Noto Sans CJK KR"/>
                <a:ea typeface="Noto Sans CJK KR"/>
                <a:cs typeface="Noto Sans CJK KR"/>
              </a:rPr>
              <a:t>인지작업은 행동 개수 채우기가 아니라, 실제 사람처럼 관심 콘텐츠를 보는 과정입니다.</a:t>
            </a:r>
            <a:endParaRPr lang="en-US" sz="85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13">
    <p:bg>
      <p:bgPr shadeToTitle="0"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2100" b="1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STEP 10. 어떤 콘텐츠를 볼까</a:t>
            </a:r>
            <a:endParaRPr lang="en-US" sz="210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850">
                <a:solidFill>
                  <a:srgbClr val="6b7280"/>
                </a:solidFill>
                <a:latin typeface="Noto Sans CJK KR"/>
                <a:ea typeface="Noto Sans CJK KR"/>
                <a:cs typeface="Noto Sans CJK KR"/>
              </a:rPr>
              <a:t>단순 상품글만 보지 말고, 페르소나와 비슷한 사람의 생활 콘텐츠를 함께 봅니다.</a:t>
            </a:r>
            <a:endParaRPr lang="en-US" sz="850"/>
          </a:p>
        </p:txBody>
      </p:sp>
      <p:sp>
        <p:nvSpPr>
          <p:cNvPr id="4" name="Text 2"/>
          <p:cNvSpPr/>
          <p:nvPr/>
        </p:nvSpPr>
        <p:spPr>
          <a:xfrm>
            <a:off x="502920" y="6510528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560">
                <a:solidFill>
                  <a:srgbClr val="9ca3af"/>
                </a:solidFill>
                <a:latin typeface="Noto Sans CJK KR"/>
                <a:ea typeface="Noto Sans CJK KR"/>
                <a:cs typeface="Noto Sans CJK KR"/>
              </a:rPr>
              <a:t>DAY 2 사전 세팅 · 13</a:t>
            </a:r>
            <a:endParaRPr lang="en-US" sz="560"/>
          </a:p>
        </p:txBody>
      </p:sp>
      <p:sp>
        <p:nvSpPr>
          <p:cNvPr id="5" name="Shape 3"/>
          <p:cNvSpPr/>
          <p:nvPr/>
        </p:nvSpPr>
        <p:spPr>
          <a:xfrm>
            <a:off x="713232" y="1536192"/>
            <a:ext cx="5166360" cy="4343400"/>
          </a:xfrm>
          <a:prstGeom prst="roundRect">
            <a:avLst>
              <a:gd name="adj" fmla="val 1895"/>
            </a:avLst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309360" y="1536192"/>
            <a:ext cx="5166360" cy="4343400"/>
          </a:xfrm>
          <a:prstGeom prst="roundRect">
            <a:avLst>
              <a:gd name="adj" fmla="val 1895"/>
            </a:avLst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60120" y="1783080"/>
            <a:ext cx="1828800" cy="310896"/>
          </a:xfrm>
          <a:prstGeom prst="roundRect">
            <a:avLst>
              <a:gd name="adj" fmla="val 23529"/>
            </a:avLst>
          </a:prstGeom>
          <a:solidFill>
            <a:srgbClr val="6c55f7"/>
          </a:solidFill>
          <a:ln w="12700">
            <a:solidFill>
              <a:srgbClr val="6c55f7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014984" y="1856232"/>
            <a:ext cx="1719072" cy="146304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우선 볼 콘텐츠</a:t>
            </a:r>
            <a:endParaRPr lang="en-US" sz="1000"/>
          </a:p>
        </p:txBody>
      </p:sp>
      <p:sp>
        <p:nvSpPr>
          <p:cNvPr id="9" name="Shape 7"/>
          <p:cNvSpPr/>
          <p:nvPr/>
        </p:nvSpPr>
        <p:spPr>
          <a:xfrm>
            <a:off x="6556248" y="1783080"/>
            <a:ext cx="1828800" cy="310896"/>
          </a:xfrm>
          <a:prstGeom prst="roundRect">
            <a:avLst>
              <a:gd name="adj" fmla="val 23529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611112" y="1856232"/>
            <a:ext cx="1719072" cy="146304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피해야 할 콘텐츠</a:t>
            </a:r>
            <a:endParaRPr lang="en-US" sz="1000"/>
          </a:p>
        </p:txBody>
      </p:sp>
      <p:sp>
        <p:nvSpPr>
          <p:cNvPr id="11" name="Text 9"/>
          <p:cNvSpPr/>
          <p:nvPr/>
        </p:nvSpPr>
        <p:spPr>
          <a:xfrm>
            <a:off x="987552" y="2350008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920">
                <a:solidFill>
                  <a:srgbClr val="6b7280"/>
                </a:solidFill>
                <a:latin typeface="Noto Sans CJK KR"/>
                <a:ea typeface="Noto Sans CJK KR"/>
                <a:cs typeface="Noto Sans CJK KR"/>
              </a:rPr>
              <a:t>□</a:t>
            </a:r>
            <a:endParaRPr lang="en-US" sz="920"/>
          </a:p>
        </p:txBody>
      </p:sp>
      <p:sp>
        <p:nvSpPr>
          <p:cNvPr id="12" name="Text 10"/>
          <p:cNvSpPr/>
          <p:nvPr/>
        </p:nvSpPr>
        <p:spPr>
          <a:xfrm>
            <a:off x="1216152" y="2331720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02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페르소나와 비슷한 사람의 일상글.</a:t>
            </a:r>
            <a:endParaRPr lang="en-US" sz="1020"/>
          </a:p>
        </p:txBody>
      </p:sp>
      <p:sp>
        <p:nvSpPr>
          <p:cNvPr id="13" name="Text 11"/>
          <p:cNvSpPr/>
          <p:nvPr/>
        </p:nvSpPr>
        <p:spPr>
          <a:xfrm>
            <a:off x="987552" y="2798064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920">
                <a:solidFill>
                  <a:srgbClr val="6b7280"/>
                </a:solidFill>
                <a:latin typeface="Noto Sans CJK KR"/>
                <a:ea typeface="Noto Sans CJK KR"/>
                <a:cs typeface="Noto Sans CJK KR"/>
              </a:rPr>
              <a:t>□</a:t>
            </a:r>
            <a:endParaRPr lang="en-US" sz="920"/>
          </a:p>
        </p:txBody>
      </p:sp>
      <p:sp>
        <p:nvSpPr>
          <p:cNvPr id="14" name="Text 12"/>
          <p:cNvSpPr/>
          <p:nvPr/>
        </p:nvSpPr>
        <p:spPr>
          <a:xfrm>
            <a:off x="1216152" y="2779776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02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실제 고민과 불편이 담긴 글.</a:t>
            </a:r>
            <a:endParaRPr lang="en-US" sz="1020"/>
          </a:p>
        </p:txBody>
      </p:sp>
      <p:sp>
        <p:nvSpPr>
          <p:cNvPr id="15" name="Text 13"/>
          <p:cNvSpPr/>
          <p:nvPr/>
        </p:nvSpPr>
        <p:spPr>
          <a:xfrm>
            <a:off x="987552" y="3246120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920">
                <a:solidFill>
                  <a:srgbClr val="6b7280"/>
                </a:solidFill>
                <a:latin typeface="Noto Sans CJK KR"/>
                <a:ea typeface="Noto Sans CJK KR"/>
                <a:cs typeface="Noto Sans CJK KR"/>
              </a:rPr>
              <a:t>□</a:t>
            </a:r>
            <a:endParaRPr lang="en-US" sz="920"/>
          </a:p>
        </p:txBody>
      </p:sp>
      <p:sp>
        <p:nvSpPr>
          <p:cNvPr id="16" name="Text 14"/>
          <p:cNvSpPr/>
          <p:nvPr/>
        </p:nvSpPr>
        <p:spPr>
          <a:xfrm>
            <a:off x="1216152" y="3227832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02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경험이나 생각이 담긴 글.</a:t>
            </a:r>
            <a:endParaRPr lang="en-US" sz="1020"/>
          </a:p>
        </p:txBody>
      </p:sp>
      <p:sp>
        <p:nvSpPr>
          <p:cNvPr id="17" name="Text 15"/>
          <p:cNvSpPr/>
          <p:nvPr/>
        </p:nvSpPr>
        <p:spPr>
          <a:xfrm>
            <a:off x="987552" y="3694176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920">
                <a:solidFill>
                  <a:srgbClr val="6b7280"/>
                </a:solidFill>
                <a:latin typeface="Noto Sans CJK KR"/>
                <a:ea typeface="Noto Sans CJK KR"/>
                <a:cs typeface="Noto Sans CJK KR"/>
              </a:rPr>
              <a:t>□</a:t>
            </a:r>
            <a:endParaRPr lang="en-US" sz="920"/>
          </a:p>
        </p:txBody>
      </p:sp>
      <p:sp>
        <p:nvSpPr>
          <p:cNvPr id="18" name="Text 16"/>
          <p:cNvSpPr/>
          <p:nvPr/>
        </p:nvSpPr>
        <p:spPr>
          <a:xfrm>
            <a:off x="1216152" y="3675888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02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생활 방식이 드러나는 글.</a:t>
            </a:r>
            <a:endParaRPr lang="en-US" sz="1020"/>
          </a:p>
        </p:txBody>
      </p:sp>
      <p:sp>
        <p:nvSpPr>
          <p:cNvPr id="19" name="Text 17"/>
          <p:cNvSpPr/>
          <p:nvPr/>
        </p:nvSpPr>
        <p:spPr>
          <a:xfrm>
            <a:off x="987552" y="4142232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920">
                <a:solidFill>
                  <a:srgbClr val="6b7280"/>
                </a:solidFill>
                <a:latin typeface="Noto Sans CJK KR"/>
                <a:ea typeface="Noto Sans CJK KR"/>
                <a:cs typeface="Noto Sans CJK KR"/>
              </a:rPr>
              <a:t>□</a:t>
            </a:r>
            <a:endParaRPr lang="en-US" sz="920"/>
          </a:p>
        </p:txBody>
      </p:sp>
      <p:sp>
        <p:nvSpPr>
          <p:cNvPr id="20" name="Text 18"/>
          <p:cNvSpPr/>
          <p:nvPr/>
        </p:nvSpPr>
        <p:spPr>
          <a:xfrm>
            <a:off x="1216152" y="4123944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02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소비 기준이 드러나는 글.</a:t>
            </a:r>
            <a:endParaRPr lang="en-US" sz="1020"/>
          </a:p>
        </p:txBody>
      </p:sp>
      <p:sp>
        <p:nvSpPr>
          <p:cNvPr id="21" name="Text 19"/>
          <p:cNvSpPr/>
          <p:nvPr/>
        </p:nvSpPr>
        <p:spPr>
          <a:xfrm>
            <a:off x="987552" y="4590288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920">
                <a:solidFill>
                  <a:srgbClr val="6b7280"/>
                </a:solidFill>
                <a:latin typeface="Noto Sans CJK KR"/>
                <a:ea typeface="Noto Sans CJK KR"/>
                <a:cs typeface="Noto Sans CJK KR"/>
              </a:rPr>
              <a:t>□</a:t>
            </a:r>
            <a:endParaRPr lang="en-US" sz="920"/>
          </a:p>
        </p:txBody>
      </p:sp>
      <p:sp>
        <p:nvSpPr>
          <p:cNvPr id="22" name="Text 20"/>
          <p:cNvSpPr/>
          <p:nvPr/>
        </p:nvSpPr>
        <p:spPr>
          <a:xfrm>
            <a:off x="1216152" y="4572000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02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댓글에 자연스럽게 답하는 글.</a:t>
            </a:r>
            <a:endParaRPr lang="en-US" sz="1020"/>
          </a:p>
        </p:txBody>
      </p:sp>
      <p:sp>
        <p:nvSpPr>
          <p:cNvPr id="23" name="Text 21"/>
          <p:cNvSpPr/>
          <p:nvPr/>
        </p:nvSpPr>
        <p:spPr>
          <a:xfrm>
            <a:off x="987552" y="5038344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920">
                <a:solidFill>
                  <a:srgbClr val="6b7280"/>
                </a:solidFill>
                <a:latin typeface="Noto Sans CJK KR"/>
                <a:ea typeface="Noto Sans CJK KR"/>
                <a:cs typeface="Noto Sans CJK KR"/>
              </a:rPr>
              <a:t>□</a:t>
            </a:r>
            <a:endParaRPr lang="en-US" sz="920"/>
          </a:p>
        </p:txBody>
      </p:sp>
      <p:sp>
        <p:nvSpPr>
          <p:cNvPr id="24" name="Text 22"/>
          <p:cNvSpPr/>
          <p:nvPr/>
        </p:nvSpPr>
        <p:spPr>
          <a:xfrm>
            <a:off x="1216152" y="5020056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02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반응 좋은 쿠파스 글.</a:t>
            </a:r>
            <a:endParaRPr lang="en-US" sz="1020"/>
          </a:p>
        </p:txBody>
      </p:sp>
      <p:sp>
        <p:nvSpPr>
          <p:cNvPr id="25" name="Text 23"/>
          <p:cNvSpPr/>
          <p:nvPr/>
        </p:nvSpPr>
        <p:spPr>
          <a:xfrm>
            <a:off x="6583680" y="2350008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920">
                <a:solidFill>
                  <a:srgbClr val="6b7280"/>
                </a:solidFill>
                <a:latin typeface="Noto Sans CJK KR"/>
                <a:ea typeface="Noto Sans CJK KR"/>
                <a:cs typeface="Noto Sans CJK KR"/>
              </a:rPr>
              <a:t>□</a:t>
            </a:r>
            <a:endParaRPr lang="en-US" sz="920"/>
          </a:p>
        </p:txBody>
      </p:sp>
      <p:sp>
        <p:nvSpPr>
          <p:cNvPr id="26" name="Text 24"/>
          <p:cNvSpPr/>
          <p:nvPr/>
        </p:nvSpPr>
        <p:spPr>
          <a:xfrm>
            <a:off x="6812280" y="2331720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02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맞팔 목적 글.</a:t>
            </a:r>
            <a:endParaRPr lang="en-US" sz="1020"/>
          </a:p>
        </p:txBody>
      </p:sp>
      <p:sp>
        <p:nvSpPr>
          <p:cNvPr id="27" name="Text 25"/>
          <p:cNvSpPr/>
          <p:nvPr/>
        </p:nvSpPr>
        <p:spPr>
          <a:xfrm>
            <a:off x="6583680" y="2798064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920">
                <a:solidFill>
                  <a:srgbClr val="6b7280"/>
                </a:solidFill>
                <a:latin typeface="Noto Sans CJK KR"/>
                <a:ea typeface="Noto Sans CJK KR"/>
                <a:cs typeface="Noto Sans CJK KR"/>
              </a:rPr>
              <a:t>□</a:t>
            </a:r>
            <a:endParaRPr lang="en-US" sz="920"/>
          </a:p>
        </p:txBody>
      </p:sp>
      <p:sp>
        <p:nvSpPr>
          <p:cNvPr id="28" name="Text 26"/>
          <p:cNvSpPr/>
          <p:nvPr/>
        </p:nvSpPr>
        <p:spPr>
          <a:xfrm>
            <a:off x="6812280" y="2779776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02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스하리·스팔 중심 글.</a:t>
            </a:r>
            <a:endParaRPr lang="en-US" sz="1020"/>
          </a:p>
        </p:txBody>
      </p:sp>
      <p:sp>
        <p:nvSpPr>
          <p:cNvPr id="29" name="Text 27"/>
          <p:cNvSpPr/>
          <p:nvPr/>
        </p:nvSpPr>
        <p:spPr>
          <a:xfrm>
            <a:off x="6583680" y="3246120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920">
                <a:solidFill>
                  <a:srgbClr val="6b7280"/>
                </a:solidFill>
                <a:latin typeface="Noto Sans CJK KR"/>
                <a:ea typeface="Noto Sans CJK KR"/>
                <a:cs typeface="Noto Sans CJK KR"/>
              </a:rPr>
              <a:t>□</a:t>
            </a:r>
            <a:endParaRPr lang="en-US" sz="920"/>
          </a:p>
        </p:txBody>
      </p:sp>
      <p:sp>
        <p:nvSpPr>
          <p:cNvPr id="30" name="Text 28"/>
          <p:cNvSpPr/>
          <p:nvPr/>
        </p:nvSpPr>
        <p:spPr>
          <a:xfrm>
            <a:off x="6812280" y="3227832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02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소통 자체만 목적인 글.</a:t>
            </a:r>
            <a:endParaRPr lang="en-US" sz="1020"/>
          </a:p>
        </p:txBody>
      </p:sp>
      <p:sp>
        <p:nvSpPr>
          <p:cNvPr id="31" name="Text 29"/>
          <p:cNvSpPr/>
          <p:nvPr/>
        </p:nvSpPr>
        <p:spPr>
          <a:xfrm>
            <a:off x="6583680" y="3694176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920">
                <a:solidFill>
                  <a:srgbClr val="6b7280"/>
                </a:solidFill>
                <a:latin typeface="Noto Sans CJK KR"/>
                <a:ea typeface="Noto Sans CJK KR"/>
                <a:cs typeface="Noto Sans CJK KR"/>
              </a:rPr>
              <a:t>□</a:t>
            </a:r>
            <a:endParaRPr lang="en-US" sz="920"/>
          </a:p>
        </p:txBody>
      </p:sp>
      <p:sp>
        <p:nvSpPr>
          <p:cNvPr id="32" name="Text 30"/>
          <p:cNvSpPr/>
          <p:nvPr/>
        </p:nvSpPr>
        <p:spPr>
          <a:xfrm>
            <a:off x="6812280" y="3675888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02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페르소나와 무관한 이슈 글.</a:t>
            </a:r>
            <a:endParaRPr lang="en-US" sz="1020"/>
          </a:p>
        </p:txBody>
      </p:sp>
      <p:sp>
        <p:nvSpPr>
          <p:cNvPr id="33" name="Text 31"/>
          <p:cNvSpPr/>
          <p:nvPr/>
        </p:nvSpPr>
        <p:spPr>
          <a:xfrm>
            <a:off x="6583680" y="4142232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920">
                <a:solidFill>
                  <a:srgbClr val="6b7280"/>
                </a:solidFill>
                <a:latin typeface="Noto Sans CJK KR"/>
                <a:ea typeface="Noto Sans CJK KR"/>
                <a:cs typeface="Noto Sans CJK KR"/>
              </a:rPr>
              <a:t>□</a:t>
            </a:r>
            <a:endParaRPr lang="en-US" sz="920"/>
          </a:p>
        </p:txBody>
      </p:sp>
      <p:sp>
        <p:nvSpPr>
          <p:cNvPr id="34" name="Text 32"/>
          <p:cNvSpPr/>
          <p:nvPr/>
        </p:nvSpPr>
        <p:spPr>
          <a:xfrm>
            <a:off x="6812280" y="4123944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02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정치·혐오·논쟁 콘텐츠.</a:t>
            </a:r>
            <a:endParaRPr lang="en-US" sz="1020"/>
          </a:p>
        </p:txBody>
      </p:sp>
      <p:sp>
        <p:nvSpPr>
          <p:cNvPr id="35" name="Text 33"/>
          <p:cNvSpPr/>
          <p:nvPr/>
        </p:nvSpPr>
        <p:spPr>
          <a:xfrm>
            <a:off x="6583680" y="4590288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920">
                <a:solidFill>
                  <a:srgbClr val="6b7280"/>
                </a:solidFill>
                <a:latin typeface="Noto Sans CJK KR"/>
                <a:ea typeface="Noto Sans CJK KR"/>
                <a:cs typeface="Noto Sans CJK KR"/>
              </a:rPr>
              <a:t>□</a:t>
            </a:r>
            <a:endParaRPr lang="en-US" sz="920"/>
          </a:p>
        </p:txBody>
      </p:sp>
      <p:sp>
        <p:nvSpPr>
          <p:cNvPr id="36" name="Text 34"/>
          <p:cNvSpPr/>
          <p:nvPr/>
        </p:nvSpPr>
        <p:spPr>
          <a:xfrm>
            <a:off x="6812280" y="4572000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02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반복 댓글이 많은 글.</a:t>
            </a:r>
            <a:endParaRPr lang="en-US" sz="1020"/>
          </a:p>
        </p:txBody>
      </p:sp>
      <p:sp>
        <p:nvSpPr>
          <p:cNvPr id="37" name="Text 35"/>
          <p:cNvSpPr/>
          <p:nvPr/>
        </p:nvSpPr>
        <p:spPr>
          <a:xfrm>
            <a:off x="6583680" y="5038344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920">
                <a:solidFill>
                  <a:srgbClr val="6b7280"/>
                </a:solidFill>
                <a:latin typeface="Noto Sans CJK KR"/>
                <a:ea typeface="Noto Sans CJK KR"/>
                <a:cs typeface="Noto Sans CJK KR"/>
              </a:rPr>
              <a:t>□</a:t>
            </a:r>
            <a:endParaRPr lang="en-US" sz="920"/>
          </a:p>
        </p:txBody>
      </p:sp>
      <p:sp>
        <p:nvSpPr>
          <p:cNvPr id="38" name="Text 36"/>
          <p:cNvSpPr/>
          <p:nvPr/>
        </p:nvSpPr>
        <p:spPr>
          <a:xfrm>
            <a:off x="6812280" y="5020056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02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광고 티가 강한 글.</a:t>
            </a:r>
            <a:endParaRPr lang="en-US" sz="102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14">
    <p:bg>
      <p:bgPr shadeToTitle="0"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2100" b="1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STEP 11. 최소 상호작용 기준</a:t>
            </a:r>
            <a:endParaRPr lang="en-US" sz="210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850">
                <a:solidFill>
                  <a:srgbClr val="6b7280"/>
                </a:solidFill>
                <a:latin typeface="Noto Sans CJK KR"/>
                <a:ea typeface="Noto Sans CJK KR"/>
                <a:cs typeface="Noto Sans CJK KR"/>
              </a:rPr>
              <a:t>많이 하는 것이 목적이 아니라 자연스러운 사용 흐름을 만드는 것이 목적입니다.</a:t>
            </a:r>
            <a:endParaRPr lang="en-US" sz="850"/>
          </a:p>
        </p:txBody>
      </p:sp>
      <p:sp>
        <p:nvSpPr>
          <p:cNvPr id="4" name="Text 2"/>
          <p:cNvSpPr/>
          <p:nvPr/>
        </p:nvSpPr>
        <p:spPr>
          <a:xfrm>
            <a:off x="502920" y="6510528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560">
                <a:solidFill>
                  <a:srgbClr val="9ca3af"/>
                </a:solidFill>
                <a:latin typeface="Noto Sans CJK KR"/>
                <a:ea typeface="Noto Sans CJK KR"/>
                <a:cs typeface="Noto Sans CJK KR"/>
              </a:rPr>
              <a:t>DAY 2 사전 세팅 · 14</a:t>
            </a:r>
            <a:endParaRPr lang="en-US" sz="560"/>
          </a:p>
        </p:txBody>
      </p:sp>
      <p:sp>
        <p:nvSpPr>
          <p:cNvPr id="5" name="Shape 3"/>
          <p:cNvSpPr/>
          <p:nvPr/>
        </p:nvSpPr>
        <p:spPr>
          <a:xfrm>
            <a:off x="868680" y="1463040"/>
            <a:ext cx="4800600" cy="3337560"/>
          </a:xfrm>
          <a:prstGeom prst="roundRect">
            <a:avLst>
              <a:gd name="adj" fmla="val 2466"/>
            </a:avLst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492240" y="1463040"/>
            <a:ext cx="4800600" cy="3337560"/>
          </a:xfrm>
          <a:prstGeom prst="roundRect">
            <a:avLst>
              <a:gd name="adj" fmla="val 2466"/>
            </a:avLst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115568" y="1737360"/>
            <a:ext cx="1572768" cy="310896"/>
          </a:xfrm>
          <a:prstGeom prst="roundRect">
            <a:avLst>
              <a:gd name="adj" fmla="val 23529"/>
            </a:avLst>
          </a:prstGeom>
          <a:solidFill>
            <a:srgbClr val="6c55f7"/>
          </a:solidFill>
          <a:ln w="12700">
            <a:solidFill>
              <a:srgbClr val="6c55f7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170432" y="1810512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좋아요 0~3개</a:t>
            </a:r>
            <a:endParaRPr lang="en-US" sz="1000"/>
          </a:p>
        </p:txBody>
      </p:sp>
      <p:sp>
        <p:nvSpPr>
          <p:cNvPr id="9" name="Shape 7"/>
          <p:cNvSpPr/>
          <p:nvPr/>
        </p:nvSpPr>
        <p:spPr>
          <a:xfrm>
            <a:off x="1115568" y="2432304"/>
            <a:ext cx="109728" cy="109728"/>
          </a:xfrm>
          <a:prstGeom prst="ellipse">
            <a:avLst/>
          </a:prstGeom>
          <a:solidFill>
            <a:srgbClr val="6c55f7"/>
          </a:solidFill>
          <a:ln w="12700">
            <a:solidFill>
              <a:srgbClr val="6c55f7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408176" y="2331720"/>
            <a:ext cx="3776472" cy="612648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 lnSpcReduction="10000"/>
          </a:bodyPr>
          <a:lstStyle/>
          <a:p>
            <a:pPr marL="0" indent="0">
              <a:lnSpc>
                <a:spcPct val="120000"/>
              </a:lnSpc>
              <a:buNone/>
              <a:defRPr/>
            </a:pPr>
            <a:r>
              <a:rPr lang="ko-KR" altLang="en-US" sz="102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페르소나 계정세팅 할 때 제공받은</a:t>
            </a:r>
            <a:endParaRPr lang="en-US" altLang="ko-KR" sz="1020">
              <a:solidFill>
                <a:srgbClr val="111827"/>
              </a:solidFill>
              <a:latin typeface="Noto Sans CJK KR"/>
              <a:ea typeface="Noto Sans CJK KR"/>
              <a:cs typeface="Noto Sans CJK KR"/>
            </a:endParaRPr>
          </a:p>
          <a:p>
            <a:pPr marL="0" indent="0">
              <a:lnSpc>
                <a:spcPct val="120000"/>
              </a:lnSpc>
              <a:buNone/>
              <a:defRPr/>
            </a:pPr>
            <a:r>
              <a:rPr lang="en-US" altLang="ko-KR" sz="102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“</a:t>
            </a:r>
            <a:r>
              <a:rPr lang="ko-KR" altLang="en-US" sz="102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추천탭에서 우선 읽을 글 유형</a:t>
            </a:r>
            <a:r>
              <a:rPr lang="en-US" altLang="ko-KR" sz="102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”</a:t>
            </a:r>
            <a:r>
              <a:rPr lang="en-US" sz="102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lang="ko-KR" altLang="en-US" sz="102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위주의 글 위주로 </a:t>
            </a:r>
            <a:r>
              <a:rPr lang="en-US" sz="102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누르기.</a:t>
            </a:r>
            <a:endParaRPr lang="en-US" sz="1020">
              <a:solidFill>
                <a:srgbClr val="111827"/>
              </a:solidFill>
              <a:latin typeface="Noto Sans CJK KR"/>
              <a:ea typeface="Noto Sans CJK KR"/>
              <a:cs typeface="Noto Sans CJK KR"/>
            </a:endParaRPr>
          </a:p>
          <a:p>
            <a:pPr marL="0" indent="0">
              <a:lnSpc>
                <a:spcPct val="120000"/>
              </a:lnSpc>
              <a:buNone/>
              <a:defRPr/>
            </a:pPr>
            <a:r>
              <a:rPr lang="en-US" altLang="ko-KR" sz="102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(AI</a:t>
            </a:r>
            <a:r>
              <a:rPr lang="ko-KR" altLang="en-US" sz="102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 계정 세팅에 들어간 후 대화 목록에서 기존 내용 확인 가능</a:t>
            </a:r>
            <a:r>
              <a:rPr lang="en-US" altLang="ko-KR" sz="102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)</a:t>
            </a:r>
            <a:endParaRPr lang="en-US" altLang="ko-KR" sz="1020">
              <a:solidFill>
                <a:srgbClr val="111827"/>
              </a:solidFill>
              <a:latin typeface="Noto Sans CJK KR"/>
              <a:ea typeface="Noto Sans CJK KR"/>
              <a:cs typeface="Noto Sans CJK KR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115568" y="3156204"/>
            <a:ext cx="109728" cy="109728"/>
          </a:xfrm>
          <a:prstGeom prst="ellipse">
            <a:avLst/>
          </a:prstGeom>
          <a:solidFill>
            <a:srgbClr val="6c55f7"/>
          </a:solidFill>
          <a:ln w="12700">
            <a:solidFill>
              <a:srgbClr val="6c55f7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408176" y="3055620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02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0개여도 괜찮음.</a:t>
            </a:r>
            <a:endParaRPr lang="en-US" sz="1020"/>
          </a:p>
        </p:txBody>
      </p:sp>
      <p:sp>
        <p:nvSpPr>
          <p:cNvPr id="13" name="Shape 11"/>
          <p:cNvSpPr/>
          <p:nvPr/>
        </p:nvSpPr>
        <p:spPr>
          <a:xfrm>
            <a:off x="1115568" y="3613404"/>
            <a:ext cx="109728" cy="109728"/>
          </a:xfrm>
          <a:prstGeom prst="ellipse">
            <a:avLst/>
          </a:prstGeom>
          <a:solidFill>
            <a:srgbClr val="6c55f7"/>
          </a:solidFill>
          <a:ln w="12700">
            <a:solidFill>
              <a:srgbClr val="6c55f7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408176" y="3512820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02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숫자 채우려고 억지로 누르지 않기.</a:t>
            </a:r>
            <a:endParaRPr lang="en-US" sz="1020"/>
          </a:p>
        </p:txBody>
      </p:sp>
      <p:sp>
        <p:nvSpPr>
          <p:cNvPr id="15" name="Shape 13"/>
          <p:cNvSpPr/>
          <p:nvPr/>
        </p:nvSpPr>
        <p:spPr>
          <a:xfrm>
            <a:off x="1115568" y="4070604"/>
            <a:ext cx="109728" cy="109728"/>
          </a:xfrm>
          <a:prstGeom prst="ellipse">
            <a:avLst/>
          </a:prstGeom>
          <a:solidFill>
            <a:srgbClr val="6c55f7"/>
          </a:solidFill>
          <a:ln w="12700">
            <a:solidFill>
              <a:srgbClr val="6c55f7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1408176" y="3970020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02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짧은 시간에 연속으로 누르지 않기.</a:t>
            </a:r>
            <a:endParaRPr lang="en-US" sz="1020"/>
          </a:p>
        </p:txBody>
      </p:sp>
      <p:sp>
        <p:nvSpPr>
          <p:cNvPr id="17" name="Shape 15"/>
          <p:cNvSpPr/>
          <p:nvPr/>
        </p:nvSpPr>
        <p:spPr>
          <a:xfrm>
            <a:off x="6739128" y="1737360"/>
            <a:ext cx="1188720" cy="310896"/>
          </a:xfrm>
          <a:prstGeom prst="roundRect">
            <a:avLst>
              <a:gd name="adj" fmla="val 23529"/>
            </a:avLst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793992" y="1810512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댓글 1개</a:t>
            </a:r>
            <a:endParaRPr lang="en-US" sz="1000"/>
          </a:p>
        </p:txBody>
      </p:sp>
      <p:sp>
        <p:nvSpPr>
          <p:cNvPr id="19" name="Shape 17"/>
          <p:cNvSpPr/>
          <p:nvPr/>
        </p:nvSpPr>
        <p:spPr>
          <a:xfrm>
            <a:off x="6739128" y="2432304"/>
            <a:ext cx="109728" cy="10972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7031736" y="2331720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02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댓글에 답변이 있는 글 찾기.</a:t>
            </a:r>
            <a:endParaRPr lang="en-US" sz="1020"/>
          </a:p>
        </p:txBody>
      </p:sp>
      <p:sp>
        <p:nvSpPr>
          <p:cNvPr id="21" name="Shape 19"/>
          <p:cNvSpPr/>
          <p:nvPr/>
        </p:nvSpPr>
        <p:spPr>
          <a:xfrm>
            <a:off x="6739128" y="2889504"/>
            <a:ext cx="109728" cy="10972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7031736" y="2788920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02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글 내용에 맞는 댓글 1개 작성.</a:t>
            </a:r>
            <a:endParaRPr lang="en-US" sz="1020"/>
          </a:p>
        </p:txBody>
      </p:sp>
      <p:sp>
        <p:nvSpPr>
          <p:cNvPr id="23" name="Shape 21"/>
          <p:cNvSpPr/>
          <p:nvPr/>
        </p:nvSpPr>
        <p:spPr>
          <a:xfrm>
            <a:off x="6739128" y="3346704"/>
            <a:ext cx="109728" cy="10972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7031736" y="3246120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02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복붙 댓글 사용 금지.</a:t>
            </a:r>
            <a:endParaRPr lang="en-US" sz="1020"/>
          </a:p>
        </p:txBody>
      </p:sp>
      <p:sp>
        <p:nvSpPr>
          <p:cNvPr id="25" name="Shape 23"/>
          <p:cNvSpPr/>
          <p:nvPr/>
        </p:nvSpPr>
        <p:spPr>
          <a:xfrm>
            <a:off x="6739128" y="3803904"/>
            <a:ext cx="109728" cy="10972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7031736" y="3703320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02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답변이 오면 자연스럽게 이어가기.</a:t>
            </a:r>
            <a:r>
              <a:rPr lang="ko-KR" altLang="en-US" sz="102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lang="en-US" altLang="ko-KR" sz="102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(BEST)</a:t>
            </a:r>
            <a:endParaRPr lang="en-US" altLang="ko-KR" sz="1020">
              <a:solidFill>
                <a:srgbClr val="111827"/>
              </a:solidFill>
              <a:latin typeface="Noto Sans CJK KR"/>
              <a:ea typeface="Noto Sans CJK KR"/>
              <a:cs typeface="Noto Sans CJK KR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1508760" y="5349240"/>
            <a:ext cx="9189720" cy="566928"/>
          </a:xfrm>
          <a:prstGeom prst="roundRect">
            <a:avLst>
              <a:gd name="adj" fmla="val 14516"/>
            </a:avLst>
          </a:prstGeom>
          <a:solidFill>
            <a:srgbClr val="fff7ed"/>
          </a:solidFill>
          <a:ln w="8890">
            <a:solidFill>
              <a:srgbClr val="fed7aa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1737360" y="5477256"/>
            <a:ext cx="8732520" cy="347472"/>
          </a:xfrm>
          <a:prstGeom prst="rect">
            <a:avLst/>
          </a:prstGeom>
          <a:noFill/>
          <a:ln/>
        </p:spPr>
        <p:txBody>
          <a:bodyPr wrap="square" lIns="254" tIns="254" rIns="254" bIns="254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850" b="1">
                <a:solidFill>
                  <a:srgbClr val="92400e"/>
                </a:solidFill>
                <a:latin typeface="Noto Sans CJK KR"/>
                <a:ea typeface="Noto Sans CJK KR"/>
                <a:cs typeface="Noto Sans CJK KR"/>
              </a:rPr>
              <a:t>좋아요 0~3개 / 댓글 1개는 Meta 공식 수치가 아니라, 신규 계정을 보수적으로 운영하기 위한 강의 내부 기준입니다.</a:t>
            </a:r>
            <a:endParaRPr lang="en-US" sz="850"/>
          </a:p>
        </p:txBody>
      </p:sp>
      <p:pic>
        <p:nvPicPr>
          <p:cNvPr id="30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487467" y="1911477"/>
            <a:ext cx="2132489" cy="5756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15">
    <p:bg>
      <p:bgPr shadeToTitle="0"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2100" b="1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STEP 12. DAY 2에는 아직 게시하지 않기</a:t>
            </a:r>
            <a:endParaRPr lang="en-US" sz="210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850">
                <a:solidFill>
                  <a:srgbClr val="6b7280"/>
                </a:solidFill>
                <a:latin typeface="Noto Sans CJK KR"/>
                <a:ea typeface="Noto Sans CJK KR"/>
                <a:cs typeface="Noto Sans CJK KR"/>
              </a:rPr>
              <a:t>인지작업이 끝났다고 바로 글을 올리지 않습니다.</a:t>
            </a:r>
            <a:endParaRPr lang="en-US" sz="850"/>
          </a:p>
        </p:txBody>
      </p:sp>
      <p:sp>
        <p:nvSpPr>
          <p:cNvPr id="4" name="Text 2"/>
          <p:cNvSpPr/>
          <p:nvPr/>
        </p:nvSpPr>
        <p:spPr>
          <a:xfrm>
            <a:off x="502920" y="6510528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560">
                <a:solidFill>
                  <a:srgbClr val="9ca3af"/>
                </a:solidFill>
                <a:latin typeface="Noto Sans CJK KR"/>
                <a:ea typeface="Noto Sans CJK KR"/>
                <a:cs typeface="Noto Sans CJK KR"/>
              </a:rPr>
              <a:t>DAY 2 사전 세팅 · 15</a:t>
            </a:r>
            <a:endParaRPr lang="en-US" sz="560"/>
          </a:p>
        </p:txBody>
      </p:sp>
      <p:sp>
        <p:nvSpPr>
          <p:cNvPr id="5" name="Shape 3"/>
          <p:cNvSpPr/>
          <p:nvPr/>
        </p:nvSpPr>
        <p:spPr>
          <a:xfrm>
            <a:off x="713232" y="1536192"/>
            <a:ext cx="5166360" cy="4343400"/>
          </a:xfrm>
          <a:prstGeom prst="roundRect">
            <a:avLst>
              <a:gd name="adj" fmla="val 1895"/>
            </a:avLst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309360" y="1536192"/>
            <a:ext cx="5166360" cy="4343400"/>
          </a:xfrm>
          <a:prstGeom prst="roundRect">
            <a:avLst>
              <a:gd name="adj" fmla="val 1895"/>
            </a:avLst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60120" y="1783080"/>
            <a:ext cx="1828800" cy="310896"/>
          </a:xfrm>
          <a:prstGeom prst="roundRect">
            <a:avLst>
              <a:gd name="adj" fmla="val 23529"/>
            </a:avLst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014984" y="1856232"/>
            <a:ext cx="1719072" cy="146304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DAY 2에 하는 것</a:t>
            </a:r>
            <a:endParaRPr lang="en-US" sz="1000"/>
          </a:p>
        </p:txBody>
      </p:sp>
      <p:sp>
        <p:nvSpPr>
          <p:cNvPr id="9" name="Shape 7"/>
          <p:cNvSpPr/>
          <p:nvPr/>
        </p:nvSpPr>
        <p:spPr>
          <a:xfrm>
            <a:off x="6556248" y="1783080"/>
            <a:ext cx="1828800" cy="310896"/>
          </a:xfrm>
          <a:prstGeom prst="roundRect">
            <a:avLst>
              <a:gd name="adj" fmla="val 23529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611112" y="1856232"/>
            <a:ext cx="1719072" cy="146304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DAY 2에 하지 않는 것</a:t>
            </a:r>
            <a:endParaRPr lang="en-US" sz="1000"/>
          </a:p>
        </p:txBody>
      </p:sp>
      <p:sp>
        <p:nvSpPr>
          <p:cNvPr id="11" name="Text 9"/>
          <p:cNvSpPr/>
          <p:nvPr/>
        </p:nvSpPr>
        <p:spPr>
          <a:xfrm>
            <a:off x="987552" y="2350008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920">
                <a:solidFill>
                  <a:srgbClr val="6b7280"/>
                </a:solidFill>
                <a:latin typeface="Noto Sans CJK KR"/>
                <a:ea typeface="Noto Sans CJK KR"/>
                <a:cs typeface="Noto Sans CJK KR"/>
              </a:rPr>
              <a:t>□</a:t>
            </a:r>
            <a:endParaRPr lang="en-US" sz="920"/>
          </a:p>
        </p:txBody>
      </p:sp>
      <p:sp>
        <p:nvSpPr>
          <p:cNvPr id="12" name="Text 10"/>
          <p:cNvSpPr/>
          <p:nvPr/>
        </p:nvSpPr>
        <p:spPr>
          <a:xfrm>
            <a:off x="1216152" y="2331720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02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수익화 채널 가입 확인.</a:t>
            </a:r>
            <a:endParaRPr lang="en-US" sz="1020"/>
          </a:p>
        </p:txBody>
      </p:sp>
      <p:sp>
        <p:nvSpPr>
          <p:cNvPr id="13" name="Text 11"/>
          <p:cNvSpPr/>
          <p:nvPr/>
        </p:nvSpPr>
        <p:spPr>
          <a:xfrm>
            <a:off x="987552" y="2798064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920">
                <a:solidFill>
                  <a:srgbClr val="6b7280"/>
                </a:solidFill>
                <a:latin typeface="Noto Sans CJK KR"/>
                <a:ea typeface="Noto Sans CJK KR"/>
                <a:cs typeface="Noto Sans CJK KR"/>
              </a:rPr>
              <a:t>□</a:t>
            </a:r>
            <a:endParaRPr lang="en-US" sz="920"/>
          </a:p>
        </p:txBody>
      </p:sp>
      <p:sp>
        <p:nvSpPr>
          <p:cNvPr id="14" name="Text 12"/>
          <p:cNvSpPr/>
          <p:nvPr/>
        </p:nvSpPr>
        <p:spPr>
          <a:xfrm>
            <a:off x="1216152" y="2779776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02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Threads 신규 가입.</a:t>
            </a:r>
            <a:endParaRPr lang="en-US" sz="1020"/>
          </a:p>
        </p:txBody>
      </p:sp>
      <p:sp>
        <p:nvSpPr>
          <p:cNvPr id="15" name="Text 13"/>
          <p:cNvSpPr/>
          <p:nvPr/>
        </p:nvSpPr>
        <p:spPr>
          <a:xfrm>
            <a:off x="987552" y="3246120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920">
                <a:solidFill>
                  <a:srgbClr val="6b7280"/>
                </a:solidFill>
                <a:latin typeface="Noto Sans CJK KR"/>
                <a:ea typeface="Noto Sans CJK KR"/>
                <a:cs typeface="Noto Sans CJK KR"/>
              </a:rPr>
              <a:t>□</a:t>
            </a:r>
            <a:endParaRPr lang="en-US" sz="920"/>
          </a:p>
        </p:txBody>
      </p:sp>
      <p:sp>
        <p:nvSpPr>
          <p:cNvPr id="16" name="Text 14"/>
          <p:cNvSpPr/>
          <p:nvPr/>
        </p:nvSpPr>
        <p:spPr>
          <a:xfrm>
            <a:off x="1216152" y="3227832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02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공개 프로필 선택.</a:t>
            </a:r>
            <a:endParaRPr lang="en-US" sz="1020"/>
          </a:p>
        </p:txBody>
      </p:sp>
      <p:sp>
        <p:nvSpPr>
          <p:cNvPr id="17" name="Text 15"/>
          <p:cNvSpPr/>
          <p:nvPr/>
        </p:nvSpPr>
        <p:spPr>
          <a:xfrm>
            <a:off x="987552" y="3694176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920">
                <a:solidFill>
                  <a:srgbClr val="6b7280"/>
                </a:solidFill>
                <a:latin typeface="Noto Sans CJK KR"/>
                <a:ea typeface="Noto Sans CJK KR"/>
                <a:cs typeface="Noto Sans CJK KR"/>
              </a:rPr>
              <a:t>□</a:t>
            </a:r>
            <a:endParaRPr lang="en-US" sz="920"/>
          </a:p>
        </p:txBody>
      </p:sp>
      <p:sp>
        <p:nvSpPr>
          <p:cNvPr id="18" name="Text 16"/>
          <p:cNvSpPr/>
          <p:nvPr/>
        </p:nvSpPr>
        <p:spPr>
          <a:xfrm>
            <a:off x="1216152" y="3675888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02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TOP 8 키워드 검색.</a:t>
            </a:r>
            <a:endParaRPr lang="en-US" sz="1020"/>
          </a:p>
        </p:txBody>
      </p:sp>
      <p:sp>
        <p:nvSpPr>
          <p:cNvPr id="19" name="Text 17"/>
          <p:cNvSpPr/>
          <p:nvPr/>
        </p:nvSpPr>
        <p:spPr>
          <a:xfrm>
            <a:off x="987552" y="4142232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920">
                <a:solidFill>
                  <a:srgbClr val="6b7280"/>
                </a:solidFill>
                <a:latin typeface="Noto Sans CJK KR"/>
                <a:ea typeface="Noto Sans CJK KR"/>
                <a:cs typeface="Noto Sans CJK KR"/>
              </a:rPr>
              <a:t>□</a:t>
            </a:r>
            <a:endParaRPr lang="en-US" sz="920"/>
          </a:p>
        </p:txBody>
      </p:sp>
      <p:sp>
        <p:nvSpPr>
          <p:cNvPr id="20" name="Text 18"/>
          <p:cNvSpPr/>
          <p:nvPr/>
        </p:nvSpPr>
        <p:spPr>
          <a:xfrm>
            <a:off x="1216152" y="4123944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02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관련 콘텐츠 관찰.</a:t>
            </a:r>
            <a:endParaRPr lang="en-US" sz="1020"/>
          </a:p>
        </p:txBody>
      </p:sp>
      <p:sp>
        <p:nvSpPr>
          <p:cNvPr id="21" name="Text 19"/>
          <p:cNvSpPr/>
          <p:nvPr/>
        </p:nvSpPr>
        <p:spPr>
          <a:xfrm>
            <a:off x="987552" y="4590288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920">
                <a:solidFill>
                  <a:srgbClr val="6b7280"/>
                </a:solidFill>
                <a:latin typeface="Noto Sans CJK KR"/>
                <a:ea typeface="Noto Sans CJK KR"/>
                <a:cs typeface="Noto Sans CJK KR"/>
              </a:rPr>
              <a:t>□</a:t>
            </a:r>
            <a:endParaRPr lang="en-US" sz="920"/>
          </a:p>
        </p:txBody>
      </p:sp>
      <p:sp>
        <p:nvSpPr>
          <p:cNvPr id="22" name="Text 20"/>
          <p:cNvSpPr/>
          <p:nvPr/>
        </p:nvSpPr>
        <p:spPr>
          <a:xfrm>
            <a:off x="1216152" y="4572000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02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좋아요 0~3개 / 댓글 1개.</a:t>
            </a:r>
            <a:endParaRPr lang="en-US" sz="1020"/>
          </a:p>
        </p:txBody>
      </p:sp>
      <p:sp>
        <p:nvSpPr>
          <p:cNvPr id="23" name="Text 21"/>
          <p:cNvSpPr/>
          <p:nvPr/>
        </p:nvSpPr>
        <p:spPr>
          <a:xfrm>
            <a:off x="6583680" y="2350008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920">
                <a:solidFill>
                  <a:srgbClr val="6b7280"/>
                </a:solidFill>
                <a:latin typeface="Noto Sans CJK KR"/>
                <a:ea typeface="Noto Sans CJK KR"/>
                <a:cs typeface="Noto Sans CJK KR"/>
              </a:rPr>
              <a:t>□</a:t>
            </a:r>
            <a:endParaRPr lang="en-US" sz="920"/>
          </a:p>
        </p:txBody>
      </p:sp>
      <p:sp>
        <p:nvSpPr>
          <p:cNvPr id="24" name="Text 22"/>
          <p:cNvSpPr/>
          <p:nvPr/>
        </p:nvSpPr>
        <p:spPr>
          <a:xfrm>
            <a:off x="6812280" y="2331720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02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일상글 발행.</a:t>
            </a:r>
            <a:endParaRPr lang="en-US" sz="1020"/>
          </a:p>
        </p:txBody>
      </p:sp>
      <p:sp>
        <p:nvSpPr>
          <p:cNvPr id="25" name="Text 23"/>
          <p:cNvSpPr/>
          <p:nvPr/>
        </p:nvSpPr>
        <p:spPr>
          <a:xfrm>
            <a:off x="6583680" y="2798064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920">
                <a:solidFill>
                  <a:srgbClr val="6b7280"/>
                </a:solidFill>
                <a:latin typeface="Noto Sans CJK KR"/>
                <a:ea typeface="Noto Sans CJK KR"/>
                <a:cs typeface="Noto Sans CJK KR"/>
              </a:rPr>
              <a:t>□</a:t>
            </a:r>
            <a:endParaRPr lang="en-US" sz="920"/>
          </a:p>
        </p:txBody>
      </p:sp>
      <p:sp>
        <p:nvSpPr>
          <p:cNvPr id="26" name="Text 24"/>
          <p:cNvSpPr/>
          <p:nvPr/>
        </p:nvSpPr>
        <p:spPr>
          <a:xfrm>
            <a:off x="6812280" y="2779776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02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쿠팡파트너스 게시물 발행.</a:t>
            </a:r>
            <a:endParaRPr lang="en-US" sz="1020"/>
          </a:p>
        </p:txBody>
      </p:sp>
      <p:sp>
        <p:nvSpPr>
          <p:cNvPr id="27" name="Text 25"/>
          <p:cNvSpPr/>
          <p:nvPr/>
        </p:nvSpPr>
        <p:spPr>
          <a:xfrm>
            <a:off x="6583680" y="3246120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920">
                <a:solidFill>
                  <a:srgbClr val="6b7280"/>
                </a:solidFill>
                <a:latin typeface="Noto Sans CJK KR"/>
                <a:ea typeface="Noto Sans CJK KR"/>
                <a:cs typeface="Noto Sans CJK KR"/>
              </a:rPr>
              <a:t>□</a:t>
            </a:r>
            <a:endParaRPr lang="en-US" sz="920"/>
          </a:p>
        </p:txBody>
      </p:sp>
      <p:sp>
        <p:nvSpPr>
          <p:cNvPr id="28" name="Text 26"/>
          <p:cNvSpPr/>
          <p:nvPr/>
        </p:nvSpPr>
        <p:spPr>
          <a:xfrm>
            <a:off x="6812280" y="3227832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02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토스쇼핑 게시물 발행.</a:t>
            </a:r>
            <a:endParaRPr lang="en-US" sz="1020"/>
          </a:p>
        </p:txBody>
      </p:sp>
      <p:sp>
        <p:nvSpPr>
          <p:cNvPr id="29" name="Text 27"/>
          <p:cNvSpPr/>
          <p:nvPr/>
        </p:nvSpPr>
        <p:spPr>
          <a:xfrm>
            <a:off x="6583680" y="3694176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920">
                <a:solidFill>
                  <a:srgbClr val="6b7280"/>
                </a:solidFill>
                <a:latin typeface="Noto Sans CJK KR"/>
                <a:ea typeface="Noto Sans CJK KR"/>
                <a:cs typeface="Noto Sans CJK KR"/>
              </a:rPr>
              <a:t>□</a:t>
            </a:r>
            <a:endParaRPr lang="en-US" sz="920"/>
          </a:p>
        </p:txBody>
      </p:sp>
      <p:sp>
        <p:nvSpPr>
          <p:cNvPr id="30" name="Text 28"/>
          <p:cNvSpPr/>
          <p:nvPr/>
        </p:nvSpPr>
        <p:spPr>
          <a:xfrm>
            <a:off x="6812280" y="3675888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02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외부 링크 등록.</a:t>
            </a:r>
            <a:endParaRPr lang="en-US" sz="1020"/>
          </a:p>
        </p:txBody>
      </p:sp>
      <p:sp>
        <p:nvSpPr>
          <p:cNvPr id="31" name="Text 29"/>
          <p:cNvSpPr/>
          <p:nvPr/>
        </p:nvSpPr>
        <p:spPr>
          <a:xfrm>
            <a:off x="6583680" y="4142232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920">
                <a:solidFill>
                  <a:srgbClr val="6b7280"/>
                </a:solidFill>
                <a:latin typeface="Noto Sans CJK KR"/>
                <a:ea typeface="Noto Sans CJK KR"/>
                <a:cs typeface="Noto Sans CJK KR"/>
              </a:rPr>
              <a:t>□</a:t>
            </a:r>
            <a:endParaRPr lang="en-US" sz="920"/>
          </a:p>
        </p:txBody>
      </p:sp>
      <p:sp>
        <p:nvSpPr>
          <p:cNvPr id="32" name="Text 30"/>
          <p:cNvSpPr/>
          <p:nvPr/>
        </p:nvSpPr>
        <p:spPr>
          <a:xfrm>
            <a:off x="6812280" y="4123944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02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상품 홍보 문구 작성.</a:t>
            </a:r>
            <a:endParaRPr lang="en-US" sz="1020"/>
          </a:p>
        </p:txBody>
      </p:sp>
      <p:sp>
        <p:nvSpPr>
          <p:cNvPr id="33" name="Text 31"/>
          <p:cNvSpPr/>
          <p:nvPr/>
        </p:nvSpPr>
        <p:spPr>
          <a:xfrm>
            <a:off x="6583680" y="4590288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>
              <a:buNone/>
              <a:defRPr/>
            </a:pPr>
            <a:r>
              <a:rPr lang="en-US" sz="920">
                <a:solidFill>
                  <a:srgbClr val="6b7280"/>
                </a:solidFill>
                <a:latin typeface="Noto Sans CJK KR"/>
                <a:ea typeface="Noto Sans CJK KR"/>
                <a:cs typeface="Noto Sans CJK KR"/>
              </a:rPr>
              <a:t>□</a:t>
            </a:r>
            <a:endParaRPr lang="en-US" sz="920"/>
          </a:p>
        </p:txBody>
      </p:sp>
      <p:sp>
        <p:nvSpPr>
          <p:cNvPr id="34" name="Text 32"/>
          <p:cNvSpPr/>
          <p:nvPr/>
        </p:nvSpPr>
        <p:spPr>
          <a:xfrm>
            <a:off x="6812280" y="4572000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/>
            </a:pPr>
            <a:r>
              <a:rPr lang="en-US" sz="1020">
                <a:solidFill>
                  <a:srgbClr val="111827"/>
                </a:solidFill>
                <a:latin typeface="Noto Sans CJK KR"/>
                <a:ea typeface="Noto Sans CJK KR"/>
                <a:cs typeface="Noto Sans CJK KR"/>
              </a:rPr>
              <a:t>프로필 반복 수정.</a:t>
            </a:r>
            <a:endParaRPr lang="en-US" sz="1020"/>
          </a:p>
        </p:txBody>
      </p:sp>
      <p:sp>
        <p:nvSpPr>
          <p:cNvPr id="35" name="Shape 33"/>
          <p:cNvSpPr/>
          <p:nvPr/>
        </p:nvSpPr>
        <p:spPr>
          <a:xfrm>
            <a:off x="3154680" y="6053328"/>
            <a:ext cx="5897880" cy="420624"/>
          </a:xfrm>
          <a:prstGeom prst="roundRect">
            <a:avLst>
              <a:gd name="adj" fmla="val 19565"/>
            </a:avLst>
          </a:prstGeom>
          <a:solidFill>
            <a:srgbClr val="fff7ed"/>
          </a:solidFill>
          <a:ln w="8890">
            <a:solidFill>
              <a:srgbClr val="fed7aa"/>
            </a:solidFill>
            <a:prstDash val="solid"/>
          </a:ln>
        </p:spPr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3383280" y="6181344"/>
            <a:ext cx="5440680" cy="201168"/>
          </a:xfrm>
          <a:prstGeom prst="rect">
            <a:avLst/>
          </a:prstGeom>
          <a:noFill/>
          <a:ln/>
        </p:spPr>
        <p:txBody>
          <a:bodyPr wrap="square" lIns="254" tIns="254" rIns="254" bIns="254" anchor="ctr">
            <a:normAutofit/>
          </a:bodyPr>
          <a:lstStyle/>
          <a:p>
            <a:pPr marL="0" indent="0" algn="ctr">
              <a:buNone/>
              <a:defRPr/>
            </a:pPr>
            <a:r>
              <a:rPr lang="en-US" sz="850" b="1">
                <a:solidFill>
                  <a:srgbClr val="92400e"/>
                </a:solidFill>
                <a:latin typeface="Noto Sans CJK KR"/>
                <a:ea typeface="Noto Sans CJK KR"/>
                <a:cs typeface="Noto Sans CJK KR"/>
              </a:rPr>
              <a:t>DAY 2는 계정을 관찰하고 방향을 잡는 날입니다.</a:t>
            </a:r>
            <a:endParaRPr lang="en-US" sz="85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DAY 2 완료 체크리스트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아래 항목이 끝났다면 DAY 2는 완료입니다.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6510528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" dirty="0">
                <a:solidFill>
                  <a:srgbClr val="9CA3A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DAY 2 사전 세팅 · 16</a:t>
            </a:r>
            <a:endParaRPr lang="en-US" sz="560" dirty="0"/>
          </a:p>
        </p:txBody>
      </p:sp>
      <p:sp>
        <p:nvSpPr>
          <p:cNvPr id="5" name="Shape 3"/>
          <p:cNvSpPr/>
          <p:nvPr/>
        </p:nvSpPr>
        <p:spPr>
          <a:xfrm>
            <a:off x="594360" y="1508760"/>
            <a:ext cx="2514600" cy="406908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78308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수익화 채널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1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□</a:t>
            </a:r>
            <a:endParaRPr lang="en-US" sz="710" dirty="0"/>
          </a:p>
        </p:txBody>
      </p:sp>
      <p:sp>
        <p:nvSpPr>
          <p:cNvPr id="8" name="Text 6"/>
          <p:cNvSpPr/>
          <p:nvPr/>
        </p:nvSpPr>
        <p:spPr>
          <a:xfrm>
            <a:off x="1051560" y="2359152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토스쉐어링크 가입 확인.</a:t>
            </a:r>
            <a:endParaRPr lang="en-US" sz="810" dirty="0"/>
          </a:p>
        </p:txBody>
      </p:sp>
      <p:sp>
        <p:nvSpPr>
          <p:cNvPr id="9" name="Text 7"/>
          <p:cNvSpPr/>
          <p:nvPr/>
        </p:nvSpPr>
        <p:spPr>
          <a:xfrm>
            <a:off x="822960" y="2807208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1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□</a:t>
            </a:r>
            <a:endParaRPr lang="en-US" sz="710" dirty="0"/>
          </a:p>
        </p:txBody>
      </p:sp>
      <p:sp>
        <p:nvSpPr>
          <p:cNvPr id="10" name="Text 8"/>
          <p:cNvSpPr/>
          <p:nvPr/>
        </p:nvSpPr>
        <p:spPr>
          <a:xfrm>
            <a:off x="1051560" y="2788920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쿠팡파트너스 가입 확인.</a:t>
            </a:r>
            <a:endParaRPr lang="en-US" sz="810" dirty="0"/>
          </a:p>
        </p:txBody>
      </p:sp>
      <p:sp>
        <p:nvSpPr>
          <p:cNvPr id="11" name="Text 9"/>
          <p:cNvSpPr/>
          <p:nvPr/>
        </p:nvSpPr>
        <p:spPr>
          <a:xfrm>
            <a:off x="822960" y="3236976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1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□</a:t>
            </a:r>
            <a:endParaRPr lang="en-US" sz="710" dirty="0"/>
          </a:p>
        </p:txBody>
      </p:sp>
      <p:sp>
        <p:nvSpPr>
          <p:cNvPr id="12" name="Text 10"/>
          <p:cNvSpPr/>
          <p:nvPr/>
        </p:nvSpPr>
        <p:spPr>
          <a:xfrm>
            <a:off x="1051560" y="3218688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개인 / 사업자 유형 확인.</a:t>
            </a:r>
            <a:endParaRPr lang="en-US" sz="810" dirty="0"/>
          </a:p>
        </p:txBody>
      </p:sp>
      <p:sp>
        <p:nvSpPr>
          <p:cNvPr id="13" name="Text 11"/>
          <p:cNvSpPr/>
          <p:nvPr/>
        </p:nvSpPr>
        <p:spPr>
          <a:xfrm>
            <a:off x="822960" y="3666744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1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□</a:t>
            </a:r>
            <a:endParaRPr lang="en-US" sz="710" dirty="0"/>
          </a:p>
        </p:txBody>
      </p:sp>
      <p:sp>
        <p:nvSpPr>
          <p:cNvPr id="14" name="Text 12"/>
          <p:cNvSpPr/>
          <p:nvPr/>
        </p:nvSpPr>
        <p:spPr>
          <a:xfrm>
            <a:off x="1051560" y="3648456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정상 로그인 확인.</a:t>
            </a:r>
            <a:endParaRPr lang="en-US" sz="810" dirty="0"/>
          </a:p>
        </p:txBody>
      </p:sp>
      <p:sp>
        <p:nvSpPr>
          <p:cNvPr id="15" name="Shape 13"/>
          <p:cNvSpPr/>
          <p:nvPr/>
        </p:nvSpPr>
        <p:spPr>
          <a:xfrm>
            <a:off x="3410712" y="1508760"/>
            <a:ext cx="2514600" cy="406908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9312" y="178308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Threads 가입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639312" y="2377440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1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□</a:t>
            </a:r>
            <a:endParaRPr lang="en-US" sz="710" dirty="0"/>
          </a:p>
        </p:txBody>
      </p:sp>
      <p:sp>
        <p:nvSpPr>
          <p:cNvPr id="18" name="Text 16"/>
          <p:cNvSpPr/>
          <p:nvPr/>
        </p:nvSpPr>
        <p:spPr>
          <a:xfrm>
            <a:off x="3867912" y="2359152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노트북으로 Instagram 로그인.</a:t>
            </a:r>
            <a:endParaRPr lang="en-US" sz="810" dirty="0"/>
          </a:p>
        </p:txBody>
      </p:sp>
      <p:sp>
        <p:nvSpPr>
          <p:cNvPr id="19" name="Text 17"/>
          <p:cNvSpPr/>
          <p:nvPr/>
        </p:nvSpPr>
        <p:spPr>
          <a:xfrm>
            <a:off x="3639312" y="2807208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1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□</a:t>
            </a:r>
            <a:endParaRPr lang="en-US" sz="710" dirty="0"/>
          </a:p>
        </p:txBody>
      </p:sp>
      <p:sp>
        <p:nvSpPr>
          <p:cNvPr id="20" name="Text 18"/>
          <p:cNvSpPr/>
          <p:nvPr/>
        </p:nvSpPr>
        <p:spPr>
          <a:xfrm>
            <a:off x="3867912" y="2788920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Threads 신규 가입.</a:t>
            </a:r>
            <a:endParaRPr lang="en-US" sz="810" dirty="0"/>
          </a:p>
        </p:txBody>
      </p:sp>
      <p:sp>
        <p:nvSpPr>
          <p:cNvPr id="21" name="Text 19"/>
          <p:cNvSpPr/>
          <p:nvPr/>
        </p:nvSpPr>
        <p:spPr>
          <a:xfrm>
            <a:off x="3639312" y="3236976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1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□</a:t>
            </a:r>
            <a:endParaRPr lang="en-US" sz="710" dirty="0"/>
          </a:p>
        </p:txBody>
      </p:sp>
      <p:sp>
        <p:nvSpPr>
          <p:cNvPr id="22" name="Text 20"/>
          <p:cNvSpPr/>
          <p:nvPr/>
        </p:nvSpPr>
        <p:spPr>
          <a:xfrm>
            <a:off x="3867912" y="3218688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공개 프로필 선택.</a:t>
            </a:r>
            <a:endParaRPr lang="en-US" sz="810" dirty="0"/>
          </a:p>
        </p:txBody>
      </p:sp>
      <p:sp>
        <p:nvSpPr>
          <p:cNvPr id="23" name="Text 21"/>
          <p:cNvSpPr/>
          <p:nvPr/>
        </p:nvSpPr>
        <p:spPr>
          <a:xfrm>
            <a:off x="3639312" y="3666744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1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□</a:t>
            </a:r>
            <a:endParaRPr lang="en-US" sz="710" dirty="0"/>
          </a:p>
        </p:txBody>
      </p:sp>
      <p:sp>
        <p:nvSpPr>
          <p:cNvPr id="24" name="Text 22"/>
          <p:cNvSpPr/>
          <p:nvPr/>
        </p:nvSpPr>
        <p:spPr>
          <a:xfrm>
            <a:off x="3867912" y="3648456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가입 후 프로필 추가 수정 안 함.</a:t>
            </a:r>
            <a:endParaRPr lang="en-US" sz="810" dirty="0"/>
          </a:p>
        </p:txBody>
      </p:sp>
      <p:sp>
        <p:nvSpPr>
          <p:cNvPr id="25" name="Shape 23"/>
          <p:cNvSpPr/>
          <p:nvPr/>
        </p:nvSpPr>
        <p:spPr>
          <a:xfrm>
            <a:off x="6227064" y="1508760"/>
            <a:ext cx="2514600" cy="406908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55664" y="178308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인지작업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455664" y="2377440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1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□</a:t>
            </a:r>
            <a:endParaRPr lang="en-US" sz="710" dirty="0"/>
          </a:p>
        </p:txBody>
      </p:sp>
      <p:sp>
        <p:nvSpPr>
          <p:cNvPr id="28" name="Text 26"/>
          <p:cNvSpPr/>
          <p:nvPr/>
        </p:nvSpPr>
        <p:spPr>
          <a:xfrm>
            <a:off x="6684264" y="2359152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TOP 8 키워드 확인.</a:t>
            </a:r>
            <a:endParaRPr lang="en-US" sz="810" dirty="0"/>
          </a:p>
        </p:txBody>
      </p:sp>
      <p:sp>
        <p:nvSpPr>
          <p:cNvPr id="29" name="Text 27"/>
          <p:cNvSpPr/>
          <p:nvPr/>
        </p:nvSpPr>
        <p:spPr>
          <a:xfrm>
            <a:off x="6455664" y="2807208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1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□</a:t>
            </a:r>
            <a:endParaRPr lang="en-US" sz="710" dirty="0"/>
          </a:p>
        </p:txBody>
      </p:sp>
      <p:sp>
        <p:nvSpPr>
          <p:cNvPr id="30" name="Text 28"/>
          <p:cNvSpPr/>
          <p:nvPr/>
        </p:nvSpPr>
        <p:spPr>
          <a:xfrm>
            <a:off x="6684264" y="2788920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관련 게시물 자연스럽게 확인.</a:t>
            </a:r>
            <a:endParaRPr lang="en-US" sz="810" dirty="0"/>
          </a:p>
        </p:txBody>
      </p:sp>
      <p:sp>
        <p:nvSpPr>
          <p:cNvPr id="31" name="Text 29"/>
          <p:cNvSpPr/>
          <p:nvPr/>
        </p:nvSpPr>
        <p:spPr>
          <a:xfrm>
            <a:off x="6455664" y="3236976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1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□</a:t>
            </a:r>
            <a:endParaRPr lang="en-US" sz="710" dirty="0"/>
          </a:p>
        </p:txBody>
      </p:sp>
      <p:sp>
        <p:nvSpPr>
          <p:cNvPr id="32" name="Text 30"/>
          <p:cNvSpPr/>
          <p:nvPr/>
        </p:nvSpPr>
        <p:spPr>
          <a:xfrm>
            <a:off x="6684264" y="3218688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추천탭 확인.</a:t>
            </a:r>
            <a:endParaRPr lang="en-US" sz="810" dirty="0"/>
          </a:p>
        </p:txBody>
      </p:sp>
      <p:sp>
        <p:nvSpPr>
          <p:cNvPr id="33" name="Text 31"/>
          <p:cNvSpPr/>
          <p:nvPr/>
        </p:nvSpPr>
        <p:spPr>
          <a:xfrm>
            <a:off x="6455664" y="3666744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1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□</a:t>
            </a:r>
            <a:endParaRPr lang="en-US" sz="710" dirty="0"/>
          </a:p>
        </p:txBody>
      </p:sp>
      <p:sp>
        <p:nvSpPr>
          <p:cNvPr id="34" name="Text 32"/>
          <p:cNvSpPr/>
          <p:nvPr/>
        </p:nvSpPr>
        <p:spPr>
          <a:xfrm>
            <a:off x="6684264" y="3648456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좋아요 0~3개 / 댓글 1개.</a:t>
            </a:r>
            <a:endParaRPr lang="en-US" sz="810" dirty="0"/>
          </a:p>
        </p:txBody>
      </p:sp>
      <p:sp>
        <p:nvSpPr>
          <p:cNvPr id="35" name="Shape 33"/>
          <p:cNvSpPr/>
          <p:nvPr/>
        </p:nvSpPr>
        <p:spPr>
          <a:xfrm>
            <a:off x="9043416" y="1508760"/>
            <a:ext cx="2514600" cy="406908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889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272016" y="178308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금지사항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9272016" y="2377440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1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□</a:t>
            </a:r>
            <a:endParaRPr lang="en-US" sz="710" dirty="0"/>
          </a:p>
        </p:txBody>
      </p:sp>
      <p:sp>
        <p:nvSpPr>
          <p:cNvPr id="38" name="Text 36"/>
          <p:cNvSpPr/>
          <p:nvPr/>
        </p:nvSpPr>
        <p:spPr>
          <a:xfrm>
            <a:off x="9500616" y="2359152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게시물 발행 안 함.</a:t>
            </a:r>
            <a:endParaRPr lang="en-US" sz="810" dirty="0"/>
          </a:p>
        </p:txBody>
      </p:sp>
      <p:sp>
        <p:nvSpPr>
          <p:cNvPr id="39" name="Text 37"/>
          <p:cNvSpPr/>
          <p:nvPr/>
        </p:nvSpPr>
        <p:spPr>
          <a:xfrm>
            <a:off x="9272016" y="2807208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1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□</a:t>
            </a:r>
            <a:endParaRPr lang="en-US" sz="710" dirty="0"/>
          </a:p>
        </p:txBody>
      </p:sp>
      <p:sp>
        <p:nvSpPr>
          <p:cNvPr id="40" name="Text 38"/>
          <p:cNvSpPr/>
          <p:nvPr/>
        </p:nvSpPr>
        <p:spPr>
          <a:xfrm>
            <a:off x="9500616" y="2788920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외부 링크 등록 안 함.</a:t>
            </a:r>
            <a:endParaRPr lang="en-US" sz="810" dirty="0"/>
          </a:p>
        </p:txBody>
      </p:sp>
      <p:sp>
        <p:nvSpPr>
          <p:cNvPr id="41" name="Text 39"/>
          <p:cNvSpPr/>
          <p:nvPr/>
        </p:nvSpPr>
        <p:spPr>
          <a:xfrm>
            <a:off x="9272016" y="3236976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1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□</a:t>
            </a:r>
            <a:endParaRPr lang="en-US" sz="710" dirty="0"/>
          </a:p>
        </p:txBody>
      </p:sp>
      <p:sp>
        <p:nvSpPr>
          <p:cNvPr id="42" name="Text 40"/>
          <p:cNvSpPr/>
          <p:nvPr/>
        </p:nvSpPr>
        <p:spPr>
          <a:xfrm>
            <a:off x="9500616" y="3218688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상품 홍보 안 함.</a:t>
            </a:r>
            <a:endParaRPr lang="en-US" sz="810" dirty="0"/>
          </a:p>
        </p:txBody>
      </p:sp>
      <p:sp>
        <p:nvSpPr>
          <p:cNvPr id="43" name="Text 41"/>
          <p:cNvSpPr/>
          <p:nvPr/>
        </p:nvSpPr>
        <p:spPr>
          <a:xfrm>
            <a:off x="9272016" y="3666744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10" dirty="0">
                <a:solidFill>
                  <a:srgbClr val="6B728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□</a:t>
            </a:r>
            <a:endParaRPr lang="en-US" sz="710" dirty="0"/>
          </a:p>
        </p:txBody>
      </p:sp>
      <p:sp>
        <p:nvSpPr>
          <p:cNvPr id="44" name="Text 42"/>
          <p:cNvSpPr/>
          <p:nvPr/>
        </p:nvSpPr>
        <p:spPr>
          <a:xfrm>
            <a:off x="9500616" y="3648456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111827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프로필 반복 수정 안 함.</a:t>
            </a:r>
            <a:endParaRPr lang="en-US" sz="810" dirty="0"/>
          </a:p>
        </p:txBody>
      </p:sp>
      <p:sp>
        <p:nvSpPr>
          <p:cNvPr id="45" name="Shape 43"/>
          <p:cNvSpPr/>
          <p:nvPr/>
        </p:nvSpPr>
        <p:spPr>
          <a:xfrm>
            <a:off x="3154680" y="5989320"/>
            <a:ext cx="5897880" cy="438912"/>
          </a:xfrm>
          <a:prstGeom prst="roundRect">
            <a:avLst>
              <a:gd name="adj" fmla="val 18750"/>
            </a:avLst>
          </a:prstGeom>
          <a:solidFill>
            <a:srgbClr val="6C55F7"/>
          </a:solidFill>
          <a:ln w="8890">
            <a:solidFill>
              <a:srgbClr val="6C55F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383280" y="6144768"/>
            <a:ext cx="5440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DAY 2 완료 후, DAY 3에서 프로필 최종 점검과 첫 일상글 테스트를 진행합니다.</a:t>
            </a:r>
            <a:endParaRPr lang="en-US" sz="720" dirty="0"/>
          </a:p>
        </p:txBody>
      </p:sp>
    </p:spTree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KR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KR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KR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KR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>Hypeduck</ep:Company>
  <ep:Words>1078</ep:Words>
  <ep:PresentationFormat>On-screen Show (16:9)</ep:PresentationFormat>
  <ep:Paragraphs>294</ep:Paragraphs>
  <ep:Slides>16</ep:Slides>
  <ep:Notes>16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ep:HeadingPairs>
  <ep:TitlesOfParts>
    <vt:vector size="17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2026-09-08T15:15:51.000</dcterms:created>
  <dc:creator>OpenAI</dc:creator>
  <cp:lastModifiedBy>bliss</cp:lastModifiedBy>
  <dcterms:modified xsi:type="dcterms:W3CDTF">2026-09-08T17:13:00.057</dcterms:modified>
  <cp:revision>15</cp:revision>
  <dc:subject>Threads Affiliate Day 2 Pre-class Setup</dc:subject>
  <dc:title>Threads Affiliate DAY 2 사전세팅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